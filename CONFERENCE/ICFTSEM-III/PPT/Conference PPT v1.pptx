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4"/>
  </p:notesMasterIdLst>
  <p:handoutMasterIdLst>
    <p:handoutMasterId r:id="rId15"/>
  </p:handoutMasterIdLst>
  <p:sldIdLst>
    <p:sldId id="265" r:id="rId2"/>
    <p:sldId id="269" r:id="rId3"/>
    <p:sldId id="256" r:id="rId4"/>
    <p:sldId id="257" r:id="rId5"/>
    <p:sldId id="267" r:id="rId6"/>
    <p:sldId id="268" r:id="rId7"/>
    <p:sldId id="260" r:id="rId8"/>
    <p:sldId id="261" r:id="rId9"/>
    <p:sldId id="262" r:id="rId10"/>
    <p:sldId id="259"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CF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3" autoAdjust="0"/>
  </p:normalViewPr>
  <p:slideViewPr>
    <p:cSldViewPr snapToGrid="0">
      <p:cViewPr varScale="1">
        <p:scale>
          <a:sx n="101" d="100"/>
          <a:sy n="101" d="100"/>
        </p:scale>
        <p:origin x="876" y="108"/>
      </p:cViewPr>
      <p:guideLst/>
    </p:cSldViewPr>
  </p:slideViewPr>
  <p:outlineViewPr>
    <p:cViewPr>
      <p:scale>
        <a:sx n="33" d="100"/>
        <a:sy n="33" d="100"/>
      </p:scale>
      <p:origin x="0" y="-109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3FE8DB-47D3-46AC-86B3-9FBA08EF31FA}"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US"/>
        </a:p>
      </dgm:t>
    </dgm:pt>
    <dgm:pt modelId="{FFE448D3-7700-449B-BE18-9DF8118928D0}">
      <dgm:prSet/>
      <dgm:spPr/>
      <dgm:t>
        <a:bodyPr/>
        <a:lstStyle/>
        <a:p>
          <a:r>
            <a:rPr lang="en-US" b="0" i="0" dirty="0">
              <a:latin typeface="Times New Roman" panose="02020603050405020304" pitchFamily="18" charset="0"/>
              <a:cs typeface="Times New Roman" panose="02020603050405020304" pitchFamily="18" charset="0"/>
            </a:rPr>
            <a:t>Contrary to popular belief, Lorem Ipsum is not simply random text. It has roots in a piece of classical Latin literature </a:t>
          </a:r>
          <a:endParaRPr lang="en-US" dirty="0">
            <a:latin typeface="Times New Roman" panose="02020603050405020304" pitchFamily="18" charset="0"/>
            <a:cs typeface="Times New Roman" panose="02020603050405020304" pitchFamily="18" charset="0"/>
          </a:endParaRPr>
        </a:p>
      </dgm:t>
    </dgm:pt>
    <dgm:pt modelId="{1B4B5F1A-CF00-44D2-95F7-42EA396C59B0}" type="parTrans" cxnId="{E17FA0A1-1DCF-4F3B-9FBB-B0D28CA85108}">
      <dgm:prSet/>
      <dgm:spPr/>
      <dgm:t>
        <a:bodyPr/>
        <a:lstStyle/>
        <a:p>
          <a:endParaRPr lang="en-US"/>
        </a:p>
      </dgm:t>
    </dgm:pt>
    <dgm:pt modelId="{D848D8CF-3822-41E9-9C47-9455815825BF}" type="sibTrans" cxnId="{E17FA0A1-1DCF-4F3B-9FBB-B0D28CA85108}">
      <dgm:prSet/>
      <dgm:spPr/>
      <dgm:t>
        <a:bodyPr/>
        <a:lstStyle/>
        <a:p>
          <a:endParaRPr lang="en-US"/>
        </a:p>
      </dgm:t>
    </dgm:pt>
    <dgm:pt modelId="{70631E99-A6CC-413A-AD76-31820C6EA91B}">
      <dgm:prSet/>
      <dgm:spPr/>
      <dgm:t>
        <a:bodyPr/>
        <a:lstStyle/>
        <a:p>
          <a:r>
            <a:rPr lang="en-US" b="0" i="0" dirty="0">
              <a:latin typeface="Times New Roman" panose="02020603050405020304" pitchFamily="18" charset="0"/>
              <a:cs typeface="Times New Roman" panose="02020603050405020304" pitchFamily="18" charset="0"/>
            </a:rPr>
            <a:t>from 45 BC, making it over 2000 years old. Richard McClintock, a Latin professor at Hampden-Sydney College in Virginia, </a:t>
          </a:r>
          <a:endParaRPr lang="en-US" dirty="0">
            <a:latin typeface="Times New Roman" panose="02020603050405020304" pitchFamily="18" charset="0"/>
            <a:cs typeface="Times New Roman" panose="02020603050405020304" pitchFamily="18" charset="0"/>
          </a:endParaRPr>
        </a:p>
      </dgm:t>
    </dgm:pt>
    <dgm:pt modelId="{99054A32-30A3-4280-8703-043262E226D8}" type="parTrans" cxnId="{D2208C72-9175-4850-80E9-366E2A297428}">
      <dgm:prSet/>
      <dgm:spPr/>
      <dgm:t>
        <a:bodyPr/>
        <a:lstStyle/>
        <a:p>
          <a:endParaRPr lang="en-US"/>
        </a:p>
      </dgm:t>
    </dgm:pt>
    <dgm:pt modelId="{9F0991EC-8806-4875-B4AD-2993D4C90FB4}" type="sibTrans" cxnId="{D2208C72-9175-4850-80E9-366E2A297428}">
      <dgm:prSet/>
      <dgm:spPr/>
      <dgm:t>
        <a:bodyPr/>
        <a:lstStyle/>
        <a:p>
          <a:endParaRPr lang="en-US"/>
        </a:p>
      </dgm:t>
    </dgm:pt>
    <dgm:pt modelId="{7FE05DDF-E42E-4B22-9C3F-2D24021CF5FD}">
      <dgm:prSet/>
      <dgm:spPr/>
      <dgm:t>
        <a:bodyPr/>
        <a:lstStyle/>
        <a:p>
          <a:r>
            <a:rPr lang="en-US" b="0" i="0" dirty="0">
              <a:latin typeface="Times New Roman" panose="02020603050405020304" pitchFamily="18" charset="0"/>
              <a:cs typeface="Times New Roman" panose="02020603050405020304" pitchFamily="18" charset="0"/>
            </a:rPr>
            <a:t>looked up one of the more obscure Latin words, </a:t>
          </a:r>
          <a:r>
            <a:rPr lang="en-US" b="0" i="0" dirty="0" err="1">
              <a:latin typeface="Times New Roman" panose="02020603050405020304" pitchFamily="18" charset="0"/>
              <a:cs typeface="Times New Roman" panose="02020603050405020304" pitchFamily="18" charset="0"/>
            </a:rPr>
            <a:t>consectetur</a:t>
          </a:r>
          <a:r>
            <a:rPr lang="en-US" b="0" i="0" dirty="0">
              <a:latin typeface="Times New Roman" panose="02020603050405020304" pitchFamily="18" charset="0"/>
              <a:cs typeface="Times New Roman" panose="02020603050405020304" pitchFamily="18" charset="0"/>
            </a:rPr>
            <a:t>, from a Lorem Ipsum passage, and going through the cites of the word</a:t>
          </a:r>
          <a:endParaRPr lang="en-US" dirty="0">
            <a:latin typeface="Times New Roman" panose="02020603050405020304" pitchFamily="18" charset="0"/>
            <a:cs typeface="Times New Roman" panose="02020603050405020304" pitchFamily="18" charset="0"/>
          </a:endParaRPr>
        </a:p>
      </dgm:t>
    </dgm:pt>
    <dgm:pt modelId="{7FAC30A7-3AA6-40FF-90FF-4EE24DFE1F52}" type="parTrans" cxnId="{E6687EE8-2876-4DF0-96BE-F5A368E4281D}">
      <dgm:prSet/>
      <dgm:spPr/>
      <dgm:t>
        <a:bodyPr/>
        <a:lstStyle/>
        <a:p>
          <a:endParaRPr lang="en-US"/>
        </a:p>
      </dgm:t>
    </dgm:pt>
    <dgm:pt modelId="{31EB9082-B43A-438C-95EF-E73FB2A466AF}" type="sibTrans" cxnId="{E6687EE8-2876-4DF0-96BE-F5A368E4281D}">
      <dgm:prSet/>
      <dgm:spPr/>
      <dgm:t>
        <a:bodyPr/>
        <a:lstStyle/>
        <a:p>
          <a:endParaRPr lang="en-US"/>
        </a:p>
      </dgm:t>
    </dgm:pt>
    <dgm:pt modelId="{BE8840FD-AE2B-40BA-9279-A09501EE9CA9}">
      <dgm:prSet/>
      <dgm:spPr/>
      <dgm:t>
        <a:bodyPr/>
        <a:lstStyle/>
        <a:p>
          <a:r>
            <a:rPr lang="en-US" b="0" i="0" dirty="0">
              <a:latin typeface="Times New Roman" panose="02020603050405020304" pitchFamily="18" charset="0"/>
              <a:cs typeface="Times New Roman" panose="02020603050405020304" pitchFamily="18" charset="0"/>
            </a:rPr>
            <a:t>in classical literature, discovered the undoubtable source. Lorem Ipsum comes from sections 1.10.32 and 1.10.33 of "de </a:t>
          </a:r>
          <a:r>
            <a:rPr lang="en-US" b="0" i="0" dirty="0" err="1">
              <a:latin typeface="Times New Roman" panose="02020603050405020304" pitchFamily="18" charset="0"/>
              <a:cs typeface="Times New Roman" panose="02020603050405020304" pitchFamily="18" charset="0"/>
            </a:rPr>
            <a:t>Finibus</a:t>
          </a:r>
          <a:r>
            <a:rPr lang="en-US" b="0" i="0" dirty="0">
              <a:latin typeface="Times New Roman" panose="02020603050405020304" pitchFamily="18" charset="0"/>
              <a:cs typeface="Times New Roman" panose="02020603050405020304" pitchFamily="18" charset="0"/>
            </a:rPr>
            <a:t> </a:t>
          </a:r>
          <a:r>
            <a:rPr lang="en-US" b="0" i="0" dirty="0" err="1">
              <a:latin typeface="Times New Roman" panose="02020603050405020304" pitchFamily="18" charset="0"/>
              <a:cs typeface="Times New Roman" panose="02020603050405020304" pitchFamily="18" charset="0"/>
            </a:rPr>
            <a:t>Bonorum</a:t>
          </a:r>
          <a:r>
            <a:rPr lang="en-US" b="0" i="0" dirty="0">
              <a:latin typeface="Times New Roman" panose="02020603050405020304" pitchFamily="18" charset="0"/>
              <a:cs typeface="Times New Roman" panose="02020603050405020304" pitchFamily="18" charset="0"/>
            </a:rPr>
            <a:t> et </a:t>
          </a:r>
          <a:r>
            <a:rPr lang="en-US" b="0" i="0" dirty="0" err="1">
              <a:latin typeface="Times New Roman" panose="02020603050405020304" pitchFamily="18" charset="0"/>
              <a:cs typeface="Times New Roman" panose="02020603050405020304" pitchFamily="18" charset="0"/>
            </a:rPr>
            <a:t>Malorum</a:t>
          </a:r>
          <a:r>
            <a:rPr lang="en-US" b="0" i="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dgm:t>
    </dgm:pt>
    <dgm:pt modelId="{1604A0F9-7AB0-48B7-9FD2-EFBE7D802764}" type="parTrans" cxnId="{DD62410B-E4FD-43D8-8765-ACC28C3D18B7}">
      <dgm:prSet/>
      <dgm:spPr/>
      <dgm:t>
        <a:bodyPr/>
        <a:lstStyle/>
        <a:p>
          <a:endParaRPr lang="en-US"/>
        </a:p>
      </dgm:t>
    </dgm:pt>
    <dgm:pt modelId="{1D9AE6F2-EF68-4F3B-9546-49CA9C4EB031}" type="sibTrans" cxnId="{DD62410B-E4FD-43D8-8765-ACC28C3D18B7}">
      <dgm:prSet/>
      <dgm:spPr/>
      <dgm:t>
        <a:bodyPr/>
        <a:lstStyle/>
        <a:p>
          <a:endParaRPr lang="en-US"/>
        </a:p>
      </dgm:t>
    </dgm:pt>
    <dgm:pt modelId="{4EC3E236-BCBD-40D6-8230-7A00B6944693}" type="pres">
      <dgm:prSet presAssocID="{183FE8DB-47D3-46AC-86B3-9FBA08EF31FA}" presName="linear" presStyleCnt="0">
        <dgm:presLayoutVars>
          <dgm:animLvl val="lvl"/>
          <dgm:resizeHandles val="exact"/>
        </dgm:presLayoutVars>
      </dgm:prSet>
      <dgm:spPr/>
    </dgm:pt>
    <dgm:pt modelId="{842A62DF-D73F-4C2F-A8FD-F591989649D8}" type="pres">
      <dgm:prSet presAssocID="{FFE448D3-7700-449B-BE18-9DF8118928D0}" presName="parentText" presStyleLbl="node1" presStyleIdx="0" presStyleCnt="4">
        <dgm:presLayoutVars>
          <dgm:chMax val="0"/>
          <dgm:bulletEnabled val="1"/>
        </dgm:presLayoutVars>
      </dgm:prSet>
      <dgm:spPr/>
    </dgm:pt>
    <dgm:pt modelId="{017826CD-7C6B-4DD9-9905-19B8BF185C92}" type="pres">
      <dgm:prSet presAssocID="{D848D8CF-3822-41E9-9C47-9455815825BF}" presName="spacer" presStyleCnt="0"/>
      <dgm:spPr/>
    </dgm:pt>
    <dgm:pt modelId="{5CED7035-62C1-48F5-AC99-0E0BD9C6F36A}" type="pres">
      <dgm:prSet presAssocID="{70631E99-A6CC-413A-AD76-31820C6EA91B}" presName="parentText" presStyleLbl="node1" presStyleIdx="1" presStyleCnt="4">
        <dgm:presLayoutVars>
          <dgm:chMax val="0"/>
          <dgm:bulletEnabled val="1"/>
        </dgm:presLayoutVars>
      </dgm:prSet>
      <dgm:spPr/>
    </dgm:pt>
    <dgm:pt modelId="{373E18F8-D362-486B-B821-6AA6B48BC6F5}" type="pres">
      <dgm:prSet presAssocID="{9F0991EC-8806-4875-B4AD-2993D4C90FB4}" presName="spacer" presStyleCnt="0"/>
      <dgm:spPr/>
    </dgm:pt>
    <dgm:pt modelId="{614A4280-D0C6-442A-874A-8CC50340E97E}" type="pres">
      <dgm:prSet presAssocID="{7FE05DDF-E42E-4B22-9C3F-2D24021CF5FD}" presName="parentText" presStyleLbl="node1" presStyleIdx="2" presStyleCnt="4">
        <dgm:presLayoutVars>
          <dgm:chMax val="0"/>
          <dgm:bulletEnabled val="1"/>
        </dgm:presLayoutVars>
      </dgm:prSet>
      <dgm:spPr/>
    </dgm:pt>
    <dgm:pt modelId="{802AF1CB-8751-4017-AD7C-B197924EF85A}" type="pres">
      <dgm:prSet presAssocID="{31EB9082-B43A-438C-95EF-E73FB2A466AF}" presName="spacer" presStyleCnt="0"/>
      <dgm:spPr/>
    </dgm:pt>
    <dgm:pt modelId="{8A844BC3-4B22-4688-8C04-343ED27CD584}" type="pres">
      <dgm:prSet presAssocID="{BE8840FD-AE2B-40BA-9279-A09501EE9CA9}" presName="parentText" presStyleLbl="node1" presStyleIdx="3" presStyleCnt="4">
        <dgm:presLayoutVars>
          <dgm:chMax val="0"/>
          <dgm:bulletEnabled val="1"/>
        </dgm:presLayoutVars>
      </dgm:prSet>
      <dgm:spPr/>
    </dgm:pt>
  </dgm:ptLst>
  <dgm:cxnLst>
    <dgm:cxn modelId="{39863708-776B-4457-A5B5-1B95DBA5F88E}" type="presOf" srcId="{7FE05DDF-E42E-4B22-9C3F-2D24021CF5FD}" destId="{614A4280-D0C6-442A-874A-8CC50340E97E}" srcOrd="0" destOrd="0" presId="urn:microsoft.com/office/officeart/2005/8/layout/vList2"/>
    <dgm:cxn modelId="{DD62410B-E4FD-43D8-8765-ACC28C3D18B7}" srcId="{183FE8DB-47D3-46AC-86B3-9FBA08EF31FA}" destId="{BE8840FD-AE2B-40BA-9279-A09501EE9CA9}" srcOrd="3" destOrd="0" parTransId="{1604A0F9-7AB0-48B7-9FD2-EFBE7D802764}" sibTransId="{1D9AE6F2-EF68-4F3B-9546-49CA9C4EB031}"/>
    <dgm:cxn modelId="{8B39536D-51A4-471E-8E66-DC5B4ED105B8}" type="presOf" srcId="{70631E99-A6CC-413A-AD76-31820C6EA91B}" destId="{5CED7035-62C1-48F5-AC99-0E0BD9C6F36A}" srcOrd="0" destOrd="0" presId="urn:microsoft.com/office/officeart/2005/8/layout/vList2"/>
    <dgm:cxn modelId="{D2208C72-9175-4850-80E9-366E2A297428}" srcId="{183FE8DB-47D3-46AC-86B3-9FBA08EF31FA}" destId="{70631E99-A6CC-413A-AD76-31820C6EA91B}" srcOrd="1" destOrd="0" parTransId="{99054A32-30A3-4280-8703-043262E226D8}" sibTransId="{9F0991EC-8806-4875-B4AD-2993D4C90FB4}"/>
    <dgm:cxn modelId="{C04B6879-D0E2-4F12-B88E-2E79A9A723FB}" type="presOf" srcId="{183FE8DB-47D3-46AC-86B3-9FBA08EF31FA}" destId="{4EC3E236-BCBD-40D6-8230-7A00B6944693}" srcOrd="0" destOrd="0" presId="urn:microsoft.com/office/officeart/2005/8/layout/vList2"/>
    <dgm:cxn modelId="{4641218A-31FB-45FD-98D3-BB305D9C68BC}" type="presOf" srcId="{FFE448D3-7700-449B-BE18-9DF8118928D0}" destId="{842A62DF-D73F-4C2F-A8FD-F591989649D8}" srcOrd="0" destOrd="0" presId="urn:microsoft.com/office/officeart/2005/8/layout/vList2"/>
    <dgm:cxn modelId="{AC8B038C-093D-44D2-AAF4-D64A3D7CFAEB}" type="presOf" srcId="{BE8840FD-AE2B-40BA-9279-A09501EE9CA9}" destId="{8A844BC3-4B22-4688-8C04-343ED27CD584}" srcOrd="0" destOrd="0" presId="urn:microsoft.com/office/officeart/2005/8/layout/vList2"/>
    <dgm:cxn modelId="{E17FA0A1-1DCF-4F3B-9FBB-B0D28CA85108}" srcId="{183FE8DB-47D3-46AC-86B3-9FBA08EF31FA}" destId="{FFE448D3-7700-449B-BE18-9DF8118928D0}" srcOrd="0" destOrd="0" parTransId="{1B4B5F1A-CF00-44D2-95F7-42EA396C59B0}" sibTransId="{D848D8CF-3822-41E9-9C47-9455815825BF}"/>
    <dgm:cxn modelId="{E6687EE8-2876-4DF0-96BE-F5A368E4281D}" srcId="{183FE8DB-47D3-46AC-86B3-9FBA08EF31FA}" destId="{7FE05DDF-E42E-4B22-9C3F-2D24021CF5FD}" srcOrd="2" destOrd="0" parTransId="{7FAC30A7-3AA6-40FF-90FF-4EE24DFE1F52}" sibTransId="{31EB9082-B43A-438C-95EF-E73FB2A466AF}"/>
    <dgm:cxn modelId="{50C864BB-C9C3-451C-AD33-100D0C768C7B}" type="presParOf" srcId="{4EC3E236-BCBD-40D6-8230-7A00B6944693}" destId="{842A62DF-D73F-4C2F-A8FD-F591989649D8}" srcOrd="0" destOrd="0" presId="urn:microsoft.com/office/officeart/2005/8/layout/vList2"/>
    <dgm:cxn modelId="{43A67699-ECE7-4DE4-8FCC-FDC4F4BF4201}" type="presParOf" srcId="{4EC3E236-BCBD-40D6-8230-7A00B6944693}" destId="{017826CD-7C6B-4DD9-9905-19B8BF185C92}" srcOrd="1" destOrd="0" presId="urn:microsoft.com/office/officeart/2005/8/layout/vList2"/>
    <dgm:cxn modelId="{F07956B9-4E85-478E-B931-1FFA529E5E47}" type="presParOf" srcId="{4EC3E236-BCBD-40D6-8230-7A00B6944693}" destId="{5CED7035-62C1-48F5-AC99-0E0BD9C6F36A}" srcOrd="2" destOrd="0" presId="urn:microsoft.com/office/officeart/2005/8/layout/vList2"/>
    <dgm:cxn modelId="{6D63E44C-904B-4EB9-89B9-9551F2B70B93}" type="presParOf" srcId="{4EC3E236-BCBD-40D6-8230-7A00B6944693}" destId="{373E18F8-D362-486B-B821-6AA6B48BC6F5}" srcOrd="3" destOrd="0" presId="urn:microsoft.com/office/officeart/2005/8/layout/vList2"/>
    <dgm:cxn modelId="{1C890EDB-26FD-48A9-B52F-07220A6C3DEF}" type="presParOf" srcId="{4EC3E236-BCBD-40D6-8230-7A00B6944693}" destId="{614A4280-D0C6-442A-874A-8CC50340E97E}" srcOrd="4" destOrd="0" presId="urn:microsoft.com/office/officeart/2005/8/layout/vList2"/>
    <dgm:cxn modelId="{86BF37DF-ACDB-48A0-A055-1177B9F2169C}" type="presParOf" srcId="{4EC3E236-BCBD-40D6-8230-7A00B6944693}" destId="{802AF1CB-8751-4017-AD7C-B197924EF85A}" srcOrd="5" destOrd="0" presId="urn:microsoft.com/office/officeart/2005/8/layout/vList2"/>
    <dgm:cxn modelId="{EEEB4A5F-2407-4A55-958A-D6BDCF222961}" type="presParOf" srcId="{4EC3E236-BCBD-40D6-8230-7A00B6944693}" destId="{8A844BC3-4B22-4688-8C04-343ED27CD58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A62DF-D73F-4C2F-A8FD-F591989649D8}">
      <dsp:nvSpPr>
        <dsp:cNvPr id="0" name=""/>
        <dsp:cNvSpPr/>
      </dsp:nvSpPr>
      <dsp:spPr>
        <a:xfrm>
          <a:off x="0" y="2273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latin typeface="Times New Roman" panose="02020603050405020304" pitchFamily="18" charset="0"/>
              <a:cs typeface="Times New Roman" panose="02020603050405020304" pitchFamily="18" charset="0"/>
            </a:rPr>
            <a:t>Contrary to popular belief, Lorem Ipsum is not simply random text. It has roots in a piece of classical Latin literature </a:t>
          </a:r>
          <a:endParaRPr lang="en-US" sz="2200" kern="1200" dirty="0">
            <a:latin typeface="Times New Roman" panose="02020603050405020304" pitchFamily="18" charset="0"/>
            <a:cs typeface="Times New Roman" panose="02020603050405020304" pitchFamily="18" charset="0"/>
          </a:endParaRPr>
        </a:p>
      </dsp:txBody>
      <dsp:txXfrm>
        <a:off x="56544" y="79277"/>
        <a:ext cx="6726599" cy="1045212"/>
      </dsp:txXfrm>
    </dsp:sp>
    <dsp:sp modelId="{5CED7035-62C1-48F5-AC99-0E0BD9C6F36A}">
      <dsp:nvSpPr>
        <dsp:cNvPr id="0" name=""/>
        <dsp:cNvSpPr/>
      </dsp:nvSpPr>
      <dsp:spPr>
        <a:xfrm>
          <a:off x="0" y="124439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latin typeface="Times New Roman" panose="02020603050405020304" pitchFamily="18" charset="0"/>
              <a:cs typeface="Times New Roman" panose="02020603050405020304" pitchFamily="18" charset="0"/>
            </a:rPr>
            <a:t>from 45 BC, making it over 2000 years old. Richard McClintock, a Latin professor at Hampden-Sydney College in Virginia, </a:t>
          </a:r>
          <a:endParaRPr lang="en-US" sz="2200" kern="1200" dirty="0">
            <a:latin typeface="Times New Roman" panose="02020603050405020304" pitchFamily="18" charset="0"/>
            <a:cs typeface="Times New Roman" panose="02020603050405020304" pitchFamily="18" charset="0"/>
          </a:endParaRPr>
        </a:p>
      </dsp:txBody>
      <dsp:txXfrm>
        <a:off x="56544" y="1300937"/>
        <a:ext cx="6726599" cy="1045212"/>
      </dsp:txXfrm>
    </dsp:sp>
    <dsp:sp modelId="{614A4280-D0C6-442A-874A-8CC50340E97E}">
      <dsp:nvSpPr>
        <dsp:cNvPr id="0" name=""/>
        <dsp:cNvSpPr/>
      </dsp:nvSpPr>
      <dsp:spPr>
        <a:xfrm>
          <a:off x="0" y="246605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latin typeface="Times New Roman" panose="02020603050405020304" pitchFamily="18" charset="0"/>
              <a:cs typeface="Times New Roman" panose="02020603050405020304" pitchFamily="18" charset="0"/>
            </a:rPr>
            <a:t>looked up one of the more obscure Latin words, </a:t>
          </a:r>
          <a:r>
            <a:rPr lang="en-US" sz="2200" b="0" i="0" kern="1200" dirty="0" err="1">
              <a:latin typeface="Times New Roman" panose="02020603050405020304" pitchFamily="18" charset="0"/>
              <a:cs typeface="Times New Roman" panose="02020603050405020304" pitchFamily="18" charset="0"/>
            </a:rPr>
            <a:t>consectetur</a:t>
          </a:r>
          <a:r>
            <a:rPr lang="en-US" sz="2200" b="0" i="0" kern="1200" dirty="0">
              <a:latin typeface="Times New Roman" panose="02020603050405020304" pitchFamily="18" charset="0"/>
              <a:cs typeface="Times New Roman" panose="02020603050405020304" pitchFamily="18" charset="0"/>
            </a:rPr>
            <a:t>, from a Lorem Ipsum passage, and going through the cites of the word</a:t>
          </a:r>
          <a:endParaRPr lang="en-US" sz="2200" kern="1200" dirty="0">
            <a:latin typeface="Times New Roman" panose="02020603050405020304" pitchFamily="18" charset="0"/>
            <a:cs typeface="Times New Roman" panose="02020603050405020304" pitchFamily="18" charset="0"/>
          </a:endParaRPr>
        </a:p>
      </dsp:txBody>
      <dsp:txXfrm>
        <a:off x="56544" y="2522597"/>
        <a:ext cx="6726599" cy="1045212"/>
      </dsp:txXfrm>
    </dsp:sp>
    <dsp:sp modelId="{8A844BC3-4B22-4688-8C04-343ED27CD584}">
      <dsp:nvSpPr>
        <dsp:cNvPr id="0" name=""/>
        <dsp:cNvSpPr/>
      </dsp:nvSpPr>
      <dsp:spPr>
        <a:xfrm>
          <a:off x="0" y="368771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latin typeface="Times New Roman" panose="02020603050405020304" pitchFamily="18" charset="0"/>
              <a:cs typeface="Times New Roman" panose="02020603050405020304" pitchFamily="18" charset="0"/>
            </a:rPr>
            <a:t>in classical literature, discovered the undoubtable source. Lorem Ipsum comes from sections 1.10.32 and 1.10.33 of "de </a:t>
          </a:r>
          <a:r>
            <a:rPr lang="en-US" sz="2200" b="0" i="0" kern="1200" dirty="0" err="1">
              <a:latin typeface="Times New Roman" panose="02020603050405020304" pitchFamily="18" charset="0"/>
              <a:cs typeface="Times New Roman" panose="02020603050405020304" pitchFamily="18" charset="0"/>
            </a:rPr>
            <a:t>Finibus</a:t>
          </a:r>
          <a:r>
            <a:rPr lang="en-US" sz="2200" b="0" i="0" kern="1200" dirty="0">
              <a:latin typeface="Times New Roman" panose="02020603050405020304" pitchFamily="18" charset="0"/>
              <a:cs typeface="Times New Roman" panose="02020603050405020304" pitchFamily="18" charset="0"/>
            </a:rPr>
            <a:t> </a:t>
          </a:r>
          <a:r>
            <a:rPr lang="en-US" sz="2200" b="0" i="0" kern="1200" dirty="0" err="1">
              <a:latin typeface="Times New Roman" panose="02020603050405020304" pitchFamily="18" charset="0"/>
              <a:cs typeface="Times New Roman" panose="02020603050405020304" pitchFamily="18" charset="0"/>
            </a:rPr>
            <a:t>Bonorum</a:t>
          </a:r>
          <a:r>
            <a:rPr lang="en-US" sz="2200" b="0" i="0" kern="1200" dirty="0">
              <a:latin typeface="Times New Roman" panose="02020603050405020304" pitchFamily="18" charset="0"/>
              <a:cs typeface="Times New Roman" panose="02020603050405020304" pitchFamily="18" charset="0"/>
            </a:rPr>
            <a:t> et </a:t>
          </a:r>
          <a:r>
            <a:rPr lang="en-US" sz="2200" b="0" i="0" kern="1200" dirty="0" err="1">
              <a:latin typeface="Times New Roman" panose="02020603050405020304" pitchFamily="18" charset="0"/>
              <a:cs typeface="Times New Roman" panose="02020603050405020304" pitchFamily="18" charset="0"/>
            </a:rPr>
            <a:t>Malorum</a:t>
          </a:r>
          <a:r>
            <a:rPr lang="en-US" sz="2200" b="0" i="0" kern="1200" dirty="0">
              <a:latin typeface="Times New Roman" panose="02020603050405020304" pitchFamily="18" charset="0"/>
              <a:cs typeface="Times New Roman" panose="02020603050405020304" pitchFamily="18" charset="0"/>
            </a:rPr>
            <a:t>"</a:t>
          </a:r>
          <a:endParaRPr lang="en-US" sz="2200" kern="1200" dirty="0">
            <a:latin typeface="Times New Roman" panose="02020603050405020304" pitchFamily="18" charset="0"/>
            <a:cs typeface="Times New Roman" panose="02020603050405020304" pitchFamily="18" charset="0"/>
          </a:endParaRPr>
        </a:p>
      </dsp:txBody>
      <dsp:txXfrm>
        <a:off x="56544" y="3744257"/>
        <a:ext cx="6726599" cy="10452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5CF78B-0D02-43A8-8325-9A38699910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5A064DB-86DC-44DA-B98A-E0129676CC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27956B-5CC6-4F37-A5D3-8ADAA93DFC00}" type="datetimeFigureOut">
              <a:rPr lang="en-US" smtClean="0"/>
              <a:t>2/26/2026</a:t>
            </a:fld>
            <a:endParaRPr lang="en-US"/>
          </a:p>
        </p:txBody>
      </p:sp>
      <p:sp>
        <p:nvSpPr>
          <p:cNvPr id="4" name="Footer Placeholder 3">
            <a:extLst>
              <a:ext uri="{FF2B5EF4-FFF2-40B4-BE49-F238E27FC236}">
                <a16:creationId xmlns:a16="http://schemas.microsoft.com/office/drawing/2014/main" id="{A4B8F9F5-FED8-429A-9A1F-BD8A63DB1D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FFFA3D-8B0E-438A-B175-82F98F7A1E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1F1B97-8606-4AF2-A4CA-5AF47D76D7D0}" type="slidenum">
              <a:rPr lang="en-US" smtClean="0"/>
              <a:t>‹#›</a:t>
            </a:fld>
            <a:endParaRPr lang="en-US"/>
          </a:p>
        </p:txBody>
      </p:sp>
    </p:spTree>
    <p:extLst>
      <p:ext uri="{BB962C8B-B14F-4D97-AF65-F5344CB8AC3E}">
        <p14:creationId xmlns:p14="http://schemas.microsoft.com/office/powerpoint/2010/main" val="3941815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5F674-8DD1-4DA8-A2C3-D3B89A602C88}"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A3B30-A2B2-41BD-A49E-20DE79328994}" type="slidenum">
              <a:rPr lang="en-IN" smtClean="0"/>
              <a:t>‹#›</a:t>
            </a:fld>
            <a:endParaRPr lang="en-IN"/>
          </a:p>
        </p:txBody>
      </p:sp>
    </p:spTree>
    <p:extLst>
      <p:ext uri="{BB962C8B-B14F-4D97-AF65-F5344CB8AC3E}">
        <p14:creationId xmlns:p14="http://schemas.microsoft.com/office/powerpoint/2010/main" val="187229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32A3B30-A2B2-41BD-A49E-20DE79328994}" type="slidenum">
              <a:rPr lang="en-IN" smtClean="0"/>
              <a:t>6</a:t>
            </a:fld>
            <a:endParaRPr lang="en-IN"/>
          </a:p>
        </p:txBody>
      </p:sp>
    </p:spTree>
    <p:extLst>
      <p:ext uri="{BB962C8B-B14F-4D97-AF65-F5344CB8AC3E}">
        <p14:creationId xmlns:p14="http://schemas.microsoft.com/office/powerpoint/2010/main" val="2175914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
        <p:nvSpPr>
          <p:cNvPr id="7"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321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23083"/>
            <a:ext cx="10515600" cy="1325563"/>
          </a:xfrm>
        </p:spPr>
        <p:txBody>
          <a:bodyPr/>
          <a:lstStyle/>
          <a:p>
            <a:r>
              <a:rPr lang="en-US" dirty="0"/>
              <a:t>Click to edit Master title style</a:t>
            </a:r>
          </a:p>
        </p:txBody>
      </p:sp>
      <p:sp>
        <p:nvSpPr>
          <p:cNvPr id="3" name="Content Placeholder 2"/>
          <p:cNvSpPr>
            <a:spLocks noGrp="1"/>
          </p:cNvSpPr>
          <p:nvPr>
            <p:ph idx="1"/>
          </p:nvPr>
        </p:nvSpPr>
        <p:spPr>
          <a:xfrm>
            <a:off x="838200" y="1819764"/>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041334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95268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48184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dirty="0"/>
              <a:t>Paper ID : 2602XXX             Category : UG / PG / RS / Faculty </a:t>
            </a:r>
          </a:p>
        </p:txBody>
      </p:sp>
      <p:sp>
        <p:nvSpPr>
          <p:cNvPr id="9" name="Slide Number Placeholder 8"/>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28282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dirty="0"/>
              <a:t>Paper ID : 2602XXX             Category : UG / PG / RS / Faculty </a:t>
            </a:r>
          </a:p>
        </p:txBody>
      </p:sp>
      <p:sp>
        <p:nvSpPr>
          <p:cNvPr id="5" name="Slide Number Placeholder 4"/>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342317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dirty="0"/>
              <a:t>Paper ID : 2602XXX             Category : UG / PG / RS / Faculty </a:t>
            </a:r>
          </a:p>
        </p:txBody>
      </p:sp>
      <p:sp>
        <p:nvSpPr>
          <p:cNvPr id="4" name="Slide Number Placeholder 3"/>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50351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106664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95768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0565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21481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2">
        <a:schemeClr val="bg2"/>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F274645-626C-4692-8BCF-900900B0A95E}"/>
              </a:ext>
            </a:extLst>
          </p:cNvPr>
          <p:cNvSpPr>
            <a:spLocks noGrp="1"/>
          </p:cNvSpPr>
          <p:nvPr>
            <p:ph type="ftr" sz="quarter" idx="11"/>
          </p:nvPr>
        </p:nvSpPr>
        <p:spPr>
          <a:xfrm>
            <a:off x="2086495" y="6143106"/>
            <a:ext cx="6066905" cy="578370"/>
          </a:xfrm>
        </p:spPr>
        <p:txBody>
          <a:bodyPr/>
          <a:lstStyle>
            <a:lvl1pPr>
              <a:defRPr b="0">
                <a:solidFill>
                  <a:srgbClr val="00B0F0"/>
                </a:solidFill>
                <a:effectLst/>
                <a:latin typeface="Tahoma" panose="020B0604030504040204" pitchFamily="34" charset="0"/>
                <a:ea typeface="Tahoma" panose="020B0604030504040204" pitchFamily="34" charset="0"/>
                <a:cs typeface="Tahoma" panose="020B0604030504040204" pitchFamily="34" charset="0"/>
              </a:defRPr>
            </a:lvl1pPr>
          </a:lstStyle>
          <a:p>
            <a:r>
              <a:rPr lang="en-US"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rPr>
              <a:t>Paper ID : 2602XXX             Category : UG / PG / RS / Faculty </a:t>
            </a:r>
            <a:endParaRPr lang="en-US" i="1" dirty="0"/>
          </a:p>
        </p:txBody>
      </p:sp>
      <p:sp>
        <p:nvSpPr>
          <p:cNvPr id="6" name="Slide Number Placeholder 5">
            <a:extLst>
              <a:ext uri="{FF2B5EF4-FFF2-40B4-BE49-F238E27FC236}">
                <a16:creationId xmlns:a16="http://schemas.microsoft.com/office/drawing/2014/main" id="{99F76F3A-A1BA-4CE5-8555-EA0ABA80E65C}"/>
              </a:ext>
            </a:extLst>
          </p:cNvPr>
          <p:cNvSpPr>
            <a:spLocks noGrp="1"/>
          </p:cNvSpPr>
          <p:nvPr>
            <p:ph type="sldNum" sz="quarter" idx="12"/>
          </p:nvPr>
        </p:nvSpPr>
        <p:spPr/>
        <p:txBody>
          <a:bodyPr/>
          <a:lstStyle/>
          <a:p>
            <a:fld id="{7CF33057-8DAF-4BD3-BA1F-F058DBAFCA35}" type="slidenum">
              <a:rPr lang="en-US" smtClean="0"/>
              <a:t>‹#›</a:t>
            </a:fld>
            <a:endParaRPr lang="en-US"/>
          </a:p>
        </p:txBody>
      </p:sp>
      <p:sp>
        <p:nvSpPr>
          <p:cNvPr id="13" name="Title 1">
            <a:extLst>
              <a:ext uri="{FF2B5EF4-FFF2-40B4-BE49-F238E27FC236}">
                <a16:creationId xmlns:a16="http://schemas.microsoft.com/office/drawing/2014/main" id="{B3D41281-6D2C-4F3C-BA8F-87299BEEBCF5}"/>
              </a:ext>
            </a:extLst>
          </p:cNvPr>
          <p:cNvSpPr txBox="1">
            <a:spLocks/>
          </p:cNvSpPr>
          <p:nvPr userDrawn="1"/>
        </p:nvSpPr>
        <p:spPr>
          <a:xfrm>
            <a:off x="1664836" y="804875"/>
            <a:ext cx="8387541" cy="830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15000"/>
              </a:lnSpc>
              <a:spcBef>
                <a:spcPts val="0"/>
              </a:spcBef>
            </a:pPr>
            <a:r>
              <a:rPr lang="en-US" sz="24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Third International Conference on Futuristic Trends in Science, Engineering, and Management (ICFTSEM-III) 2026</a:t>
            </a:r>
          </a:p>
        </p:txBody>
      </p:sp>
      <p:sp>
        <p:nvSpPr>
          <p:cNvPr id="14" name="TextBox 13">
            <a:extLst>
              <a:ext uri="{FF2B5EF4-FFF2-40B4-BE49-F238E27FC236}">
                <a16:creationId xmlns:a16="http://schemas.microsoft.com/office/drawing/2014/main" id="{D76A6572-F46A-46D8-98AF-31310E42C274}"/>
              </a:ext>
            </a:extLst>
          </p:cNvPr>
          <p:cNvSpPr txBox="1"/>
          <p:nvPr userDrawn="1"/>
        </p:nvSpPr>
        <p:spPr>
          <a:xfrm>
            <a:off x="2786827" y="1760440"/>
            <a:ext cx="5914292" cy="808619"/>
          </a:xfrm>
          <a:prstGeom prst="rect">
            <a:avLst/>
          </a:prstGeom>
          <a:noFill/>
        </p:spPr>
        <p:txBody>
          <a:bodyPr wrap="square" rtlCol="0">
            <a:spAutoFit/>
          </a:bodyPr>
          <a:lstStyle/>
          <a:p>
            <a:pPr algn="ctr">
              <a:lnSpc>
                <a:spcPct val="115000"/>
              </a:lnSpc>
              <a:spcBef>
                <a:spcPts val="0"/>
              </a:spcBef>
            </a:pPr>
            <a:r>
              <a:rPr lang="en-US" sz="44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ICFTSEM-III -  2026</a:t>
            </a:r>
            <a:endParaRPr lang="en-US" sz="48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DC305E64-782B-4467-B6FE-F3A1AD6FF595}"/>
              </a:ext>
            </a:extLst>
          </p:cNvPr>
          <p:cNvSpPr txBox="1"/>
          <p:nvPr userDrawn="1"/>
        </p:nvSpPr>
        <p:spPr>
          <a:xfrm>
            <a:off x="1690058" y="3081672"/>
            <a:ext cx="8704813" cy="923330"/>
          </a:xfrm>
          <a:prstGeom prst="rect">
            <a:avLst/>
          </a:prstGeom>
          <a:noFill/>
        </p:spPr>
        <p:txBody>
          <a:bodyPr wrap="square">
            <a:spAutoFit/>
          </a:bodyPr>
          <a:lstStyle/>
          <a:p>
            <a:r>
              <a:rPr lang="en-US" b="1" dirty="0"/>
              <a:t>Organised by </a:t>
            </a:r>
          </a:p>
          <a:p>
            <a:r>
              <a:rPr lang="en-US" sz="1800" b="0" i="0" kern="1200" dirty="0">
                <a:solidFill>
                  <a:schemeClr val="tx1"/>
                </a:solidFill>
                <a:effectLst/>
                <a:latin typeface="+mn-lt"/>
                <a:ea typeface="+mn-ea"/>
                <a:cs typeface="+mn-cs"/>
              </a:rPr>
              <a:t>Jointly Organized by School of Management, Xavier University, Patna, India &amp; Global Conference Hub, Coimbatore, Tamil Nadu, India.</a:t>
            </a:r>
            <a:endParaRPr lang="en-US" sz="1600" b="0" i="1" dirty="0"/>
          </a:p>
        </p:txBody>
      </p:sp>
      <p:sp>
        <p:nvSpPr>
          <p:cNvPr id="17" name="TextBox 16">
            <a:extLst>
              <a:ext uri="{FF2B5EF4-FFF2-40B4-BE49-F238E27FC236}">
                <a16:creationId xmlns:a16="http://schemas.microsoft.com/office/drawing/2014/main" id="{B49173D2-8A0B-4D79-8A6A-6C57D2CD14E6}"/>
              </a:ext>
            </a:extLst>
          </p:cNvPr>
          <p:cNvSpPr txBox="1"/>
          <p:nvPr userDrawn="1"/>
        </p:nvSpPr>
        <p:spPr>
          <a:xfrm>
            <a:off x="8974388" y="2326364"/>
            <a:ext cx="2638097" cy="307777"/>
          </a:xfrm>
          <a:prstGeom prst="rect">
            <a:avLst/>
          </a:prstGeom>
          <a:solidFill>
            <a:srgbClr val="0070C0"/>
          </a:solidFill>
        </p:spPr>
        <p:txBody>
          <a:bodyPr wrap="square">
            <a:spAutoFit/>
          </a:bodyPr>
          <a:lstStyle/>
          <a:p>
            <a:pPr algn="r"/>
            <a:r>
              <a:rPr lang="en-US" sz="1400" b="1" kern="1200" dirty="0">
                <a:solidFill>
                  <a:schemeClr val="tx1"/>
                </a:solidFill>
                <a:latin typeface="+mn-lt"/>
                <a:ea typeface="+mn-ea"/>
                <a:cs typeface="+mn-cs"/>
              </a:rPr>
              <a:t>Dates:27.02.2026 &amp; 28.02.2026</a:t>
            </a:r>
            <a:endParaRPr lang="en-US" sz="1400" b="1" dirty="0"/>
          </a:p>
        </p:txBody>
      </p:sp>
    </p:spTree>
    <p:extLst>
      <p:ext uri="{BB962C8B-B14F-4D97-AF65-F5344CB8AC3E}">
        <p14:creationId xmlns:p14="http://schemas.microsoft.com/office/powerpoint/2010/main" val="6307094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DA2F-E874-4EAA-9B06-D16CC8F009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87C09-00AE-4433-9195-4932143E9D0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97AECED-DAEE-43B9-873F-E38BC2696C79}"/>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551A90C2-1E24-4DC9-B2C7-AB830A5B07E8}"/>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259697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3361-A1AA-454B-ADB4-42D5599FE3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23C3CD-E15C-44EC-821E-6000F681AB0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FC9CC74F-E207-417C-869F-8D50FAEFC532}"/>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D670CB11-0AE3-49DF-8BEC-719DBAE0D7BB}"/>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2513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Paper ID : 2602XXX             Category : UG / PG / RS / Faculty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F33057-8DAF-4BD3-BA1F-F058DBAFCA35}" type="slidenum">
              <a:rPr lang="en-US" smtClean="0"/>
              <a:t>‹#›</a:t>
            </a:fld>
            <a:endParaRPr lang="en-US"/>
          </a:p>
        </p:txBody>
      </p:sp>
      <p:pic>
        <p:nvPicPr>
          <p:cNvPr id="8" name="Picture 7"/>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a:off x="0" y="-29807"/>
            <a:ext cx="1489835" cy="1298367"/>
          </a:xfrm>
          <a:prstGeom prst="rect">
            <a:avLst/>
          </a:prstGeom>
        </p:spPr>
      </p:pic>
      <p:sp>
        <p:nvSpPr>
          <p:cNvPr id="9"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2"/>
          <p:cNvSpPr>
            <a:spLocks noChangeArrowheads="1"/>
          </p:cNvSpPr>
          <p:nvPr userDrawn="1"/>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3"/>
          <p:cNvSpPr>
            <a:spLocks noChangeArrowheads="1"/>
          </p:cNvSpPr>
          <p:nvPr userDrawn="1"/>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4"/>
          <p:cNvSpPr>
            <a:spLocks noChangeArrowheads="1"/>
          </p:cNvSpPr>
          <p:nvPr userDrawn="1"/>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p:cNvPicPr>
            <a:picLocks noChangeAspect="1"/>
          </p:cNvPicPr>
          <p:nvPr userDrawn="1"/>
        </p:nvPicPr>
        <p:blipFill>
          <a:blip r:embed="rId17"/>
          <a:stretch>
            <a:fillRect/>
          </a:stretch>
        </p:blipFill>
        <p:spPr>
          <a:xfrm>
            <a:off x="10769897" y="0"/>
            <a:ext cx="1399953" cy="1268560"/>
          </a:xfrm>
          <a:prstGeom prst="rect">
            <a:avLst/>
          </a:prstGeom>
        </p:spPr>
      </p:pic>
    </p:spTree>
    <p:extLst>
      <p:ext uri="{BB962C8B-B14F-4D97-AF65-F5344CB8AC3E}">
        <p14:creationId xmlns:p14="http://schemas.microsoft.com/office/powerpoint/2010/main" val="37859751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 id="2147483660"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4370-DD37-4ECB-8120-C13C0700F1D7}"/>
              </a:ext>
            </a:extLst>
          </p:cNvPr>
          <p:cNvSpPr>
            <a:spLocks noGrp="1"/>
          </p:cNvSpPr>
          <p:nvPr>
            <p:ph type="title"/>
          </p:nvPr>
        </p:nvSpPr>
        <p:spPr>
          <a:xfrm>
            <a:off x="1658001" y="730016"/>
            <a:ext cx="8566624" cy="697340"/>
          </a:xfrm>
        </p:spPr>
        <p:txBody>
          <a:bodyPr vert="horz" lIns="91440" tIns="45720" rIns="91440" bIns="45720" rtlCol="0" anchor="b">
            <a:normAutofit fontScale="90000"/>
          </a:bodyPr>
          <a:lstStyle/>
          <a:p>
            <a:pPr algn="ctr"/>
            <a:r>
              <a:rPr lang="en-US" sz="6000" b="1" kern="1200" spc="210" dirty="0">
                <a:latin typeface="Times New Roman" panose="02020603050405020304" pitchFamily="18" charset="0"/>
                <a:cs typeface="Times New Roman" panose="02020603050405020304" pitchFamily="18" charset="0"/>
              </a:rPr>
              <a:t>Instructions to Presenters</a:t>
            </a:r>
            <a:endParaRPr lang="en-US" sz="6000" b="1" kern="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2E2502C5-75FD-1493-B08B-61B2796B2A01}"/>
              </a:ext>
            </a:extLst>
          </p:cNvPr>
          <p:cNvSpPr>
            <a:spLocks noGrp="1"/>
          </p:cNvSpPr>
          <p:nvPr>
            <p:ph type="ftr" sz="quarter" idx="11"/>
          </p:nvPr>
        </p:nvSpPr>
        <p:spPr/>
        <p:txBody>
          <a:bodyPr/>
          <a:lstStyle/>
          <a:p>
            <a:r>
              <a:rPr lang="en-US" dirty="0"/>
              <a:t>Paper ID : 2602XXX             Category : UG / PG / RS / Faculty </a:t>
            </a:r>
          </a:p>
        </p:txBody>
      </p:sp>
      <p:sp>
        <p:nvSpPr>
          <p:cNvPr id="10" name="Rectangle 6">
            <a:extLst>
              <a:ext uri="{FF2B5EF4-FFF2-40B4-BE49-F238E27FC236}">
                <a16:creationId xmlns:a16="http://schemas.microsoft.com/office/drawing/2014/main" id="{1018F211-938B-4B0C-9F1F-EFBE748DC2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761" rIns="47610" bIns="12696"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chemeClr val="tx1"/>
                </a:solidFill>
                <a:effectLst/>
                <a:latin typeface="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99A69A4-EDE0-58EC-7BFF-9D88B6440B86}"/>
              </a:ext>
            </a:extLst>
          </p:cNvPr>
          <p:cNvSpPr txBox="1"/>
          <p:nvPr/>
        </p:nvSpPr>
        <p:spPr>
          <a:xfrm>
            <a:off x="936703" y="1538869"/>
            <a:ext cx="10838986" cy="4401205"/>
          </a:xfrm>
          <a:prstGeom prst="rect">
            <a:avLst/>
          </a:prstGeom>
          <a:noFill/>
        </p:spPr>
        <p:txBody>
          <a:bodyPr wrap="square">
            <a:spAutoFit/>
          </a:bodyPr>
          <a:lstStyle/>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Authors can modify the template and add slides.</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Authors should complete their presentation within10 minutes.</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Multiple presenters can combine and present their work within the 10-minute time frame.</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The maximum allowed is 15 slides per team.</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Your presentation will be evaluated by the Conference Chair and team members based on the rubric </a:t>
            </a:r>
            <a:r>
              <a:rPr lang="en-GB" sz="2000" b="1" spc="210" dirty="0">
                <a:latin typeface="Times New Roman" panose="02020603050405020304" pitchFamily="18" charset="0"/>
                <a:ea typeface="+mj-ea"/>
                <a:cs typeface="Times New Roman" panose="02020603050405020304" pitchFamily="18" charset="0"/>
              </a:rPr>
              <a:t>(rubric sheet available on the next slide)</a:t>
            </a:r>
            <a:endParaRPr lang="en-US" alt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b="1" spc="210" dirty="0">
                <a:latin typeface="Times New Roman" panose="02020603050405020304" pitchFamily="18" charset="0"/>
                <a:ea typeface="+mj-ea"/>
                <a:cs typeface="Times New Roman" panose="02020603050405020304" pitchFamily="18" charset="0"/>
              </a:rPr>
              <a:t>Note : </a:t>
            </a:r>
            <a:r>
              <a:rPr lang="en-US" altLang="en-US" sz="2000" spc="210" dirty="0">
                <a:latin typeface="Times New Roman" panose="02020603050405020304" pitchFamily="18" charset="0"/>
                <a:ea typeface="+mj-ea"/>
                <a:cs typeface="Times New Roman" panose="02020603050405020304" pitchFamily="18" charset="0"/>
              </a:rPr>
              <a:t>(No. of Days required for Sending Documents after the Conference)</a:t>
            </a:r>
            <a:br>
              <a:rPr lang="en-US" altLang="en-US" sz="2000" dirty="0">
                <a:latin typeface="Times New Roman" panose="02020603050405020304" pitchFamily="18" charset="0"/>
                <a:cs typeface="Times New Roman" panose="02020603050405020304" pitchFamily="18" charset="0"/>
              </a:rPr>
            </a:br>
            <a:r>
              <a:rPr lang="en-US" altLang="en-US" sz="2000" spc="210" dirty="0">
                <a:latin typeface="Times New Roman" panose="02020603050405020304" pitchFamily="18" charset="0"/>
                <a:ea typeface="+mj-ea"/>
                <a:cs typeface="Times New Roman" panose="02020603050405020304" pitchFamily="18" charset="0"/>
              </a:rPr>
              <a:t>Conference Participation Certificate = within 04 working days</a:t>
            </a:r>
          </a:p>
          <a:p>
            <a:pPr marL="285750" indent="-285750">
              <a:buFont typeface="Arial" panose="020B0604020202020204" pitchFamily="34" charset="0"/>
              <a:buChar char="•"/>
            </a:pPr>
            <a:r>
              <a:rPr lang="en-US" altLang="en-US" sz="2000" spc="210" dirty="0">
                <a:latin typeface="Times New Roman" panose="02020603050405020304" pitchFamily="18" charset="0"/>
                <a:ea typeface="+mj-ea"/>
                <a:cs typeface="Times New Roman" panose="02020603050405020304" pitchFamily="18" charset="0"/>
              </a:rPr>
              <a:t>Best Presentation Certificate = 07 working days</a:t>
            </a:r>
            <a:br>
              <a:rPr lang="en-US" altLang="en-US" sz="2000" spc="210" dirty="0">
                <a:latin typeface="Times New Roman" panose="02020603050405020304" pitchFamily="18" charset="0"/>
                <a:ea typeface="+mj-ea"/>
                <a:cs typeface="Times New Roman" panose="02020603050405020304" pitchFamily="18" charset="0"/>
              </a:rPr>
            </a:br>
            <a:r>
              <a:rPr lang="en-US" altLang="en-US" sz="2000" spc="210" dirty="0">
                <a:latin typeface="Times New Roman" panose="02020603050405020304" pitchFamily="18" charset="0"/>
                <a:ea typeface="+mj-ea"/>
                <a:cs typeface="Times New Roman" panose="02020603050405020304" pitchFamily="18" charset="0"/>
              </a:rPr>
              <a:t>Conference Proceedings = within 23 working days (changes when submission from all Authors is delayed)</a:t>
            </a:r>
          </a:p>
          <a:p>
            <a:pPr marL="285750" indent="-285750">
              <a:buFont typeface="Arial" panose="020B0604020202020204" pitchFamily="34" charset="0"/>
              <a:buChar char="•"/>
            </a:pPr>
            <a:r>
              <a:rPr lang="en-US" altLang="en-US" sz="2000" spc="210" dirty="0">
                <a:latin typeface="Times New Roman" panose="02020603050405020304" pitchFamily="18" charset="0"/>
                <a:ea typeface="+mj-ea"/>
                <a:cs typeface="Times New Roman" panose="02020603050405020304" pitchFamily="18" charset="0"/>
              </a:rPr>
              <a:t>Paper Publication Certificate = 28 working days from final Copyright form submission and full paper as per template</a:t>
            </a:r>
            <a:endParaRPr lang="en-GB" sz="2000" spc="21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551345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B3D1-A356-4613-8A4B-640F6011E1E7}"/>
              </a:ext>
            </a:extLst>
          </p:cNvPr>
          <p:cNvSpPr>
            <a:spLocks noGrp="1"/>
          </p:cNvSpPr>
          <p:nvPr>
            <p:ph type="title"/>
          </p:nvPr>
        </p:nvSpPr>
        <p:spPr>
          <a:xfrm>
            <a:off x="926480" y="808978"/>
            <a:ext cx="10339039" cy="741042"/>
          </a:xfrm>
        </p:spPr>
        <p:txBody>
          <a:bodyPr>
            <a:noAutofit/>
          </a:bodyPr>
          <a:lstStyle/>
          <a:p>
            <a:pPr algn="ctr"/>
            <a:r>
              <a:rPr lang="en-US" sz="1200" b="1" dirty="0" err="1">
                <a:latin typeface="Times New Roman" panose="02020603050405020304" pitchFamily="18" charset="0"/>
                <a:cs typeface="Times New Roman" panose="02020603050405020304" pitchFamily="18" charset="0"/>
              </a:rPr>
              <a:t>iCREATE</a:t>
            </a:r>
            <a:r>
              <a:rPr lang="en-US" sz="1200" b="1" dirty="0">
                <a:latin typeface="Times New Roman" panose="02020603050405020304" pitchFamily="18" charset="0"/>
                <a:cs typeface="Times New Roman" panose="02020603050405020304" pitchFamily="18" charset="0"/>
              </a:rPr>
              <a:t> 2025: International Conference on Research, Engineering, and Advanced Technologies in Computing &amp; Management</a:t>
            </a: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&amp; Global Conference Hub, Coimbatore, Tamil Nadu, India.</a:t>
            </a:r>
            <a:br>
              <a:rPr lang="en-US" sz="12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Rubric for Best Presentation (UG, PG, Research Scholar &amp; Faculty)</a:t>
            </a:r>
            <a:br>
              <a:rPr lang="en-US" sz="1200" b="1" dirty="0">
                <a:latin typeface="Times New Roman" panose="02020603050405020304" pitchFamily="18" charset="0"/>
                <a:cs typeface="Times New Roman" panose="02020603050405020304" pitchFamily="18" charset="0"/>
              </a:rPr>
            </a:br>
            <a:endParaRPr lang="en-US" sz="1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D429C9F-004F-40E0-B7AC-59F7302620CF}"/>
              </a:ext>
            </a:extLst>
          </p:cNvPr>
          <p:cNvSpPr>
            <a:spLocks noGrp="1"/>
          </p:cNvSpPr>
          <p:nvPr>
            <p:ph type="ftr" sz="quarter" idx="11"/>
          </p:nvPr>
        </p:nvSpPr>
        <p:spPr>
          <a:xfrm>
            <a:off x="4049751" y="6356350"/>
            <a:ext cx="3945673" cy="289777"/>
          </a:xfrm>
        </p:spPr>
        <p:txBody>
          <a:bodyPr/>
          <a:lstStyle/>
          <a:p>
            <a:r>
              <a:rPr lang="en-US" dirty="0"/>
              <a:t>Paper ID : 2602XXX             Category : UG / PG / RS / Faculty </a:t>
            </a:r>
          </a:p>
        </p:txBody>
      </p:sp>
      <p:pic>
        <p:nvPicPr>
          <p:cNvPr id="5" name="Content Placeholder 4"/>
          <p:cNvPicPr>
            <a:picLocks noGrp="1" noChangeAspect="1"/>
          </p:cNvPicPr>
          <p:nvPr>
            <p:ph idx="1"/>
          </p:nvPr>
        </p:nvPicPr>
        <p:blipFill>
          <a:blip r:embed="rId2"/>
          <a:stretch>
            <a:fillRect/>
          </a:stretch>
        </p:blipFill>
        <p:spPr>
          <a:xfrm>
            <a:off x="1081669" y="1550021"/>
            <a:ext cx="10426390" cy="4617418"/>
          </a:xfrm>
          <a:prstGeom prst="rect">
            <a:avLst/>
          </a:prstGeom>
        </p:spPr>
      </p:pic>
    </p:spTree>
    <p:extLst>
      <p:ext uri="{BB962C8B-B14F-4D97-AF65-F5344CB8AC3E}">
        <p14:creationId xmlns:p14="http://schemas.microsoft.com/office/powerpoint/2010/main" val="992021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90">
          <a:fgClr>
            <a:schemeClr val="bg2">
              <a:tint val="95000"/>
              <a:satMod val="170000"/>
            </a:schemeClr>
          </a:fgClr>
          <a:bgClr>
            <a:schemeClr val="accent4">
              <a:lumMod val="60000"/>
              <a:lumOff val="40000"/>
            </a:schemeClr>
          </a:bgClr>
        </a:patt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2F9EC0C-6D7D-448A-9AB3-1F513268C2EE}"/>
              </a:ext>
            </a:extLst>
          </p:cNvPr>
          <p:cNvSpPr>
            <a:spLocks noGrp="1"/>
          </p:cNvSpPr>
          <p:nvPr>
            <p:ph type="subTitle" idx="4294967295"/>
          </p:nvPr>
        </p:nvSpPr>
        <p:spPr>
          <a:xfrm>
            <a:off x="1956408" y="4158543"/>
            <a:ext cx="8848725" cy="666750"/>
          </a:xfrm>
        </p:spPr>
        <p:txBody>
          <a:bodyPr>
            <a:noAutofit/>
          </a:bodyPr>
          <a:lstStyle/>
          <a:p>
            <a:pPr marL="0" indent="0" algn="ctr">
              <a:buNone/>
            </a:pPr>
            <a:r>
              <a:rPr lang="en-US" sz="2000" b="1" spc="144" dirty="0">
                <a:solidFill>
                  <a:schemeClr val="bg1"/>
                </a:solidFill>
                <a:highlight>
                  <a:srgbClr val="000080"/>
                </a:highlight>
                <a:latin typeface="Times New Roman" panose="02020603050405020304" pitchFamily="18" charset="0"/>
                <a:cs typeface="Times New Roman" panose="02020603050405020304" pitchFamily="18" charset="0"/>
              </a:rPr>
              <a:t>Paper Title : </a:t>
            </a:r>
            <a:r>
              <a:rPr lang="en-US" sz="2000" dirty="0">
                <a:solidFill>
                  <a:schemeClr val="bg1"/>
                </a:solidFill>
                <a:highlight>
                  <a:srgbClr val="000080"/>
                </a:highlight>
              </a:rPr>
              <a:t>Survey on real time wire-frame pothole detection system</a:t>
            </a:r>
            <a:endParaRPr lang="en-US" sz="2000" i="1" dirty="0">
              <a:solidFill>
                <a:schemeClr val="bg1"/>
              </a:solidFill>
              <a:highlight>
                <a:srgbClr val="000080"/>
              </a:highlight>
              <a:latin typeface="Times New Roman" panose="02020603050405020304" pitchFamily="18" charset="0"/>
              <a:cs typeface="Times New Roman" panose="02020603050405020304" pitchFamily="18" charset="0"/>
            </a:endParaRPr>
          </a:p>
        </p:txBody>
      </p:sp>
      <p:sp>
        <p:nvSpPr>
          <p:cNvPr id="20" name="TextBox 12">
            <a:extLst>
              <a:ext uri="{FF2B5EF4-FFF2-40B4-BE49-F238E27FC236}">
                <a16:creationId xmlns:a16="http://schemas.microsoft.com/office/drawing/2014/main" id="{888D88C6-4587-4696-A2DC-3E45C686C073}"/>
              </a:ext>
            </a:extLst>
          </p:cNvPr>
          <p:cNvSpPr txBox="1"/>
          <p:nvPr/>
        </p:nvSpPr>
        <p:spPr>
          <a:xfrm>
            <a:off x="9399001" y="4825294"/>
            <a:ext cx="2242721" cy="846386"/>
          </a:xfrm>
          <a:prstGeom prst="rect">
            <a:avLst/>
          </a:prstGeom>
        </p:spPr>
        <p:txBody>
          <a:bodyPr wrap="square" lIns="0" tIns="0" rIns="0" bIns="0" rtlCol="0" anchor="t">
            <a:spAutoFit/>
          </a:bodyPr>
          <a:lstStyle/>
          <a:p>
            <a:pPr algn="r"/>
            <a:r>
              <a:rPr lang="en-US" sz="1100" b="1" i="1" dirty="0">
                <a:solidFill>
                  <a:srgbClr val="000000"/>
                </a:solidFill>
                <a:latin typeface="Saira Medium"/>
              </a:rPr>
              <a:t>Presented by</a:t>
            </a:r>
          </a:p>
          <a:p>
            <a:pPr algn="r"/>
            <a:r>
              <a:rPr lang="en-US" sz="1100" dirty="0">
                <a:solidFill>
                  <a:srgbClr val="000000"/>
                </a:solidFill>
                <a:latin typeface="Times New Roman" panose="02020603050405020304" pitchFamily="18" charset="0"/>
                <a:cs typeface="Times New Roman" panose="02020603050405020304" pitchFamily="18" charset="0"/>
              </a:rPr>
              <a:t>Mr. Mohamed B Sirajuddeen</a:t>
            </a:r>
            <a:r>
              <a:rPr lang="en-US" sz="1100" i="1" dirty="0">
                <a:solidFill>
                  <a:srgbClr val="000000"/>
                </a:solidFill>
                <a:latin typeface="Saira Medium"/>
              </a:rPr>
              <a:t>,</a:t>
            </a:r>
          </a:p>
          <a:p>
            <a:pPr algn="r"/>
            <a:r>
              <a:rPr lang="en-US" sz="1100" i="1" dirty="0">
                <a:solidFill>
                  <a:srgbClr val="000000"/>
                </a:solidFill>
                <a:latin typeface="Saira Medium"/>
              </a:rPr>
              <a:t>Student - UG</a:t>
            </a:r>
          </a:p>
          <a:p>
            <a:pPr algn="r"/>
            <a:r>
              <a:rPr lang="en-US" sz="1100" i="1" dirty="0">
                <a:solidFill>
                  <a:srgbClr val="000000"/>
                </a:solidFill>
                <a:latin typeface="Saira Medium"/>
              </a:rPr>
              <a:t>RGCET,</a:t>
            </a:r>
          </a:p>
          <a:p>
            <a:pPr algn="r"/>
            <a:r>
              <a:rPr lang="en-US" sz="1100" i="1" dirty="0">
                <a:solidFill>
                  <a:srgbClr val="000000"/>
                </a:solidFill>
                <a:latin typeface="Saira Medium"/>
              </a:rPr>
              <a:t>Puducherry</a:t>
            </a:r>
          </a:p>
        </p:txBody>
      </p:sp>
      <p:sp>
        <p:nvSpPr>
          <p:cNvPr id="21" name="TextBox 13">
            <a:extLst>
              <a:ext uri="{FF2B5EF4-FFF2-40B4-BE49-F238E27FC236}">
                <a16:creationId xmlns:a16="http://schemas.microsoft.com/office/drawing/2014/main" id="{1B9DC2CD-1FDA-4098-8536-1028F4B1FD72}"/>
              </a:ext>
            </a:extLst>
          </p:cNvPr>
          <p:cNvSpPr txBox="1"/>
          <p:nvPr/>
        </p:nvSpPr>
        <p:spPr>
          <a:xfrm>
            <a:off x="98143" y="5248487"/>
            <a:ext cx="2630848" cy="923330"/>
          </a:xfrm>
          <a:prstGeom prst="rect">
            <a:avLst/>
          </a:prstGeom>
        </p:spPr>
        <p:txBody>
          <a:bodyPr wrap="square" lIns="0" tIns="0" rIns="0" bIns="0" rtlCol="0" anchor="t">
            <a:spAutoFit/>
          </a:bodyPr>
          <a:lstStyle/>
          <a:p>
            <a:pPr algn="r"/>
            <a:r>
              <a:rPr lang="en-US" sz="1200" u="sng" dirty="0">
                <a:solidFill>
                  <a:srgbClr val="000000"/>
                </a:solidFill>
                <a:latin typeface="Times New Roman" panose="02020603050405020304" pitchFamily="18" charset="0"/>
                <a:cs typeface="Times New Roman" panose="02020603050405020304" pitchFamily="18" charset="0"/>
              </a:rPr>
              <a:t>Authors Details</a:t>
            </a:r>
          </a:p>
          <a:p>
            <a:pPr algn="r"/>
            <a:r>
              <a:rPr lang="en-US" sz="1200" dirty="0">
                <a:solidFill>
                  <a:srgbClr val="000000"/>
                </a:solidFill>
                <a:latin typeface="Times New Roman" panose="02020603050405020304" pitchFamily="18" charset="0"/>
                <a:cs typeface="Times New Roman" panose="02020603050405020304" pitchFamily="18" charset="0"/>
              </a:rPr>
              <a:t>Dr. RG Suresh Kumar</a:t>
            </a:r>
          </a:p>
          <a:p>
            <a:pPr algn="r"/>
            <a:r>
              <a:rPr lang="en-US" sz="1200" dirty="0">
                <a:solidFill>
                  <a:srgbClr val="000000"/>
                </a:solidFill>
                <a:latin typeface="Times New Roman" panose="02020603050405020304" pitchFamily="18" charset="0"/>
                <a:cs typeface="Times New Roman" panose="02020603050405020304" pitchFamily="18" charset="0"/>
              </a:rPr>
              <a:t>Mr. Mohamed B Sirajuddeen</a:t>
            </a:r>
          </a:p>
          <a:p>
            <a:pPr algn="r"/>
            <a:r>
              <a:rPr lang="en-US" sz="1200" dirty="0">
                <a:solidFill>
                  <a:srgbClr val="000000"/>
                </a:solidFill>
                <a:latin typeface="Times New Roman" panose="02020603050405020304" pitchFamily="18" charset="0"/>
                <a:cs typeface="Times New Roman" panose="02020603050405020304" pitchFamily="18" charset="0"/>
              </a:rPr>
              <a:t>Professor &amp; </a:t>
            </a:r>
            <a:r>
              <a:rPr lang="en-US" sz="1200" dirty="0" err="1">
                <a:solidFill>
                  <a:srgbClr val="000000"/>
                </a:solidFill>
                <a:latin typeface="Times New Roman" panose="02020603050405020304" pitchFamily="18" charset="0"/>
                <a:cs typeface="Times New Roman" panose="02020603050405020304" pitchFamily="18" charset="0"/>
              </a:rPr>
              <a:t>HoD</a:t>
            </a:r>
            <a:r>
              <a:rPr lang="en-US" sz="1200" dirty="0">
                <a:solidFill>
                  <a:srgbClr val="000000"/>
                </a:solidFill>
                <a:latin typeface="Times New Roman" panose="02020603050405020304" pitchFamily="18" charset="0"/>
                <a:cs typeface="Times New Roman" panose="02020603050405020304" pitchFamily="18" charset="0"/>
              </a:rPr>
              <a:t> – RGCET, Puducherry</a:t>
            </a:r>
          </a:p>
          <a:p>
            <a:pPr algn="r"/>
            <a:r>
              <a:rPr lang="en-US" sz="1200" dirty="0">
                <a:solidFill>
                  <a:srgbClr val="000000"/>
                </a:solidFill>
                <a:latin typeface="Times New Roman" panose="02020603050405020304" pitchFamily="18" charset="0"/>
                <a:cs typeface="Times New Roman" panose="02020603050405020304" pitchFamily="18" charset="0"/>
              </a:rPr>
              <a:t>Student – UG RGCET, Puducherry</a:t>
            </a:r>
          </a:p>
        </p:txBody>
      </p:sp>
      <p:sp>
        <p:nvSpPr>
          <p:cNvPr id="5" name="TextBox 12">
            <a:extLst>
              <a:ext uri="{FF2B5EF4-FFF2-40B4-BE49-F238E27FC236}">
                <a16:creationId xmlns:a16="http://schemas.microsoft.com/office/drawing/2014/main" id="{954E01FF-D846-4D6E-8224-E40DAFD3EB29}"/>
              </a:ext>
            </a:extLst>
          </p:cNvPr>
          <p:cNvSpPr txBox="1"/>
          <p:nvPr/>
        </p:nvSpPr>
        <p:spPr>
          <a:xfrm>
            <a:off x="3564385" y="4579072"/>
            <a:ext cx="5063230" cy="492443"/>
          </a:xfrm>
          <a:prstGeom prst="rect">
            <a:avLst/>
          </a:prstGeom>
        </p:spPr>
        <p:txBody>
          <a:bodyPr wrap="square" lIns="0" tIns="0" rIns="0" bIns="0" rtlCol="0" anchor="t">
            <a:spAutoFit/>
          </a:bodyPr>
          <a:lstStyle/>
          <a:p>
            <a:r>
              <a:rPr lang="en-US" sz="1600" b="1" i="1" dirty="0">
                <a:solidFill>
                  <a:srgbClr val="000000"/>
                </a:solidFill>
                <a:latin typeface="Times New Roman" panose="02020603050405020304" pitchFamily="18" charset="0"/>
                <a:cs typeface="Times New Roman" panose="02020603050405020304" pitchFamily="18" charset="0"/>
              </a:rPr>
              <a:t>Paper Id </a:t>
            </a:r>
            <a:r>
              <a:rPr lang="en-US" sz="1600" i="1" dirty="0">
                <a:solidFill>
                  <a:srgbClr val="000000"/>
                </a:solidFill>
                <a:latin typeface="Times New Roman" panose="02020603050405020304" pitchFamily="18" charset="0"/>
                <a:cs typeface="Times New Roman" panose="02020603050405020304" pitchFamily="18" charset="0"/>
              </a:rPr>
              <a:t>: 2602051</a:t>
            </a:r>
          </a:p>
          <a:p>
            <a:r>
              <a:rPr lang="en-US" sz="1600" b="1" i="1" dirty="0">
                <a:solidFill>
                  <a:srgbClr val="000000"/>
                </a:solidFill>
                <a:latin typeface="Times New Roman" panose="02020603050405020304" pitchFamily="18" charset="0"/>
                <a:cs typeface="Times New Roman" panose="02020603050405020304" pitchFamily="18" charset="0"/>
              </a:rPr>
              <a:t>Presenter Category : </a:t>
            </a:r>
            <a:r>
              <a:rPr lang="en-US" sz="1600" i="1" dirty="0">
                <a:solidFill>
                  <a:srgbClr val="000000"/>
                </a:solidFill>
                <a:latin typeface="Times New Roman" panose="02020603050405020304" pitchFamily="18" charset="0"/>
                <a:cs typeface="Times New Roman" panose="02020603050405020304" pitchFamily="18" charset="0"/>
              </a:rPr>
              <a:t>UG</a:t>
            </a:r>
          </a:p>
        </p:txBody>
      </p:sp>
    </p:spTree>
    <p:extLst>
      <p:ext uri="{BB962C8B-B14F-4D97-AF65-F5344CB8AC3E}">
        <p14:creationId xmlns:p14="http://schemas.microsoft.com/office/powerpoint/2010/main" val="4037775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4F41-0F26-47D5-87BD-7089045E77E3}"/>
              </a:ext>
            </a:extLst>
          </p:cNvPr>
          <p:cNvSpPr>
            <a:spLocks noGrp="1"/>
          </p:cNvSpPr>
          <p:nvPr>
            <p:ph type="title"/>
          </p:nvPr>
        </p:nvSpPr>
        <p:spPr>
          <a:xfrm>
            <a:off x="804672" y="2023236"/>
            <a:ext cx="3853053" cy="2820908"/>
          </a:xfrm>
        </p:spPr>
        <p:txBody>
          <a:bodyPr>
            <a:normAutofit/>
          </a:bodyPr>
          <a:lstStyle/>
          <a:p>
            <a:r>
              <a:rPr lang="en-US" sz="4000" spc="107" dirty="0">
                <a:solidFill>
                  <a:schemeClr val="tx2"/>
                </a:solidFill>
                <a:latin typeface="Times New Roman" panose="02020603050405020304" pitchFamily="18" charset="0"/>
                <a:cs typeface="Times New Roman" panose="02020603050405020304" pitchFamily="18" charset="0"/>
              </a:rPr>
              <a:t>KEY TALKING POINTS</a:t>
            </a:r>
            <a:endParaRPr lang="en-US" sz="4000"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A42E2F-A66E-40B9-BEC2-72EF0BCAD9A2}"/>
              </a:ext>
            </a:extLst>
          </p:cNvPr>
          <p:cNvSpPr>
            <a:spLocks noGrp="1"/>
          </p:cNvSpPr>
          <p:nvPr>
            <p:ph idx="1"/>
          </p:nvPr>
        </p:nvSpPr>
        <p:spPr>
          <a:xfrm>
            <a:off x="6271558" y="2034383"/>
            <a:ext cx="4935171" cy="3070952"/>
          </a:xfrm>
        </p:spPr>
        <p:txBody>
          <a:bodyPr>
            <a:normAutofit/>
          </a:bodyPr>
          <a:lstStyle/>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Abstract</a:t>
            </a:r>
          </a:p>
          <a:p>
            <a:pPr marL="160020" indent="-160020" defTabSz="640080">
              <a:lnSpc>
                <a:spcPct val="110000"/>
              </a:lnSpc>
              <a:spcBef>
                <a:spcPts val="700"/>
              </a:spcBef>
            </a:pPr>
            <a:r>
              <a:rPr lang="en-US" sz="1960" kern="1200" dirty="0">
                <a:solidFill>
                  <a:schemeClr val="tx1"/>
                </a:solidFill>
                <a:latin typeface="Times New Roman" panose="02020603050405020304" pitchFamily="18" charset="0"/>
                <a:ea typeface="+mn-ea"/>
                <a:cs typeface="Times New Roman" panose="02020603050405020304" pitchFamily="18" charset="0"/>
              </a:rPr>
              <a:t>I</a:t>
            </a:r>
            <a:r>
              <a:rPr lang="en-US" sz="1960" kern="1200" spc="22" dirty="0">
                <a:solidFill>
                  <a:schemeClr val="tx1"/>
                </a:solidFill>
                <a:latin typeface="Times New Roman" panose="02020603050405020304" pitchFamily="18" charset="0"/>
                <a:ea typeface="+mn-ea"/>
                <a:cs typeface="Times New Roman" panose="02020603050405020304" pitchFamily="18" charset="0"/>
              </a:rPr>
              <a:t>ntroduction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Literature Review</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Methodology</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Experiments / Analysis / Simulation </a:t>
            </a:r>
            <a:r>
              <a:rPr lang="en-US" sz="1960" kern="1200" spc="22" dirty="0" err="1">
                <a:solidFill>
                  <a:schemeClr val="tx1"/>
                </a:solidFill>
                <a:latin typeface="Times New Roman" panose="02020603050405020304" pitchFamily="18" charset="0"/>
                <a:ea typeface="+mn-ea"/>
                <a:cs typeface="Times New Roman" panose="02020603050405020304" pitchFamily="18" charset="0"/>
              </a:rPr>
              <a:t>etc</a:t>
            </a:r>
            <a:endParaRPr lang="en-US" sz="1960" kern="1200" spc="22" dirty="0">
              <a:solidFill>
                <a:schemeClr val="tx1"/>
              </a:solidFill>
              <a:latin typeface="Times New Roman" panose="02020603050405020304" pitchFamily="18" charset="0"/>
              <a:ea typeface="+mn-ea"/>
              <a:cs typeface="Times New Roman" panose="02020603050405020304" pitchFamily="18" charset="0"/>
            </a:endParaRP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Results &amp; Discussion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Conclusion</a:t>
            </a:r>
          </a:p>
          <a:p>
            <a:pPr>
              <a:lnSpc>
                <a:spcPct val="110000"/>
              </a:lnSpc>
            </a:pPr>
            <a:endParaRPr lang="en-US" dirty="0"/>
          </a:p>
        </p:txBody>
      </p:sp>
      <p:sp>
        <p:nvSpPr>
          <p:cNvPr id="4" name="Footer Placeholder 3">
            <a:extLst>
              <a:ext uri="{FF2B5EF4-FFF2-40B4-BE49-F238E27FC236}">
                <a16:creationId xmlns:a16="http://schemas.microsoft.com/office/drawing/2014/main" id="{25EF9455-A8B4-C4A0-4D7C-91BF6E8C9EB8}"/>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
        <p:nvSpPr>
          <p:cNvPr id="6" name="TextBox 5">
            <a:extLst>
              <a:ext uri="{FF2B5EF4-FFF2-40B4-BE49-F238E27FC236}">
                <a16:creationId xmlns:a16="http://schemas.microsoft.com/office/drawing/2014/main" id="{C6D70224-9988-42E6-AA0F-479BE75D3D08}"/>
              </a:ext>
            </a:extLst>
          </p:cNvPr>
          <p:cNvSpPr txBox="1"/>
          <p:nvPr/>
        </p:nvSpPr>
        <p:spPr>
          <a:xfrm>
            <a:off x="6091238" y="1382179"/>
            <a:ext cx="4003570" cy="710323"/>
          </a:xfrm>
          <a:prstGeom prst="rect">
            <a:avLst/>
          </a:prstGeom>
          <a:noFill/>
        </p:spPr>
        <p:txBody>
          <a:bodyPr wrap="square">
            <a:spAutoFit/>
          </a:bodyPr>
          <a:lstStyle/>
          <a:p>
            <a:pPr defTabSz="640080">
              <a:lnSpc>
                <a:spcPts val="5880"/>
              </a:lnSpc>
              <a:spcAft>
                <a:spcPts val="600"/>
              </a:spcAft>
            </a:pPr>
            <a:r>
              <a:rPr lang="en-US" sz="1680" b="1" kern="1200" spc="147" dirty="0">
                <a:solidFill>
                  <a:srgbClr val="49403C"/>
                </a:solidFill>
                <a:latin typeface="Times New Roman" panose="02020603050405020304" pitchFamily="18" charset="0"/>
                <a:ea typeface="+mn-ea"/>
                <a:cs typeface="Times New Roman" panose="02020603050405020304" pitchFamily="18" charset="0"/>
              </a:rPr>
              <a:t>PRESENTATION FRAMEWORK</a:t>
            </a:r>
            <a:endParaRPr lang="en-US" sz="2400" b="1" spc="210" dirty="0">
              <a:solidFill>
                <a:srgbClr val="4940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408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1719368" y="516318"/>
            <a:ext cx="4358951" cy="1325563"/>
          </a:xfrm>
        </p:spPr>
        <p:txBody>
          <a:bodyPr>
            <a:normAutofit/>
          </a:bodyPr>
          <a:lstStyle/>
          <a:p>
            <a:r>
              <a:rPr lang="en-US" sz="2800" spc="210" dirty="0">
                <a:latin typeface="Times New Roman" panose="02020603050405020304" pitchFamily="18" charset="0"/>
                <a:cs typeface="Times New Roman" panose="02020603050405020304" pitchFamily="18" charset="0"/>
              </a:rPr>
              <a:t>ABSTRACT</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Road surface irregularities such as potholes pose significant risks to vehicle safety, passenger comfort, and traffic efficiency. With the advancement of autonomous vehicles and smart transportation systems, accurate real-time road condition analysis has become essential. Recent approaches leverage computer vision and deep learning to automate pothole detection using camera-based image analysis, replacing traditional manual inspection and sensor-based methods.</a:t>
            </a:r>
          </a:p>
          <a:p>
            <a:pPr marL="0" indent="0" algn="just">
              <a:buNone/>
            </a:pPr>
            <a:r>
              <a:rPr lang="en-US" sz="1600" dirty="0">
                <a:latin typeface="Times New Roman" panose="02020603050405020304" pitchFamily="18" charset="0"/>
                <a:cs typeface="Times New Roman" panose="02020603050405020304" pitchFamily="18" charset="0"/>
              </a:rPr>
              <a:t>However, most existing systems rely on two-dimensional bounding box detection or simple classification, which lack structural depth and geometric understanding of surface irregularities. This survey analyzes current CNN-based detection, segmentation, and sensor-fusion approaches, highlighting their strengths and limitations in real-time deployment. Based on the identified research gaps, this work proposes a Real-Time Wireframe Pothole Detection framework that integrates monocular depth estimation with three-dimensional wireframe modeling to provide precise structural analysis for autonomous navigation and enhanced road safety.</a:t>
            </a:r>
          </a:p>
        </p:txBody>
      </p:sp>
      <p:sp>
        <p:nvSpPr>
          <p:cNvPr id="5" name="Footer Placeholder 3">
            <a:extLst>
              <a:ext uri="{FF2B5EF4-FFF2-40B4-BE49-F238E27FC236}">
                <a16:creationId xmlns:a16="http://schemas.microsoft.com/office/drawing/2014/main" id="{DB799BBF-1FC1-462A-2C46-FBEEE457C7B4}"/>
              </a:ext>
            </a:extLst>
          </p:cNvPr>
          <p:cNvSpPr txBox="1">
            <a:spLocks/>
          </p:cNvSpPr>
          <p:nvPr/>
        </p:nvSpPr>
        <p:spPr>
          <a:xfrm>
            <a:off x="3616956" y="6311591"/>
            <a:ext cx="4088536" cy="30721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40080">
              <a:spcAft>
                <a:spcPts val="600"/>
              </a:spcAft>
            </a:pPr>
            <a:r>
              <a:rPr lang="en-US"/>
              <a:t>Paper ID : 2602051     Category : UG</a:t>
            </a:r>
            <a:endParaRPr lang="en-US" dirty="0"/>
          </a:p>
        </p:txBody>
      </p:sp>
    </p:spTree>
    <p:extLst>
      <p:ext uri="{BB962C8B-B14F-4D97-AF65-F5344CB8AC3E}">
        <p14:creationId xmlns:p14="http://schemas.microsoft.com/office/powerpoint/2010/main" val="139725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1A83-0B67-9037-5D54-6682B85A9472}"/>
              </a:ext>
            </a:extLst>
          </p:cNvPr>
          <p:cNvSpPr>
            <a:spLocks noGrp="1"/>
          </p:cNvSpPr>
          <p:nvPr>
            <p:ph type="title"/>
          </p:nvPr>
        </p:nvSpPr>
        <p:spPr>
          <a:xfrm>
            <a:off x="1676400" y="466725"/>
            <a:ext cx="10515600" cy="981716"/>
          </a:xfrm>
        </p:spPr>
        <p:txBody>
          <a:bodyPr>
            <a:normAutofit/>
          </a:bodyPr>
          <a:lstStyle/>
          <a:p>
            <a:r>
              <a:rPr lang="en-US" sz="2800" dirty="0">
                <a:latin typeface="Times New Roman" panose="02020603050405020304" pitchFamily="18" charset="0"/>
                <a:cs typeface="Times New Roman" panose="02020603050405020304" pitchFamily="18" charset="0"/>
              </a:rPr>
              <a:t>OUTLINE OF ABSTRACT</a:t>
            </a:r>
            <a:endParaRPr lang="en-IN" sz="2800"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A77C6862-A3D5-34B9-D31C-7A7D8ECB3CFF}"/>
              </a:ext>
            </a:extLst>
          </p:cNvPr>
          <p:cNvSpPr txBox="1">
            <a:spLocks/>
          </p:cNvSpPr>
          <p:nvPr/>
        </p:nvSpPr>
        <p:spPr>
          <a:xfrm>
            <a:off x="3616956" y="6311591"/>
            <a:ext cx="4088536" cy="30721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40080">
              <a:spcAft>
                <a:spcPts val="600"/>
              </a:spcAft>
            </a:pPr>
            <a:r>
              <a:rPr lang="en-US"/>
              <a:t>Paper ID : 2602051     Category : UG</a:t>
            </a:r>
            <a:endParaRPr lang="en-US" dirty="0"/>
          </a:p>
        </p:txBody>
      </p:sp>
      <p:sp>
        <p:nvSpPr>
          <p:cNvPr id="7" name="Content Placeholder 6">
            <a:extLst>
              <a:ext uri="{FF2B5EF4-FFF2-40B4-BE49-F238E27FC236}">
                <a16:creationId xmlns:a16="http://schemas.microsoft.com/office/drawing/2014/main" id="{C6FAB1F1-C645-95AB-AEF9-2FD87EBDA4B0}"/>
              </a:ext>
            </a:extLst>
          </p:cNvPr>
          <p:cNvSpPr>
            <a:spLocks noGrp="1"/>
          </p:cNvSpPr>
          <p:nvPr>
            <p:ph idx="1"/>
          </p:nvPr>
        </p:nvSpPr>
        <p:spPr>
          <a:xfrm>
            <a:off x="485777" y="1819764"/>
            <a:ext cx="10515600" cy="3923811"/>
          </a:xfrm>
        </p:spPr>
        <p:txBody>
          <a:bodyPr numCol="2">
            <a:normAutofit fontScale="62500" lnSpcReduction="20000"/>
          </a:bodyPr>
          <a:lstStyle/>
          <a:p>
            <a:pPr marL="514350" indent="0" algn="just">
              <a:buNone/>
            </a:pPr>
            <a:r>
              <a:rPr lang="en-US" b="1" dirty="0">
                <a:latin typeface="Times New Roman" panose="02020603050405020304" pitchFamily="18" charset="0"/>
                <a:cs typeface="Times New Roman" panose="02020603050405020304" pitchFamily="18" charset="0"/>
              </a:rPr>
              <a:t>➤ Problem:</a:t>
            </a:r>
          </a:p>
          <a:p>
            <a:pPr marL="514350" indent="0" algn="just">
              <a:buNone/>
            </a:pPr>
            <a:r>
              <a:rPr lang="en-US" dirty="0">
                <a:latin typeface="Times New Roman" panose="02020603050405020304" pitchFamily="18" charset="0"/>
                <a:cs typeface="Times New Roman" panose="02020603050405020304" pitchFamily="18" charset="0"/>
              </a:rPr>
              <a:t>Road surface irregularities such as potholes pose serious risks to vehicle safety, traffic efficiency, and autonomous navigation. Existing detection systems mainly provide 2D bounding-box outputs without structural depth understanding.</a:t>
            </a: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Scope:</a:t>
            </a:r>
          </a:p>
          <a:p>
            <a:pPr marL="514350" indent="0" algn="just">
              <a:buNone/>
            </a:pPr>
            <a:r>
              <a:rPr lang="en-US" dirty="0">
                <a:latin typeface="Times New Roman" panose="02020603050405020304" pitchFamily="18" charset="0"/>
                <a:cs typeface="Times New Roman" panose="02020603050405020304" pitchFamily="18" charset="0"/>
              </a:rPr>
              <a:t>To analyze and compare current pothole detection approaches including CNN-based object detection, semantic segmentation, LiDAR fusion, and RGB-D reconstruction methods under real-time constraints.</a:t>
            </a:r>
            <a:endParaRPr lang="en-US" b="1" dirty="0">
              <a:latin typeface="Times New Roman" panose="02020603050405020304" pitchFamily="18" charset="0"/>
              <a:cs typeface="Times New Roman" panose="02020603050405020304" pitchFamily="18" charset="0"/>
            </a:endParaRP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Strategy:</a:t>
            </a:r>
          </a:p>
          <a:p>
            <a:pPr marL="514350" indent="0" algn="just">
              <a:buNone/>
            </a:pPr>
            <a:r>
              <a:rPr lang="en-US" dirty="0">
                <a:latin typeface="Times New Roman" panose="02020603050405020304" pitchFamily="18" charset="0"/>
                <a:cs typeface="Times New Roman" panose="02020603050405020304" pitchFamily="18" charset="0"/>
              </a:rPr>
              <a:t>Categorize existing systems based on:</a:t>
            </a:r>
          </a:p>
          <a:p>
            <a:pPr marL="514350" indent="0" algn="just">
              <a:buNone/>
            </a:pPr>
            <a:r>
              <a:rPr lang="en-US" dirty="0">
                <a:latin typeface="Times New Roman" panose="02020603050405020304" pitchFamily="18" charset="0"/>
                <a:cs typeface="Times New Roman" panose="02020603050405020304" pitchFamily="18" charset="0"/>
              </a:rPr>
              <a:t>Detection architecture (R-CNN, YOLO)</a:t>
            </a:r>
          </a:p>
          <a:p>
            <a:pPr marL="514350" indent="0" algn="just">
              <a:buNone/>
            </a:pPr>
            <a:r>
              <a:rPr lang="en-US" dirty="0">
                <a:latin typeface="Times New Roman" panose="02020603050405020304" pitchFamily="18" charset="0"/>
                <a:cs typeface="Times New Roman" panose="02020603050405020304" pitchFamily="18" charset="0"/>
              </a:rPr>
              <a:t>Structural capability (2D vs 3D)</a:t>
            </a:r>
          </a:p>
          <a:p>
            <a:pPr marL="514350" indent="0" algn="just">
              <a:buNone/>
            </a:pPr>
            <a:r>
              <a:rPr lang="en-US" dirty="0">
                <a:latin typeface="Times New Roman" panose="02020603050405020304" pitchFamily="18" charset="0"/>
                <a:cs typeface="Times New Roman" panose="02020603050405020304" pitchFamily="18" charset="0"/>
              </a:rPr>
              <a:t>Real-time performance (FPS)</a:t>
            </a:r>
          </a:p>
          <a:p>
            <a:pPr marL="514350" indent="0" algn="just">
              <a:buNone/>
            </a:pPr>
            <a:r>
              <a:rPr lang="en-US" dirty="0">
                <a:latin typeface="Times New Roman" panose="02020603050405020304" pitchFamily="18" charset="0"/>
                <a:cs typeface="Times New Roman" panose="02020603050405020304" pitchFamily="18" charset="0"/>
              </a:rPr>
              <a:t>Hardware dependency (Camera vs LiDAR)</a:t>
            </a:r>
          </a:p>
          <a:p>
            <a:pPr marL="514350" indent="0" algn="just">
              <a:buNone/>
            </a:pPr>
            <a:endParaRPr lang="en-US" b="1" dirty="0">
              <a:latin typeface="Times New Roman" panose="02020603050405020304" pitchFamily="18" charset="0"/>
              <a:cs typeface="Times New Roman" panose="02020603050405020304" pitchFamily="18" charset="0"/>
            </a:endParaRPr>
          </a:p>
          <a:p>
            <a:pPr marL="514350" indent="0" algn="just">
              <a:buNone/>
            </a:pPr>
            <a:r>
              <a:rPr lang="en-US" b="1" dirty="0">
                <a:latin typeface="Times New Roman" panose="02020603050405020304" pitchFamily="18" charset="0"/>
                <a:cs typeface="Times New Roman" panose="02020603050405020304" pitchFamily="18" charset="0"/>
              </a:rPr>
              <a:t>➤ Plan:</a:t>
            </a:r>
          </a:p>
          <a:p>
            <a:pPr marL="514350" indent="0" algn="just">
              <a:buNone/>
            </a:pPr>
            <a:r>
              <a:rPr lang="en-US" dirty="0">
                <a:latin typeface="Times New Roman" panose="02020603050405020304" pitchFamily="18" charset="0"/>
                <a:cs typeface="Times New Roman" panose="02020603050405020304" pitchFamily="18" charset="0"/>
              </a:rPr>
              <a:t>Evaluate the strengths and limitations of current methods and identify the research gap in lightweight, camera-only geometric modeling for autonomous vehicle applications.</a:t>
            </a:r>
          </a:p>
          <a:p>
            <a:pPr marL="514350" indent="0" algn="just"/>
            <a:endParaRPr lang="en-US" dirty="0"/>
          </a:p>
        </p:txBody>
      </p:sp>
    </p:spTree>
    <p:extLst>
      <p:ext uri="{BB962C8B-B14F-4D97-AF65-F5344CB8AC3E}">
        <p14:creationId xmlns:p14="http://schemas.microsoft.com/office/powerpoint/2010/main" val="410569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640080" y="1243013"/>
            <a:ext cx="2522220" cy="4371974"/>
          </a:xfrm>
        </p:spPr>
        <p:txBody>
          <a:bodyPr>
            <a:normAutofit/>
          </a:bodyPr>
          <a:lstStyle/>
          <a:p>
            <a:r>
              <a:rPr lang="en-US" sz="2000" spc="210"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3474720" y="804672"/>
            <a:ext cx="7406640" cy="5230368"/>
          </a:xfrm>
        </p:spPr>
        <p:txBody>
          <a:bodyPr anchor="ctr">
            <a:normAutofit fontScale="92500" lnSpcReduction="10000"/>
          </a:bodyPr>
          <a:lstStyle/>
          <a:p>
            <a:pPr marL="0" indent="0" algn="just">
              <a:lnSpc>
                <a:spcPct val="100000"/>
              </a:lnSpc>
              <a:buNone/>
            </a:pPr>
            <a:r>
              <a:rPr lang="en-US" sz="1600" dirty="0">
                <a:latin typeface="Times New Roman" panose="02020603050405020304" pitchFamily="18" charset="0"/>
                <a:cs typeface="Times New Roman" panose="02020603050405020304" pitchFamily="18" charset="0"/>
              </a:rPr>
              <a:t>Road surface irregularities such as potholes remain a persistent challenge in transportation systems, significantly affecting vehicle safety, passenger comfort, traffic efficiency, and infrastructure maintenance costs. In recent years, the rapid development of Intelligent Transport Systems (ITS), smart city infrastructure, and autonomous vehicles has increased the demand for reliable and real-time road condition monitoring systems. Accurate detection and analysis of road surface damage are no longer limited to maintenance planning; they are now critical components of advanced driver assistance and autonomous navigation systems.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Traditional pothole detection methods relied on manual inspections, vibration-based sensors, accelerometers, or specialized hardware such as laser scanners and LiDAR systems. While these approaches can provide accurate geometric information, they are often expensive, hardware-intensive, and not scalable for continuous large-scale monitoring. To overcome these limitations, recent research has increasingly focused on computer vision and deep learning techniques. Convolutional Neural Networks (CNNs), including R-CNN and YOLO-based architectures, have demonstrated strong performance in detecting potholes from camera images under varying environmental conditions.</a:t>
            </a:r>
          </a:p>
          <a:p>
            <a:pPr marL="0" indent="0" algn="just">
              <a:lnSpc>
                <a:spcPct val="100000"/>
              </a:lnSpc>
              <a:buNone/>
            </a:pPr>
            <a:r>
              <a:rPr lang="en-US" sz="1600" dirty="0">
                <a:latin typeface="Times New Roman" panose="02020603050405020304" pitchFamily="18" charset="0"/>
                <a:cs typeface="Times New Roman" panose="02020603050405020304" pitchFamily="18" charset="0"/>
              </a:rPr>
              <a:t>However, most existing vision-based systems primarily perform two-dimensional bounding box detection or simple classification, which lacks structural depth and geometric representation of the road surface. Although some studies integrate LiDAR or RGB-D data for three-dimensional estimation, these approaches increase system complexity and cost. There remains a gap in developing a lightweight, camera-only system capable of generating real-time geometric understanding of pothole structures. This motivates the exploration of a Real-Time Wireframe Pothole Detection framework that integrates depth estimation with structural modeling for improved decision-making in autonomous driving environments.</a:t>
            </a:r>
          </a:p>
        </p:txBody>
      </p:sp>
      <p:sp>
        <p:nvSpPr>
          <p:cNvPr id="5" name="Footer Placeholder 3">
            <a:extLst>
              <a:ext uri="{FF2B5EF4-FFF2-40B4-BE49-F238E27FC236}">
                <a16:creationId xmlns:a16="http://schemas.microsoft.com/office/drawing/2014/main" id="{22226DD6-579E-BCD4-18E0-4F625305AD8B}"/>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56074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116494" y="1023978"/>
            <a:ext cx="5684481" cy="653395"/>
          </a:xfrm>
        </p:spPr>
        <p:txBody>
          <a:bodyPr>
            <a:normAutofit fontScale="90000"/>
          </a:bodyPr>
          <a:lstStyle/>
          <a:p>
            <a:r>
              <a:rPr lang="en-US" sz="4000" spc="210" dirty="0">
                <a:latin typeface="Times New Roman" panose="02020603050405020304" pitchFamily="18" charset="0"/>
                <a:cs typeface="Times New Roman" panose="02020603050405020304" pitchFamily="18" charset="0"/>
              </a:rPr>
              <a:t>LITERATURE REVIEW</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fontScale="85000" lnSpcReduction="20000"/>
          </a:bodyPr>
          <a:lstStyle/>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Recent research on pothole detection has primarily focused on computer vision and deep learning techniques to improve accuracy and enable real-time deployment. Convolutional Neural Networks (CNNs) have become the dominant approach for vision-based detection, particularly using architectures from the R-CNN and YOLO families. Comparative evaluations of state-of-the-art models demonstrate that single-stage detectors such as YOLO achieve faster inference speeds suitable for real-time applications, while two-stage detectors like Faster R-CNN often provide higher accuracy under challenging lighting conditions. Studies evaluating these models under adverse environments such as rain, sunset, evening, and night conditions highlight the impact of illumination variability on detection robustness.</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Beyond 2D object detection, segmentation-based methods have been explored to improve spatial precision. Benchmark studies using semantic segmentation architectures, including </a:t>
            </a:r>
            <a:r>
              <a:rPr lang="en-US" sz="1600" dirty="0" err="1">
                <a:latin typeface="Times New Roman" panose="02020603050405020304" pitchFamily="18" charset="0"/>
                <a:cs typeface="Times New Roman" panose="02020603050405020304" pitchFamily="18" charset="0"/>
              </a:rPr>
              <a:t>DeepLab</a:t>
            </a:r>
            <a:r>
              <a:rPr lang="en-US" sz="1600" dirty="0">
                <a:latin typeface="Times New Roman" panose="02020603050405020304" pitchFamily="18" charset="0"/>
                <a:cs typeface="Times New Roman" panose="02020603050405020304" pitchFamily="18" charset="0"/>
              </a:rPr>
              <a:t> variants and encoder–decoder networks, show improved pixel-level localization of cracks and potholes. Additionally, RGB-D datasets have been introduced to incorporate depth information, enabling better surface understanding. However, the integration of depth data introduces challenges related to noise, computational complexity, and real-time feasibility.</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overcome the limitations of purely image-based detection, sensor-fusion approaches combining RGB images with LiDAR point clouds have been proposed. These systems utilize CNN-based detection to localize potholes and then extract geometric features such as area, depth, and volume using point cloud processing techniques, including convex hull modeling. While such approaches provide enhanced structural analysis, they rely on expensive hardware and are not optimized for lightweight real-time deployment.</a:t>
            </a:r>
          </a:p>
          <a:p>
            <a:pPr>
              <a:lnSpc>
                <a:spcPct val="11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Overall, the literature demonstrates significant advancements in detection accuracy and environmental robustness. However, most existing systems remain limited to either two-dimensional detection or hardware-intensive 3D reconstruction. A unified, camera-only framework capable of generating real-time geometric wireframe representations of potholes remains underexplored, highlighting a clear research gap for further investigation.</a:t>
            </a:r>
            <a:endParaRPr lang="en-US" sz="2200"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1A7B33D3-1674-07E7-4459-9F21DDF1123A}"/>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145373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321768" y="486959"/>
            <a:ext cx="5755432" cy="1325563"/>
          </a:xfrm>
        </p:spPr>
        <p:txBody>
          <a:bodyPr>
            <a:normAutofit fontScale="90000"/>
          </a:bodyPr>
          <a:lstStyle/>
          <a:p>
            <a:r>
              <a:rPr lang="en-US" sz="5400" spc="210" dirty="0">
                <a:latin typeface="Times New Roman" panose="02020603050405020304" pitchFamily="18" charset="0"/>
                <a:cs typeface="Times New Roman" panose="02020603050405020304" pitchFamily="18" charset="0"/>
              </a:rPr>
              <a:t>METHODOLOGY</a:t>
            </a:r>
            <a:endParaRPr lang="en-US" sz="5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C5927A7-025E-3076-F2DE-66AF6AFD4EA3}"/>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
        <p:nvSpPr>
          <p:cNvPr id="7" name="Content Placeholder 6">
            <a:extLst>
              <a:ext uri="{FF2B5EF4-FFF2-40B4-BE49-F238E27FC236}">
                <a16:creationId xmlns:a16="http://schemas.microsoft.com/office/drawing/2014/main" id="{059FBBFC-A5CD-E2C7-9131-0E76E1FFD36A}"/>
              </a:ext>
            </a:extLst>
          </p:cNvPr>
          <p:cNvSpPr>
            <a:spLocks noGrp="1"/>
          </p:cNvSpPr>
          <p:nvPr>
            <p:ph idx="1"/>
          </p:nvPr>
        </p:nvSpPr>
        <p:spPr>
          <a:xfrm>
            <a:off x="838200" y="1819764"/>
            <a:ext cx="10515600" cy="1399686"/>
          </a:xfrm>
        </p:spPr>
        <p:txBody>
          <a:bodyPr>
            <a:normAutofit fontScale="47500" lnSpcReduction="20000"/>
          </a:bodyPr>
          <a:lstStyle/>
          <a:p>
            <a:pPr marL="0" indent="0" algn="just">
              <a:lnSpc>
                <a:spcPct val="120000"/>
              </a:lnSpc>
              <a:buNone/>
            </a:pPr>
            <a:r>
              <a:rPr lang="en-US" dirty="0">
                <a:latin typeface="Times New Roman" panose="02020603050405020304" pitchFamily="18" charset="0"/>
                <a:cs typeface="Times New Roman" panose="02020603050405020304" pitchFamily="18" charset="0"/>
              </a:rPr>
              <a:t>The proposed methodology integrates deep learning-based 2D detection with LiDAR-driven 3D geometric analysis. Road images are captured using an RGB camera while synchronized LiDAR sensors collect point cloud data. A YOLO-based convolutional neural network detects potholes in the image and generates bounding box coordinates. These coordinates are then mapped to the corresponding LiDAR region to extract relevant point cloud data. A convex hull algorithm is applied to the extracted 3D points to estimate geometric properties such as area, depth, and volume. Finally, GNSS data is used to map pothole locations for maintenance planning and severity assessment.</a:t>
            </a:r>
          </a:p>
        </p:txBody>
      </p:sp>
      <p:pic>
        <p:nvPicPr>
          <p:cNvPr id="11" name="Picture 10">
            <a:extLst>
              <a:ext uri="{FF2B5EF4-FFF2-40B4-BE49-F238E27FC236}">
                <a16:creationId xmlns:a16="http://schemas.microsoft.com/office/drawing/2014/main" id="{7B592BFE-5794-2CAC-03E5-8BD7EE0A0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273" y="2762249"/>
            <a:ext cx="7544853" cy="3924579"/>
          </a:xfrm>
          <a:prstGeom prst="rect">
            <a:avLst/>
          </a:prstGeom>
        </p:spPr>
      </p:pic>
    </p:spTree>
    <p:extLst>
      <p:ext uri="{BB962C8B-B14F-4D97-AF65-F5344CB8AC3E}">
        <p14:creationId xmlns:p14="http://schemas.microsoft.com/office/powerpoint/2010/main" val="3917220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B1B7-FEEC-4202-98DA-42F59136CF35}"/>
              </a:ext>
            </a:extLst>
          </p:cNvPr>
          <p:cNvSpPr>
            <a:spLocks noGrp="1"/>
          </p:cNvSpPr>
          <p:nvPr>
            <p:ph type="title"/>
          </p:nvPr>
        </p:nvSpPr>
        <p:spPr>
          <a:xfrm>
            <a:off x="1812802" y="239197"/>
            <a:ext cx="8039470" cy="523782"/>
          </a:xfrm>
        </p:spPr>
        <p:txBody>
          <a:bodyPr>
            <a:noAutofit/>
          </a:bodyPr>
          <a:lstStyle/>
          <a:p>
            <a:pPr>
              <a:lnSpc>
                <a:spcPct val="100000"/>
              </a:lnSpc>
            </a:pPr>
            <a:r>
              <a:rPr lang="en-US" sz="2000" b="1" spc="210" dirty="0">
                <a:solidFill>
                  <a:srgbClr val="49403C"/>
                </a:solidFill>
                <a:latin typeface="Times New Roman" panose="02020603050405020304" pitchFamily="18" charset="0"/>
                <a:cs typeface="Times New Roman" panose="02020603050405020304" pitchFamily="18" charset="0"/>
              </a:rPr>
              <a:t>PERFORMANCE COMPARISON</a:t>
            </a:r>
            <a:endParaRPr lang="en-US" sz="20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D3374F5-1C30-2FE0-E13A-049127BA6850}"/>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graphicFrame>
        <p:nvGraphicFramePr>
          <p:cNvPr id="10" name="Table 9">
            <a:extLst>
              <a:ext uri="{FF2B5EF4-FFF2-40B4-BE49-F238E27FC236}">
                <a16:creationId xmlns:a16="http://schemas.microsoft.com/office/drawing/2014/main" id="{DC48037D-F627-1E70-478E-2B6E255568C0}"/>
              </a:ext>
            </a:extLst>
          </p:cNvPr>
          <p:cNvGraphicFramePr>
            <a:graphicFrameLocks noGrp="1"/>
          </p:cNvGraphicFramePr>
          <p:nvPr>
            <p:extLst>
              <p:ext uri="{D42A27DB-BD31-4B8C-83A1-F6EECF244321}">
                <p14:modId xmlns:p14="http://schemas.microsoft.com/office/powerpoint/2010/main" val="3002460228"/>
              </p:ext>
            </p:extLst>
          </p:nvPr>
        </p:nvGraphicFramePr>
        <p:xfrm>
          <a:off x="1047751" y="4115742"/>
          <a:ext cx="10630530" cy="2010252"/>
        </p:xfrm>
        <a:graphic>
          <a:graphicData uri="http://schemas.openxmlformats.org/drawingml/2006/table">
            <a:tbl>
              <a:tblPr firstRow="1" bandRow="1">
                <a:tableStyleId>{5C22544A-7EE6-4342-B048-85BDC9FD1C3A}</a:tableStyleId>
              </a:tblPr>
              <a:tblGrid>
                <a:gridCol w="2126106">
                  <a:extLst>
                    <a:ext uri="{9D8B030D-6E8A-4147-A177-3AD203B41FA5}">
                      <a16:colId xmlns:a16="http://schemas.microsoft.com/office/drawing/2014/main" val="2583432674"/>
                    </a:ext>
                  </a:extLst>
                </a:gridCol>
                <a:gridCol w="2126106">
                  <a:extLst>
                    <a:ext uri="{9D8B030D-6E8A-4147-A177-3AD203B41FA5}">
                      <a16:colId xmlns:a16="http://schemas.microsoft.com/office/drawing/2014/main" val="129194225"/>
                    </a:ext>
                  </a:extLst>
                </a:gridCol>
                <a:gridCol w="2126106">
                  <a:extLst>
                    <a:ext uri="{9D8B030D-6E8A-4147-A177-3AD203B41FA5}">
                      <a16:colId xmlns:a16="http://schemas.microsoft.com/office/drawing/2014/main" val="2375367470"/>
                    </a:ext>
                  </a:extLst>
                </a:gridCol>
                <a:gridCol w="2126106">
                  <a:extLst>
                    <a:ext uri="{9D8B030D-6E8A-4147-A177-3AD203B41FA5}">
                      <a16:colId xmlns:a16="http://schemas.microsoft.com/office/drawing/2014/main" val="2956333226"/>
                    </a:ext>
                  </a:extLst>
                </a:gridCol>
                <a:gridCol w="2126106">
                  <a:extLst>
                    <a:ext uri="{9D8B030D-6E8A-4147-A177-3AD203B41FA5}">
                      <a16:colId xmlns:a16="http://schemas.microsoft.com/office/drawing/2014/main" val="2111793254"/>
                    </a:ext>
                  </a:extLst>
                </a:gridCol>
              </a:tblGrid>
              <a:tr h="357783">
                <a:tc>
                  <a:txBody>
                    <a:bodyPr/>
                    <a:lstStyle/>
                    <a:p>
                      <a:r>
                        <a:rPr lang="en-US" sz="1600" dirty="0">
                          <a:latin typeface="Times New Roman" panose="02020603050405020304" pitchFamily="18" charset="0"/>
                          <a:cs typeface="Times New Roman" panose="02020603050405020304" pitchFamily="18" charset="0"/>
                        </a:rPr>
                        <a:t>Model / Approach</a:t>
                      </a:r>
                    </a:p>
                  </a:txBody>
                  <a:tcPr anchor="ctr"/>
                </a:tc>
                <a:tc>
                  <a:txBody>
                    <a:bodyPr/>
                    <a:lstStyle/>
                    <a:p>
                      <a:r>
                        <a:rPr lang="en-US" sz="1600">
                          <a:latin typeface="Times New Roman" panose="02020603050405020304" pitchFamily="18" charset="0"/>
                          <a:cs typeface="Times New Roman" panose="02020603050405020304" pitchFamily="18" charset="0"/>
                        </a:rPr>
                        <a:t>mAP (Approx.)</a:t>
                      </a:r>
                    </a:p>
                  </a:txBody>
                  <a:tcPr anchor="ctr"/>
                </a:tc>
                <a:tc>
                  <a:txBody>
                    <a:bodyPr/>
                    <a:lstStyle/>
                    <a:p>
                      <a:r>
                        <a:rPr lang="en-US" sz="1600" dirty="0">
                          <a:latin typeface="Times New Roman" panose="02020603050405020304" pitchFamily="18" charset="0"/>
                          <a:cs typeface="Times New Roman" panose="02020603050405020304" pitchFamily="18" charset="0"/>
                        </a:rPr>
                        <a:t>FPS (Approx.)</a:t>
                      </a:r>
                    </a:p>
                  </a:txBody>
                  <a:tcPr anchor="ctr"/>
                </a:tc>
                <a:tc>
                  <a:txBody>
                    <a:bodyPr/>
                    <a:lstStyle/>
                    <a:p>
                      <a:r>
                        <a:rPr lang="en-US" sz="1600">
                          <a:latin typeface="Times New Roman" panose="02020603050405020304" pitchFamily="18" charset="0"/>
                          <a:cs typeface="Times New Roman" panose="02020603050405020304" pitchFamily="18" charset="0"/>
                        </a:rPr>
                        <a:t>Real-Time</a:t>
                      </a:r>
                    </a:p>
                  </a:txBody>
                  <a:tcPr anchor="ctr"/>
                </a:tc>
                <a:tc>
                  <a:txBody>
                    <a:bodyPr/>
                    <a:lstStyle/>
                    <a:p>
                      <a:r>
                        <a:rPr lang="en-US" sz="1600">
                          <a:latin typeface="Times New Roman" panose="02020603050405020304" pitchFamily="18" charset="0"/>
                          <a:cs typeface="Times New Roman" panose="02020603050405020304" pitchFamily="18" charset="0"/>
                        </a:rPr>
                        <a:t>Weather Robust</a:t>
                      </a:r>
                    </a:p>
                  </a:txBody>
                  <a:tcPr anchor="ctr"/>
                </a:tc>
                <a:extLst>
                  <a:ext uri="{0D108BD9-81ED-4DB2-BD59-A6C34878D82A}">
                    <a16:rowId xmlns:a16="http://schemas.microsoft.com/office/drawing/2014/main" val="1331999473"/>
                  </a:ext>
                </a:extLst>
              </a:tr>
              <a:tr h="357783">
                <a:tc>
                  <a:txBody>
                    <a:bodyPr/>
                    <a:lstStyle/>
                    <a:p>
                      <a:r>
                        <a:rPr lang="en-US" sz="1600">
                          <a:latin typeface="Times New Roman" panose="02020603050405020304" pitchFamily="18" charset="0"/>
                          <a:cs typeface="Times New Roman" panose="02020603050405020304" pitchFamily="18" charset="0"/>
                        </a:rPr>
                        <a:t>YOLOv5 / YOLOv7</a:t>
                      </a:r>
                    </a:p>
                  </a:txBody>
                  <a:tcPr anchor="ctr"/>
                </a:tc>
                <a:tc>
                  <a:txBody>
                    <a:bodyPr/>
                    <a:lstStyle/>
                    <a:p>
                      <a:r>
                        <a:rPr lang="en-US" sz="1600">
                          <a:latin typeface="Times New Roman" panose="02020603050405020304" pitchFamily="18" charset="0"/>
                          <a:cs typeface="Times New Roman" panose="02020603050405020304" pitchFamily="18" charset="0"/>
                        </a:rPr>
                        <a:t>High (70–80%+)</a:t>
                      </a:r>
                    </a:p>
                  </a:txBody>
                  <a:tcPr anchor="ctr"/>
                </a:tc>
                <a:tc>
                  <a:txBody>
                    <a:bodyPr/>
                    <a:lstStyle/>
                    <a:p>
                      <a:r>
                        <a:rPr lang="en-US" sz="1600">
                          <a:latin typeface="Times New Roman" panose="02020603050405020304" pitchFamily="18" charset="0"/>
                          <a:cs typeface="Times New Roman" panose="02020603050405020304" pitchFamily="18" charset="0"/>
                        </a:rPr>
                        <a:t>30–100+</a:t>
                      </a:r>
                    </a:p>
                  </a:txBody>
                  <a:tcPr anchor="ctr"/>
                </a:tc>
                <a:tc>
                  <a:txBody>
                    <a:bodyPr/>
                    <a:lstStyle/>
                    <a:p>
                      <a:r>
                        <a:rPr lang="en-US" sz="1600">
                          <a:latin typeface="Times New Roman" panose="02020603050405020304" pitchFamily="18" charset="0"/>
                          <a:cs typeface="Times New Roman" panose="02020603050405020304" pitchFamily="18" charset="0"/>
                        </a:rPr>
                        <a:t>Yes</a:t>
                      </a:r>
                    </a:p>
                  </a:txBody>
                  <a:tcPr anchor="ctr"/>
                </a:tc>
                <a:tc>
                  <a:txBody>
                    <a:bodyPr/>
                    <a:lstStyle/>
                    <a:p>
                      <a:r>
                        <a:rPr lang="en-US" sz="1600">
                          <a:latin typeface="Times New Roman" panose="02020603050405020304" pitchFamily="18" charset="0"/>
                          <a:cs typeface="Times New Roman" panose="02020603050405020304" pitchFamily="18" charset="0"/>
                        </a:rPr>
                        <a:t>Moderate–High</a:t>
                      </a:r>
                    </a:p>
                  </a:txBody>
                  <a:tcPr anchor="ctr"/>
                </a:tc>
                <a:extLst>
                  <a:ext uri="{0D108BD9-81ED-4DB2-BD59-A6C34878D82A}">
                    <a16:rowId xmlns:a16="http://schemas.microsoft.com/office/drawing/2014/main" val="394644091"/>
                  </a:ext>
                </a:extLst>
              </a:tr>
              <a:tr h="357783">
                <a:tc>
                  <a:txBody>
                    <a:bodyPr/>
                    <a:lstStyle/>
                    <a:p>
                      <a:r>
                        <a:rPr lang="en-US" sz="1600" dirty="0">
                          <a:latin typeface="Times New Roman" panose="02020603050405020304" pitchFamily="18" charset="0"/>
                          <a:cs typeface="Times New Roman" panose="02020603050405020304" pitchFamily="18" charset="0"/>
                        </a:rPr>
                        <a:t>Faster R-CNN</a:t>
                      </a:r>
                    </a:p>
                  </a:txBody>
                  <a:tcPr anchor="ctr"/>
                </a:tc>
                <a:tc>
                  <a:txBody>
                    <a:bodyPr/>
                    <a:lstStyle/>
                    <a:p>
                      <a:r>
                        <a:rPr lang="en-US" sz="1600" dirty="0">
                          <a:latin typeface="Times New Roman" panose="02020603050405020304" pitchFamily="18" charset="0"/>
                          <a:cs typeface="Times New Roman" panose="02020603050405020304" pitchFamily="18" charset="0"/>
                        </a:rPr>
                        <a:t>Very High (80–90%+)</a:t>
                      </a:r>
                    </a:p>
                  </a:txBody>
                  <a:tcPr anchor="ctr"/>
                </a:tc>
                <a:tc>
                  <a:txBody>
                    <a:bodyPr/>
                    <a:lstStyle/>
                    <a:p>
                      <a:r>
                        <a:rPr lang="en-US" sz="1600">
                          <a:latin typeface="Times New Roman" panose="02020603050405020304" pitchFamily="18" charset="0"/>
                          <a:cs typeface="Times New Roman" panose="02020603050405020304" pitchFamily="18" charset="0"/>
                        </a:rPr>
                        <a:t>5–15</a:t>
                      </a:r>
                    </a:p>
                  </a:txBody>
                  <a:tcPr anchor="ctr"/>
                </a:tc>
                <a:tc>
                  <a:txBody>
                    <a:bodyPr/>
                    <a:lstStyle/>
                    <a:p>
                      <a:r>
                        <a:rPr lang="en-US" sz="1600">
                          <a:latin typeface="Times New Roman" panose="02020603050405020304" pitchFamily="18" charset="0"/>
                          <a:cs typeface="Times New Roman" panose="02020603050405020304" pitchFamily="18" charset="0"/>
                        </a:rPr>
                        <a:t>No</a:t>
                      </a:r>
                    </a:p>
                  </a:txBody>
                  <a:tcPr anchor="ctr"/>
                </a:tc>
                <a:tc>
                  <a:txBody>
                    <a:bodyPr/>
                    <a:lstStyle/>
                    <a:p>
                      <a:r>
                        <a:rPr lang="en-US" sz="1600">
                          <a:latin typeface="Times New Roman" panose="02020603050405020304" pitchFamily="18" charset="0"/>
                          <a:cs typeface="Times New Roman" panose="02020603050405020304" pitchFamily="18" charset="0"/>
                        </a:rPr>
                        <a:t>High (Night Better)</a:t>
                      </a:r>
                    </a:p>
                  </a:txBody>
                  <a:tcPr anchor="ctr"/>
                </a:tc>
                <a:extLst>
                  <a:ext uri="{0D108BD9-81ED-4DB2-BD59-A6C34878D82A}">
                    <a16:rowId xmlns:a16="http://schemas.microsoft.com/office/drawing/2014/main" val="538490829"/>
                  </a:ext>
                </a:extLst>
              </a:tr>
              <a:tr h="511118">
                <a:tc>
                  <a:txBody>
                    <a:bodyPr/>
                    <a:lstStyle/>
                    <a:p>
                      <a:r>
                        <a:rPr lang="en-US" sz="1600">
                          <a:latin typeface="Times New Roman" panose="02020603050405020304" pitchFamily="18" charset="0"/>
                          <a:cs typeface="Times New Roman" panose="02020603050405020304" pitchFamily="18" charset="0"/>
                        </a:rPr>
                        <a:t>Segmentation (DeepLab / UNet++)</a:t>
                      </a:r>
                    </a:p>
                  </a:txBody>
                  <a:tcPr anchor="ctr"/>
                </a:tc>
                <a:tc>
                  <a:txBody>
                    <a:bodyPr/>
                    <a:lstStyle/>
                    <a:p>
                      <a:r>
                        <a:rPr lang="en-US" sz="1600">
                          <a:latin typeface="Times New Roman" panose="02020603050405020304" pitchFamily="18" charset="0"/>
                          <a:cs typeface="Times New Roman" panose="02020603050405020304" pitchFamily="18" charset="0"/>
                        </a:rPr>
                        <a:t>Moderate–High</a:t>
                      </a:r>
                    </a:p>
                  </a:txBody>
                  <a:tcPr anchor="ctr"/>
                </a:tc>
                <a:tc>
                  <a:txBody>
                    <a:bodyPr/>
                    <a:lstStyle/>
                    <a:p>
                      <a:r>
                        <a:rPr lang="en-US" sz="1600">
                          <a:latin typeface="Times New Roman" panose="02020603050405020304" pitchFamily="18" charset="0"/>
                          <a:cs typeface="Times New Roman" panose="02020603050405020304" pitchFamily="18" charset="0"/>
                        </a:rPr>
                        <a:t>&lt;20</a:t>
                      </a:r>
                    </a:p>
                  </a:txBody>
                  <a:tcPr anchor="ctr"/>
                </a:tc>
                <a:tc>
                  <a:txBody>
                    <a:bodyPr/>
                    <a:lstStyle/>
                    <a:p>
                      <a:r>
                        <a:rPr lang="en-US" sz="1600">
                          <a:latin typeface="Times New Roman" panose="02020603050405020304" pitchFamily="18" charset="0"/>
                          <a:cs typeface="Times New Roman" panose="02020603050405020304" pitchFamily="18" charset="0"/>
                        </a:rPr>
                        <a:t>Limited</a:t>
                      </a:r>
                    </a:p>
                  </a:txBody>
                  <a:tcPr anchor="ctr"/>
                </a:tc>
                <a:tc>
                  <a:txBody>
                    <a:bodyPr/>
                    <a:lstStyle/>
                    <a:p>
                      <a:r>
                        <a:rPr lang="en-US" sz="1600">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3944226116"/>
                  </a:ext>
                </a:extLst>
              </a:tr>
              <a:tr h="357783">
                <a:tc>
                  <a:txBody>
                    <a:bodyPr/>
                    <a:lstStyle/>
                    <a:p>
                      <a:r>
                        <a:rPr lang="en-US" sz="1600">
                          <a:latin typeface="Times New Roman" panose="02020603050405020304" pitchFamily="18" charset="0"/>
                          <a:cs typeface="Times New Roman" panose="02020603050405020304" pitchFamily="18" charset="0"/>
                        </a:rPr>
                        <a:t>LiDAR + CNN Fusion</a:t>
                      </a:r>
                    </a:p>
                  </a:txBody>
                  <a:tcPr anchor="ctr"/>
                </a:tc>
                <a:tc>
                  <a:txBody>
                    <a:bodyPr/>
                    <a:lstStyle/>
                    <a:p>
                      <a:r>
                        <a:rPr lang="en-US" sz="1600">
                          <a:latin typeface="Times New Roman" panose="02020603050405020304" pitchFamily="18" charset="0"/>
                          <a:cs typeface="Times New Roman" panose="02020603050405020304" pitchFamily="18" charset="0"/>
                        </a:rPr>
                        <a:t>High</a:t>
                      </a:r>
                    </a:p>
                  </a:txBody>
                  <a:tcPr anchor="ctr"/>
                </a:tc>
                <a:tc>
                  <a:txBody>
                    <a:bodyPr/>
                    <a:lstStyle/>
                    <a:p>
                      <a:r>
                        <a:rPr lang="en-US" sz="1600">
                          <a:latin typeface="Times New Roman" panose="02020603050405020304" pitchFamily="18" charset="0"/>
                          <a:cs typeface="Times New Roman" panose="02020603050405020304" pitchFamily="18" charset="0"/>
                        </a:rPr>
                        <a:t>Not clearly real-time</a:t>
                      </a:r>
                    </a:p>
                  </a:txBody>
                  <a:tcPr anchor="ctr"/>
                </a:tc>
                <a:tc>
                  <a:txBody>
                    <a:bodyPr/>
                    <a:lstStyle/>
                    <a:p>
                      <a:r>
                        <a:rPr lang="en-US" sz="1600">
                          <a:latin typeface="Times New Roman" panose="02020603050405020304" pitchFamily="18" charset="0"/>
                          <a:cs typeface="Times New Roman" panose="02020603050405020304" pitchFamily="18" charset="0"/>
                        </a:rPr>
                        <a:t>Limited</a:t>
                      </a:r>
                    </a:p>
                  </a:txBody>
                  <a:tcPr anchor="ctr"/>
                </a:tc>
                <a:tc>
                  <a:txBody>
                    <a:bodyPr/>
                    <a:lstStyle/>
                    <a:p>
                      <a:r>
                        <a:rPr lang="en-US" sz="1600" dirty="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1636095398"/>
                  </a:ext>
                </a:extLst>
              </a:tr>
            </a:tbl>
          </a:graphicData>
        </a:graphic>
      </p:graphicFrame>
      <p:sp>
        <p:nvSpPr>
          <p:cNvPr id="11" name="TextBox 10">
            <a:extLst>
              <a:ext uri="{FF2B5EF4-FFF2-40B4-BE49-F238E27FC236}">
                <a16:creationId xmlns:a16="http://schemas.microsoft.com/office/drawing/2014/main" id="{713975DF-5BFD-B23C-03A4-C1102E6762DC}"/>
              </a:ext>
            </a:extLst>
          </p:cNvPr>
          <p:cNvSpPr txBox="1"/>
          <p:nvPr/>
        </p:nvSpPr>
        <p:spPr>
          <a:xfrm>
            <a:off x="900112" y="1664076"/>
            <a:ext cx="10391775" cy="2308324"/>
          </a:xfrm>
          <a:prstGeom prst="rect">
            <a:avLst/>
          </a:prstGeom>
          <a:noFill/>
        </p:spPr>
        <p:txBody>
          <a:bodyPr wrap="square" numCol="2" rtlCol="0">
            <a:spAutoFit/>
          </a:bodyPr>
          <a:lstStyle/>
          <a:p>
            <a:r>
              <a:rPr lang="en-US" sz="1600" b="1" dirty="0">
                <a:latin typeface="Times New Roman" panose="02020603050405020304" pitchFamily="18" charset="0"/>
                <a:cs typeface="Times New Roman" panose="02020603050405020304" pitchFamily="18" charset="0"/>
              </a:rPr>
              <a:t>Observations:</a:t>
            </a:r>
          </a:p>
          <a:p>
            <a:r>
              <a:rPr lang="en-US" sz="1600" b="1" dirty="0">
                <a:latin typeface="Times New Roman" panose="02020603050405020304" pitchFamily="18" charset="0"/>
                <a:cs typeface="Times New Roman" panose="02020603050405020304" pitchFamily="18" charset="0"/>
              </a:rPr>
              <a:t>YOLO-based models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FPS (real-time capable)</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Competitive </a:t>
            </a:r>
            <a:r>
              <a:rPr lang="en-US" sz="1600" dirty="0" err="1">
                <a:latin typeface="Times New Roman" panose="02020603050405020304" pitchFamily="18" charset="0"/>
                <a:cs typeface="Times New Roman" panose="02020603050405020304" pitchFamily="18" charset="0"/>
              </a:rPr>
              <a:t>mAP</a:t>
            </a:r>
            <a:r>
              <a:rPr lang="en-US" sz="1600" dirty="0">
                <a:latin typeface="Times New Roman" panose="02020603050405020304" pitchFamily="18" charset="0"/>
                <a:cs typeface="Times New Roman" panose="02020603050405020304" pitchFamily="18" charset="0"/>
              </a:rPr>
              <a:t> values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 well under clear, rain, and sunset conditions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Slight performance degradation at night</a:t>
            </a:r>
          </a:p>
          <a:p>
            <a:pPr marL="742950" lvl="1"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Faster R-CNN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Higher precision in low-visibility conditions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Slower inference speed</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Not ideal for strict real-time deployment</a:t>
            </a:r>
          </a:p>
          <a:p>
            <a:pPr marL="742950" lvl="1"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Segmentation models (</a:t>
            </a:r>
            <a:r>
              <a:rPr lang="en-US" sz="1600" b="1" dirty="0" err="1">
                <a:latin typeface="Times New Roman" panose="02020603050405020304" pitchFamily="18" charset="0"/>
                <a:cs typeface="Times New Roman" panose="02020603050405020304" pitchFamily="18" charset="0"/>
              </a:rPr>
              <a:t>DeepLab</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UNet</a:t>
            </a:r>
            <a:r>
              <a:rPr lang="en-US" sz="1600" b="1" dirty="0">
                <a:latin typeface="Times New Roman" panose="02020603050405020304" pitchFamily="18" charset="0"/>
                <a:cs typeface="Times New Roman" panose="02020603050405020304" pitchFamily="18" charset="0"/>
              </a:rPr>
              <a:t> variants)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Higher spatial precision</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Lower FPS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Better structural localization</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Computationally intensive</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088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0A8B-08D8-4C5D-91A3-32DDF766E2B9}"/>
              </a:ext>
            </a:extLst>
          </p:cNvPr>
          <p:cNvSpPr>
            <a:spLocks noGrp="1"/>
          </p:cNvSpPr>
          <p:nvPr>
            <p:ph type="title"/>
          </p:nvPr>
        </p:nvSpPr>
        <p:spPr>
          <a:xfrm>
            <a:off x="635000" y="640823"/>
            <a:ext cx="3613523" cy="5583148"/>
          </a:xfrm>
        </p:spPr>
        <p:txBody>
          <a:bodyPr anchor="ctr">
            <a:normAutofit/>
          </a:bodyPr>
          <a:lstStyle/>
          <a:p>
            <a:r>
              <a:rPr lang="en-US" sz="3600" spc="210" dirty="0">
                <a:latin typeface="Times New Roman" panose="02020603050405020304" pitchFamily="18" charset="0"/>
                <a:cs typeface="Times New Roman" panose="02020603050405020304" pitchFamily="18" charset="0"/>
              </a:rPr>
              <a:t>Result &amp; Discussion</a:t>
            </a:r>
            <a:endParaRPr lang="en-US" sz="3600" dirty="0">
              <a:latin typeface="Times New Roman" panose="02020603050405020304" pitchFamily="18" charset="0"/>
              <a:cs typeface="Times New Roman" panose="02020603050405020304" pitchFamily="18" charset="0"/>
            </a:endParaRPr>
          </a:p>
        </p:txBody>
      </p:sp>
      <p:graphicFrame>
        <p:nvGraphicFramePr>
          <p:cNvPr id="26" name="Content Placeholder 2">
            <a:extLst>
              <a:ext uri="{FF2B5EF4-FFF2-40B4-BE49-F238E27FC236}">
                <a16:creationId xmlns:a16="http://schemas.microsoft.com/office/drawing/2014/main" id="{80A12CBC-5734-EAB1-4041-59DA42F6B401}"/>
              </a:ext>
            </a:extLst>
          </p:cNvPr>
          <p:cNvGraphicFramePr>
            <a:graphicFrameLocks noGrp="1"/>
          </p:cNvGraphicFramePr>
          <p:nvPr>
            <p:ph idx="1"/>
            <p:extLst>
              <p:ext uri="{D42A27DB-BD31-4B8C-83A1-F6EECF244321}">
                <p14:modId xmlns:p14="http://schemas.microsoft.com/office/powerpoint/2010/main" val="93385627"/>
              </p:ext>
            </p:extLst>
          </p:nvPr>
        </p:nvGraphicFramePr>
        <p:xfrm>
          <a:off x="4248523" y="804084"/>
          <a:ext cx="6839687" cy="4868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3">
            <a:extLst>
              <a:ext uri="{FF2B5EF4-FFF2-40B4-BE49-F238E27FC236}">
                <a16:creationId xmlns:a16="http://schemas.microsoft.com/office/drawing/2014/main" id="{7FB3E221-C3FE-47E6-9341-9118F7739478}"/>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2893412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19B0-7569-4718-B9DF-FB537932F407}"/>
              </a:ext>
            </a:extLst>
          </p:cNvPr>
          <p:cNvSpPr>
            <a:spLocks noGrp="1"/>
          </p:cNvSpPr>
          <p:nvPr>
            <p:ph type="title"/>
          </p:nvPr>
        </p:nvSpPr>
        <p:spPr>
          <a:xfrm>
            <a:off x="3711207" y="845544"/>
            <a:ext cx="4994429" cy="788972"/>
          </a:xfrm>
        </p:spPr>
        <p:txBody>
          <a:bodyPr/>
          <a:lstStyle/>
          <a:p>
            <a:r>
              <a:rPr lang="en-US" sz="3600" spc="210" dirty="0">
                <a:solidFill>
                  <a:srgbClr val="49403C"/>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BC12C9-5B22-4DD8-9900-204BDE96E6FF}"/>
              </a:ext>
            </a:extLst>
          </p:cNvPr>
          <p:cNvSpPr>
            <a:spLocks noGrp="1"/>
          </p:cNvSpPr>
          <p:nvPr>
            <p:ph idx="1"/>
          </p:nvPr>
        </p:nvSpPr>
        <p:spPr/>
        <p:txBody>
          <a:bodyPr>
            <a:normAutofit fontScale="70000" lnSpcReduction="20000"/>
          </a:bodyPr>
          <a:lstStyle/>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[1] </a:t>
            </a:r>
            <a:r>
              <a:rPr lang="en-US" sz="2800" dirty="0" err="1">
                <a:solidFill>
                  <a:srgbClr val="000000"/>
                </a:solidFill>
                <a:latin typeface="Times New Roman" panose="02020603050405020304" pitchFamily="18" charset="0"/>
                <a:cs typeface="Times New Roman" panose="02020603050405020304" pitchFamily="18" charset="0"/>
              </a:rPr>
              <a:t>Assael</a:t>
            </a:r>
            <a:r>
              <a:rPr lang="en-US" sz="2800" dirty="0">
                <a:solidFill>
                  <a:srgbClr val="000000"/>
                </a:solidFill>
                <a:latin typeface="Times New Roman" panose="02020603050405020304" pitchFamily="18" charset="0"/>
                <a:cs typeface="Times New Roman" panose="02020603050405020304" pitchFamily="18" charset="0"/>
              </a:rPr>
              <a:t>. M, </a:t>
            </a:r>
            <a:r>
              <a:rPr lang="en-US" sz="2800" dirty="0" err="1">
                <a:solidFill>
                  <a:srgbClr val="000000"/>
                </a:solidFill>
                <a:latin typeface="Times New Roman" panose="02020603050405020304" pitchFamily="18" charset="0"/>
                <a:cs typeface="Times New Roman" panose="02020603050405020304" pitchFamily="18" charset="0"/>
              </a:rPr>
              <a:t>Metaxa</a:t>
            </a:r>
            <a:r>
              <a:rPr lang="en-US" sz="2800" dirty="0">
                <a:solidFill>
                  <a:srgbClr val="000000"/>
                </a:solidFill>
                <a:latin typeface="Times New Roman" panose="02020603050405020304" pitchFamily="18" charset="0"/>
                <a:cs typeface="Times New Roman" panose="02020603050405020304" pitchFamily="18" charset="0"/>
              </a:rPr>
              <a:t>. I, </a:t>
            </a:r>
            <a:r>
              <a:rPr lang="en-US" sz="2800" dirty="0" err="1">
                <a:solidFill>
                  <a:srgbClr val="000000"/>
                </a:solidFill>
                <a:latin typeface="Times New Roman" panose="02020603050405020304" pitchFamily="18" charset="0"/>
                <a:cs typeface="Times New Roman" panose="02020603050405020304" pitchFamily="18" charset="0"/>
              </a:rPr>
              <a:t>Kakosimos</a:t>
            </a:r>
            <a:r>
              <a:rPr lang="en-US" sz="2800" dirty="0">
                <a:solidFill>
                  <a:srgbClr val="000000"/>
                </a:solidFill>
                <a:latin typeface="Times New Roman" panose="02020603050405020304" pitchFamily="18" charset="0"/>
                <a:cs typeface="Times New Roman" panose="02020603050405020304" pitchFamily="18" charset="0"/>
              </a:rPr>
              <a:t>. K, and Constantinou. D, "Thermal conductivity of nanofluids–experimental and theoretical," International Journal of </a:t>
            </a:r>
            <a:r>
              <a:rPr lang="en-US" sz="2800" dirty="0" err="1">
                <a:solidFill>
                  <a:srgbClr val="000000"/>
                </a:solidFill>
                <a:latin typeface="Times New Roman" panose="02020603050405020304" pitchFamily="18" charset="0"/>
                <a:cs typeface="Times New Roman" panose="02020603050405020304" pitchFamily="18" charset="0"/>
              </a:rPr>
              <a:t>Thermophysics</a:t>
            </a:r>
            <a:r>
              <a:rPr lang="en-US" sz="2800" dirty="0">
                <a:solidFill>
                  <a:srgbClr val="000000"/>
                </a:solidFill>
                <a:latin typeface="Times New Roman" panose="02020603050405020304" pitchFamily="18" charset="0"/>
                <a:cs typeface="Times New Roman" panose="02020603050405020304" pitchFamily="18" charset="0"/>
              </a:rPr>
              <a:t>, vol. 27, pp. 999-1017, 2006.</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[2] </a:t>
            </a:r>
            <a:r>
              <a:rPr lang="en-US" sz="2800" dirty="0" err="1">
                <a:solidFill>
                  <a:srgbClr val="000000"/>
                </a:solidFill>
                <a:latin typeface="Times New Roman" panose="02020603050405020304" pitchFamily="18" charset="0"/>
                <a:cs typeface="Times New Roman" panose="02020603050405020304" pitchFamily="18" charset="0"/>
              </a:rPr>
              <a:t>Asiltürk</a:t>
            </a:r>
            <a:r>
              <a:rPr lang="en-US" sz="2800" dirty="0">
                <a:solidFill>
                  <a:srgbClr val="000000"/>
                </a:solidFill>
                <a:latin typeface="Times New Roman" panose="02020603050405020304" pitchFamily="18" charset="0"/>
                <a:cs typeface="Times New Roman" panose="02020603050405020304" pitchFamily="18" charset="0"/>
              </a:rPr>
              <a:t>. I and </a:t>
            </a:r>
            <a:r>
              <a:rPr lang="en-US" sz="2800" dirty="0" err="1">
                <a:solidFill>
                  <a:srgbClr val="000000"/>
                </a:solidFill>
                <a:latin typeface="Times New Roman" panose="02020603050405020304" pitchFamily="18" charset="0"/>
                <a:cs typeface="Times New Roman" panose="02020603050405020304" pitchFamily="18" charset="0"/>
              </a:rPr>
              <a:t>Akkuş</a:t>
            </a:r>
            <a:r>
              <a:rPr lang="en-US" sz="2800" dirty="0">
                <a:solidFill>
                  <a:srgbClr val="000000"/>
                </a:solidFill>
                <a:latin typeface="Times New Roman" panose="02020603050405020304" pitchFamily="18" charset="0"/>
                <a:cs typeface="Times New Roman" panose="02020603050405020304" pitchFamily="18" charset="0"/>
              </a:rPr>
              <a:t>. H, "Determining the effect of cutting parameters on surface   roughness in hard turning using the Taguchi method," Measurement, vol. 44, pp. 1697- 1704, 2011.</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[3] Bhattacharya. A, Das. S, Majumder. P, and  </a:t>
            </a:r>
            <a:r>
              <a:rPr lang="en-US" sz="2800" dirty="0" err="1">
                <a:solidFill>
                  <a:srgbClr val="000000"/>
                </a:solidFill>
                <a:latin typeface="Times New Roman" panose="02020603050405020304" pitchFamily="18" charset="0"/>
                <a:cs typeface="Times New Roman" panose="02020603050405020304" pitchFamily="18" charset="0"/>
              </a:rPr>
              <a:t>Batish</a:t>
            </a:r>
            <a:r>
              <a:rPr lang="en-US" sz="2800" dirty="0">
                <a:solidFill>
                  <a:srgbClr val="000000"/>
                </a:solidFill>
                <a:latin typeface="Times New Roman" panose="02020603050405020304" pitchFamily="18" charset="0"/>
                <a:cs typeface="Times New Roman" panose="02020603050405020304" pitchFamily="18" charset="0"/>
              </a:rPr>
              <a:t>. A, "Estimating the effect of cutting parameters on surface finish and power consumption during high speed machining of  AISI 1045 steel using Taguchi design and ANOVA," Production Engineering, vol. 3,   pp. 31-40, 2009.</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[4] </a:t>
            </a:r>
            <a:r>
              <a:rPr lang="en-US" sz="2800" dirty="0" err="1">
                <a:solidFill>
                  <a:srgbClr val="000000"/>
                </a:solidFill>
                <a:latin typeface="Times New Roman" panose="02020603050405020304" pitchFamily="18" charset="0"/>
                <a:cs typeface="Times New Roman" panose="02020603050405020304" pitchFamily="18" charset="0"/>
              </a:rPr>
              <a:t>Cus</a:t>
            </a:r>
            <a:r>
              <a:rPr lang="en-US" sz="2800" dirty="0">
                <a:solidFill>
                  <a:srgbClr val="000000"/>
                </a:solidFill>
                <a:latin typeface="Times New Roman" panose="02020603050405020304" pitchFamily="18" charset="0"/>
                <a:cs typeface="Times New Roman" panose="02020603050405020304" pitchFamily="18" charset="0"/>
              </a:rPr>
              <a:t>. F and </a:t>
            </a:r>
            <a:r>
              <a:rPr lang="en-US" sz="2800" dirty="0" err="1">
                <a:solidFill>
                  <a:srgbClr val="000000"/>
                </a:solidFill>
                <a:latin typeface="Times New Roman" panose="02020603050405020304" pitchFamily="18" charset="0"/>
                <a:cs typeface="Times New Roman" panose="02020603050405020304" pitchFamily="18" charset="0"/>
              </a:rPr>
              <a:t>Balic</a:t>
            </a:r>
            <a:r>
              <a:rPr lang="en-US" sz="2800" dirty="0">
                <a:solidFill>
                  <a:srgbClr val="000000"/>
                </a:solidFill>
                <a:latin typeface="Times New Roman" panose="02020603050405020304" pitchFamily="18" charset="0"/>
                <a:cs typeface="Times New Roman" panose="02020603050405020304" pitchFamily="18" charset="0"/>
              </a:rPr>
              <a:t>. J, "Optimization of cutting process by GA approach," Robotics and  Computer-Integrated Manufacturing, vol. 19, pp. 113-121,2003.</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[5] </a:t>
            </a:r>
            <a:r>
              <a:rPr lang="en-US" sz="2800" dirty="0" err="1">
                <a:solidFill>
                  <a:srgbClr val="000000"/>
                </a:solidFill>
                <a:latin typeface="Times New Roman" panose="02020603050405020304" pitchFamily="18" charset="0"/>
                <a:cs typeface="Times New Roman" panose="02020603050405020304" pitchFamily="18" charset="0"/>
              </a:rPr>
              <a:t>Chien</a:t>
            </a:r>
            <a:r>
              <a:rPr lang="en-US" sz="2800" dirty="0">
                <a:solidFill>
                  <a:srgbClr val="000000"/>
                </a:solidFill>
                <a:latin typeface="Times New Roman" panose="02020603050405020304" pitchFamily="18" charset="0"/>
                <a:cs typeface="Times New Roman" panose="02020603050405020304" pitchFamily="18" charset="0"/>
              </a:rPr>
              <a:t>. W.-T and Tsai. C.-S, "The investigation on the prediction of tool wear and the determination of optimum cutting conditions in machining 17-4PH stainless steel," Journal of Materials Processing Technology, vol. 140, pp.340-345, 2003.</a:t>
            </a:r>
          </a:p>
        </p:txBody>
      </p:sp>
      <p:sp>
        <p:nvSpPr>
          <p:cNvPr id="5" name="Footer Placeholder 3">
            <a:extLst>
              <a:ext uri="{FF2B5EF4-FFF2-40B4-BE49-F238E27FC236}">
                <a16:creationId xmlns:a16="http://schemas.microsoft.com/office/drawing/2014/main" id="{6AC522A4-3972-3D26-D98C-0AC60DF90605}"/>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a:solidFill>
                  <a:schemeClr val="tx1">
                    <a:tint val="75000"/>
                  </a:schemeClr>
                </a:solidFill>
              </a:rPr>
              <a:t>Paper ID : 2602051     Category : UG</a:t>
            </a:r>
            <a:endParaRPr lang="en-US" dirty="0"/>
          </a:p>
        </p:txBody>
      </p:sp>
    </p:spTree>
    <p:extLst>
      <p:ext uri="{BB962C8B-B14F-4D97-AF65-F5344CB8AC3E}">
        <p14:creationId xmlns:p14="http://schemas.microsoft.com/office/powerpoint/2010/main" val="3154342985"/>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3067</TotalTime>
  <Words>1808</Words>
  <Application>Microsoft Office PowerPoint</Application>
  <PresentationFormat>Widescreen</PresentationFormat>
  <Paragraphs>130</Paragraphs>
  <Slides>12</Slides>
  <Notes>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Lato</vt:lpstr>
      <vt:lpstr>Saira Medium</vt:lpstr>
      <vt:lpstr>Tahoma</vt:lpstr>
      <vt:lpstr>Times New Roman</vt:lpstr>
      <vt:lpstr>Wingdings</vt:lpstr>
      <vt:lpstr>Office Theme</vt:lpstr>
      <vt:lpstr>Instructions to Presenters</vt:lpstr>
      <vt:lpstr>iCREATE 2025: International Conference on Research, Engineering, and Advanced Technologies in Computing &amp; Management &amp; Global Conference Hub, Coimbatore, Tamil Nadu, India. Rubric for Best Presentation (UG, PG, Research Scholar &amp; Faculty) </vt:lpstr>
      <vt:lpstr>PowerPoint Presentation</vt:lpstr>
      <vt:lpstr>KEY TALKING POINTS</vt:lpstr>
      <vt:lpstr>ABSTRACT</vt:lpstr>
      <vt:lpstr>OUTLINE OF ABSTRACT</vt:lpstr>
      <vt:lpstr>INTRODUCTION</vt:lpstr>
      <vt:lpstr>LITERATURE REVIEW</vt:lpstr>
      <vt:lpstr>METHODOLOGY</vt:lpstr>
      <vt:lpstr>PERFORMANCE COMPARISON</vt:lpstr>
      <vt:lpstr>Result &amp; Discussion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International Conference on Innovations in Engineering &amp; Sciences (ICIES) 2021</dc:title>
  <dc:creator>Pravin</dc:creator>
  <cp:lastModifiedBy>Sirajuddeen Mohamed</cp:lastModifiedBy>
  <cp:revision>107</cp:revision>
  <dcterms:created xsi:type="dcterms:W3CDTF">2021-03-20T03:55:40Z</dcterms:created>
  <dcterms:modified xsi:type="dcterms:W3CDTF">2026-02-26T15:15:39Z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2023-09-07T05:06:33Z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c778e571-5114-49bf-a4e7-8a47a5f09d20</vt:lpwstr>
  </property>
  <property fmtid="{D5CDD505-2E9C-101B-9397-08002B2CF9AE}" pid="7" name="MSIP_Label_defa4170-0d19-0005-0004-bc88714345d2_ActionId">
    <vt:lpwstr>98b1cca8-9179-4e55-9411-fb2d42ae25cf</vt:lpwstr>
  </property>
  <property fmtid="{D5CDD505-2E9C-101B-9397-08002B2CF9AE}" pid="8" name="MSIP_Label_defa4170-0d19-0005-0004-bc88714345d2_ContentBits">
    <vt:lpwstr>0</vt:lpwstr>
  </property>
</Properties>
</file>