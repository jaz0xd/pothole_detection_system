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2" r:id="rId1"/>
  </p:sldMasterIdLst>
  <p:notesMasterIdLst>
    <p:notesMasterId r:id="rId14"/>
  </p:notesMasterIdLst>
  <p:handoutMasterIdLst>
    <p:handoutMasterId r:id="rId15"/>
  </p:handoutMasterIdLst>
  <p:sldIdLst>
    <p:sldId id="256" r:id="rId2"/>
    <p:sldId id="257" r:id="rId3"/>
    <p:sldId id="267" r:id="rId4"/>
    <p:sldId id="268" r:id="rId5"/>
    <p:sldId id="260" r:id="rId6"/>
    <p:sldId id="261" r:id="rId7"/>
    <p:sldId id="262" r:id="rId8"/>
    <p:sldId id="259" r:id="rId9"/>
    <p:sldId id="269" r:id="rId10"/>
    <p:sldId id="263" r:id="rId11"/>
    <p:sldId id="270" r:id="rId12"/>
    <p:sldId id="264"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1CF8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94673" autoAdjust="0"/>
  </p:normalViewPr>
  <p:slideViewPr>
    <p:cSldViewPr snapToGrid="0">
      <p:cViewPr varScale="1">
        <p:scale>
          <a:sx n="101" d="100"/>
          <a:sy n="101" d="100"/>
        </p:scale>
        <p:origin x="876" y="108"/>
      </p:cViewPr>
      <p:guideLst/>
    </p:cSldViewPr>
  </p:slideViewPr>
  <p:outlineViewPr>
    <p:cViewPr>
      <p:scale>
        <a:sx n="33" d="100"/>
        <a:sy n="33" d="100"/>
      </p:scale>
      <p:origin x="0" y="-1098"/>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87" d="100"/>
          <a:sy n="87" d="100"/>
        </p:scale>
        <p:origin x="3840" y="6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83FE8DB-47D3-46AC-86B3-9FBA08EF31FA}" type="doc">
      <dgm:prSet loTypeId="urn:microsoft.com/office/officeart/2005/8/layout/vList2" loCatId="list" qsTypeId="urn:microsoft.com/office/officeart/2005/8/quickstyle/simple1" qsCatId="simple" csTypeId="urn:microsoft.com/office/officeart/2005/8/colors/accent1_1" csCatId="accent1" phldr="1"/>
      <dgm:spPr/>
      <dgm:t>
        <a:bodyPr/>
        <a:lstStyle/>
        <a:p>
          <a:endParaRPr lang="en-US"/>
        </a:p>
      </dgm:t>
    </dgm:pt>
    <dgm:pt modelId="{2EA96534-AE6E-4593-A836-D76CFC61E6DD}">
      <dgm:prSet/>
      <dgm:spPr/>
      <dgm:t>
        <a:bodyPr/>
        <a:lstStyle/>
        <a:p>
          <a:r>
            <a:rPr lang="en-US" dirty="0">
              <a:latin typeface="Times New Roman" panose="02020603050405020304" pitchFamily="18" charset="0"/>
              <a:cs typeface="Times New Roman" panose="02020603050405020304" pitchFamily="18" charset="0"/>
            </a:rPr>
            <a:t>The comparative analysis of existing pothole detection systems reveals that deep learning-based vision approaches have significantly improved detection accuracy and processing speed over traditional sensor-based techniques. Single-stage object detectors such as YOLO demonstrate strong real-time performance, making them suitable for deployment in dynamic driving environments. Two-stage detectors such as Faster R-CNN generally achieve higher precision, particularly under challenging lighting conditions, but their computational complexity limits real-time feasibility.</a:t>
          </a:r>
        </a:p>
      </dgm:t>
    </dgm:pt>
    <dgm:pt modelId="{931E96C3-1BBD-4003-B10A-0D18B6C5D836}" type="parTrans" cxnId="{39E44248-B34F-425C-80A2-FCA2102B9E1D}">
      <dgm:prSet/>
      <dgm:spPr/>
      <dgm:t>
        <a:bodyPr/>
        <a:lstStyle/>
        <a:p>
          <a:endParaRPr lang="en-US"/>
        </a:p>
      </dgm:t>
    </dgm:pt>
    <dgm:pt modelId="{1F23F19E-FCD5-4921-8CFA-3F5EBEA482FC}" type="sibTrans" cxnId="{39E44248-B34F-425C-80A2-FCA2102B9E1D}">
      <dgm:prSet/>
      <dgm:spPr/>
      <dgm:t>
        <a:bodyPr/>
        <a:lstStyle/>
        <a:p>
          <a:endParaRPr lang="en-US"/>
        </a:p>
      </dgm:t>
    </dgm:pt>
    <dgm:pt modelId="{F8DCABDF-5F86-40BA-A036-66F6DA2288AE}">
      <dgm:prSet/>
      <dgm:spPr/>
      <dgm:t>
        <a:bodyPr/>
        <a:lstStyle/>
        <a:p>
          <a:r>
            <a:rPr lang="en-US" dirty="0">
              <a:latin typeface="Times New Roman" panose="02020603050405020304" pitchFamily="18" charset="0"/>
              <a:cs typeface="Times New Roman" panose="02020603050405020304" pitchFamily="18" charset="0"/>
            </a:rPr>
            <a:t>Segmentation-based methods enhance spatial localization by providing pixel-level detection, allowing better boundary identification compared to bounding box approaches. However, these methods require higher computational resources and are often not optimized for real-time inference on embedded systems. Sensor-fusion systems integrating LiDAR or RGB-D data provide improved geometric analysis, enabling depth and volume estimation of potholes. Despite their structural advantages, such systems increase hardware cost and system complexity, limiting scalability.</a:t>
          </a:r>
        </a:p>
      </dgm:t>
    </dgm:pt>
    <dgm:pt modelId="{0F9A4297-B5A9-4621-B85C-81B768F9A5DF}" type="parTrans" cxnId="{91A4B497-937A-4334-8037-09CA9B258FEB}">
      <dgm:prSet/>
      <dgm:spPr/>
      <dgm:t>
        <a:bodyPr/>
        <a:lstStyle/>
        <a:p>
          <a:endParaRPr lang="en-US"/>
        </a:p>
      </dgm:t>
    </dgm:pt>
    <dgm:pt modelId="{000FC70A-8C14-4B5D-9A2D-C07817CEFC38}" type="sibTrans" cxnId="{91A4B497-937A-4334-8037-09CA9B258FEB}">
      <dgm:prSet/>
      <dgm:spPr/>
      <dgm:t>
        <a:bodyPr/>
        <a:lstStyle/>
        <a:p>
          <a:endParaRPr lang="en-US"/>
        </a:p>
      </dgm:t>
    </dgm:pt>
    <dgm:pt modelId="{C7695C5A-506B-420E-80DE-87B52D27BCC1}">
      <dgm:prSet/>
      <dgm:spPr/>
      <dgm:t>
        <a:bodyPr/>
        <a:lstStyle/>
        <a:p>
          <a:r>
            <a:rPr lang="en-US" dirty="0">
              <a:latin typeface="Times New Roman" panose="02020603050405020304" pitchFamily="18" charset="0"/>
              <a:cs typeface="Times New Roman" panose="02020603050405020304" pitchFamily="18" charset="0"/>
            </a:rPr>
            <a:t>Overall, the results indicate a clear trade-off between detection speed, structural understanding, and hardware dependency. While 2D vision-based models are efficient and cost-effective, they lack geometric representation of surface irregularities. Conversely, 3D reconstruction approaches provide better structural insight but are hardware-intensive. These findings highlight the need for a lightweight, camera-only framework capable of generating real-time geometric wireframe representations for intelligent transportation systems and autonomous vehicle applications.</a:t>
          </a:r>
        </a:p>
      </dgm:t>
    </dgm:pt>
    <dgm:pt modelId="{79A5CE19-28BA-48AE-A084-650F4CDA5FC9}" type="parTrans" cxnId="{577C5CB6-F8F3-4BCC-A923-57A8EC3677D8}">
      <dgm:prSet/>
      <dgm:spPr/>
      <dgm:t>
        <a:bodyPr/>
        <a:lstStyle/>
        <a:p>
          <a:endParaRPr lang="en-US"/>
        </a:p>
      </dgm:t>
    </dgm:pt>
    <dgm:pt modelId="{D91462F4-6C05-4ADD-AEE7-8CE9B6EF3267}" type="sibTrans" cxnId="{577C5CB6-F8F3-4BCC-A923-57A8EC3677D8}">
      <dgm:prSet/>
      <dgm:spPr/>
      <dgm:t>
        <a:bodyPr/>
        <a:lstStyle/>
        <a:p>
          <a:endParaRPr lang="en-US"/>
        </a:p>
      </dgm:t>
    </dgm:pt>
    <dgm:pt modelId="{4EC3E236-BCBD-40D6-8230-7A00B6944693}" type="pres">
      <dgm:prSet presAssocID="{183FE8DB-47D3-46AC-86B3-9FBA08EF31FA}" presName="linear" presStyleCnt="0">
        <dgm:presLayoutVars>
          <dgm:animLvl val="lvl"/>
          <dgm:resizeHandles val="exact"/>
        </dgm:presLayoutVars>
      </dgm:prSet>
      <dgm:spPr/>
    </dgm:pt>
    <dgm:pt modelId="{3ED00C2D-8ABE-4182-942C-5230E442C9C8}" type="pres">
      <dgm:prSet presAssocID="{2EA96534-AE6E-4593-A836-D76CFC61E6DD}" presName="parentText" presStyleLbl="node1" presStyleIdx="0" presStyleCnt="3">
        <dgm:presLayoutVars>
          <dgm:chMax val="0"/>
          <dgm:bulletEnabled val="1"/>
        </dgm:presLayoutVars>
      </dgm:prSet>
      <dgm:spPr/>
    </dgm:pt>
    <dgm:pt modelId="{9C4C1F76-AD87-4D53-A837-34446A8E0515}" type="pres">
      <dgm:prSet presAssocID="{1F23F19E-FCD5-4921-8CFA-3F5EBEA482FC}" presName="spacer" presStyleCnt="0"/>
      <dgm:spPr/>
    </dgm:pt>
    <dgm:pt modelId="{E1131CBB-946C-454D-9110-3D420B79DD89}" type="pres">
      <dgm:prSet presAssocID="{F8DCABDF-5F86-40BA-A036-66F6DA2288AE}" presName="parentText" presStyleLbl="node1" presStyleIdx="1" presStyleCnt="3">
        <dgm:presLayoutVars>
          <dgm:chMax val="0"/>
          <dgm:bulletEnabled val="1"/>
        </dgm:presLayoutVars>
      </dgm:prSet>
      <dgm:spPr/>
    </dgm:pt>
    <dgm:pt modelId="{05EA547E-FFB8-4464-8173-5BA0CFFF07A1}" type="pres">
      <dgm:prSet presAssocID="{000FC70A-8C14-4B5D-9A2D-C07817CEFC38}" presName="spacer" presStyleCnt="0"/>
      <dgm:spPr/>
    </dgm:pt>
    <dgm:pt modelId="{40F46ADC-CAC6-41E1-9669-3AF3261BB480}" type="pres">
      <dgm:prSet presAssocID="{C7695C5A-506B-420E-80DE-87B52D27BCC1}" presName="parentText" presStyleLbl="node1" presStyleIdx="2" presStyleCnt="3">
        <dgm:presLayoutVars>
          <dgm:chMax val="0"/>
          <dgm:bulletEnabled val="1"/>
        </dgm:presLayoutVars>
      </dgm:prSet>
      <dgm:spPr/>
    </dgm:pt>
  </dgm:ptLst>
  <dgm:cxnLst>
    <dgm:cxn modelId="{481AFC13-147F-4CF3-B35B-28873660E0CF}" type="presOf" srcId="{C7695C5A-506B-420E-80DE-87B52D27BCC1}" destId="{40F46ADC-CAC6-41E1-9669-3AF3261BB480}" srcOrd="0" destOrd="0" presId="urn:microsoft.com/office/officeart/2005/8/layout/vList2"/>
    <dgm:cxn modelId="{8D5E032A-371B-4794-BCC7-A104CC2EE410}" type="presOf" srcId="{2EA96534-AE6E-4593-A836-D76CFC61E6DD}" destId="{3ED00C2D-8ABE-4182-942C-5230E442C9C8}" srcOrd="0" destOrd="0" presId="urn:microsoft.com/office/officeart/2005/8/layout/vList2"/>
    <dgm:cxn modelId="{DDC6513F-8A26-4FD3-9EB5-D0125BD4023C}" type="presOf" srcId="{F8DCABDF-5F86-40BA-A036-66F6DA2288AE}" destId="{E1131CBB-946C-454D-9110-3D420B79DD89}" srcOrd="0" destOrd="0" presId="urn:microsoft.com/office/officeart/2005/8/layout/vList2"/>
    <dgm:cxn modelId="{39E44248-B34F-425C-80A2-FCA2102B9E1D}" srcId="{183FE8DB-47D3-46AC-86B3-9FBA08EF31FA}" destId="{2EA96534-AE6E-4593-A836-D76CFC61E6DD}" srcOrd="0" destOrd="0" parTransId="{931E96C3-1BBD-4003-B10A-0D18B6C5D836}" sibTransId="{1F23F19E-FCD5-4921-8CFA-3F5EBEA482FC}"/>
    <dgm:cxn modelId="{C04B6879-D0E2-4F12-B88E-2E79A9A723FB}" type="presOf" srcId="{183FE8DB-47D3-46AC-86B3-9FBA08EF31FA}" destId="{4EC3E236-BCBD-40D6-8230-7A00B6944693}" srcOrd="0" destOrd="0" presId="urn:microsoft.com/office/officeart/2005/8/layout/vList2"/>
    <dgm:cxn modelId="{91A4B497-937A-4334-8037-09CA9B258FEB}" srcId="{183FE8DB-47D3-46AC-86B3-9FBA08EF31FA}" destId="{F8DCABDF-5F86-40BA-A036-66F6DA2288AE}" srcOrd="1" destOrd="0" parTransId="{0F9A4297-B5A9-4621-B85C-81B768F9A5DF}" sibTransId="{000FC70A-8C14-4B5D-9A2D-C07817CEFC38}"/>
    <dgm:cxn modelId="{577C5CB6-F8F3-4BCC-A923-57A8EC3677D8}" srcId="{183FE8DB-47D3-46AC-86B3-9FBA08EF31FA}" destId="{C7695C5A-506B-420E-80DE-87B52D27BCC1}" srcOrd="2" destOrd="0" parTransId="{79A5CE19-28BA-48AE-A084-650F4CDA5FC9}" sibTransId="{D91462F4-6C05-4ADD-AEE7-8CE9B6EF3267}"/>
    <dgm:cxn modelId="{FADCE6D4-E346-4842-88F5-3037F9EC2983}" type="presParOf" srcId="{4EC3E236-BCBD-40D6-8230-7A00B6944693}" destId="{3ED00C2D-8ABE-4182-942C-5230E442C9C8}" srcOrd="0" destOrd="0" presId="urn:microsoft.com/office/officeart/2005/8/layout/vList2"/>
    <dgm:cxn modelId="{2171592D-FF75-4AA5-90C6-C84D629EA324}" type="presParOf" srcId="{4EC3E236-BCBD-40D6-8230-7A00B6944693}" destId="{9C4C1F76-AD87-4D53-A837-34446A8E0515}" srcOrd="1" destOrd="0" presId="urn:microsoft.com/office/officeart/2005/8/layout/vList2"/>
    <dgm:cxn modelId="{5F340D19-2C8E-4263-87F3-88E09B7027AE}" type="presParOf" srcId="{4EC3E236-BCBD-40D6-8230-7A00B6944693}" destId="{E1131CBB-946C-454D-9110-3D420B79DD89}" srcOrd="2" destOrd="0" presId="urn:microsoft.com/office/officeart/2005/8/layout/vList2"/>
    <dgm:cxn modelId="{7AE5453B-5E97-4F64-BE4C-C45E1D822418}" type="presParOf" srcId="{4EC3E236-BCBD-40D6-8230-7A00B6944693}" destId="{05EA547E-FFB8-4464-8173-5BA0CFFF07A1}" srcOrd="3" destOrd="0" presId="urn:microsoft.com/office/officeart/2005/8/layout/vList2"/>
    <dgm:cxn modelId="{F1F36D43-C860-4372-8D39-D74FC535A4D0}" type="presParOf" srcId="{4EC3E236-BCBD-40D6-8230-7A00B6944693}" destId="{40F46ADC-CAC6-41E1-9669-3AF3261BB480}"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D00C2D-8ABE-4182-942C-5230E442C9C8}">
      <dsp:nvSpPr>
        <dsp:cNvPr id="0" name=""/>
        <dsp:cNvSpPr/>
      </dsp:nvSpPr>
      <dsp:spPr>
        <a:xfrm>
          <a:off x="0" y="35333"/>
          <a:ext cx="6839687" cy="157248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dirty="0">
              <a:latin typeface="Times New Roman" panose="02020603050405020304" pitchFamily="18" charset="0"/>
              <a:cs typeface="Times New Roman" panose="02020603050405020304" pitchFamily="18" charset="0"/>
            </a:rPr>
            <a:t>The comparative analysis of existing pothole detection systems reveals that deep learning-based vision approaches have significantly improved detection accuracy and processing speed over traditional sensor-based techniques. Single-stage object detectors such as YOLO demonstrate strong real-time performance, making them suitable for deployment in dynamic driving environments. Two-stage detectors such as Faster R-CNN generally achieve higher precision, particularly under challenging lighting conditions, but their computational complexity limits real-time feasibility.</a:t>
          </a:r>
        </a:p>
      </dsp:txBody>
      <dsp:txXfrm>
        <a:off x="76762" y="112095"/>
        <a:ext cx="6686163" cy="1418956"/>
      </dsp:txXfrm>
    </dsp:sp>
    <dsp:sp modelId="{E1131CBB-946C-454D-9110-3D420B79DD89}">
      <dsp:nvSpPr>
        <dsp:cNvPr id="0" name=""/>
        <dsp:cNvSpPr/>
      </dsp:nvSpPr>
      <dsp:spPr>
        <a:xfrm>
          <a:off x="0" y="1648133"/>
          <a:ext cx="6839687" cy="157248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dirty="0">
              <a:latin typeface="Times New Roman" panose="02020603050405020304" pitchFamily="18" charset="0"/>
              <a:cs typeface="Times New Roman" panose="02020603050405020304" pitchFamily="18" charset="0"/>
            </a:rPr>
            <a:t>Segmentation-based methods enhance spatial localization by providing pixel-level detection, allowing better boundary identification compared to bounding box approaches. However, these methods require higher computational resources and are often not optimized for real-time inference on embedded systems. Sensor-fusion systems integrating LiDAR or RGB-D data provide improved geometric analysis, enabling depth and volume estimation of potholes. Despite their structural advantages, such systems increase hardware cost and system complexity, limiting scalability.</a:t>
          </a:r>
        </a:p>
      </dsp:txBody>
      <dsp:txXfrm>
        <a:off x="76762" y="1724895"/>
        <a:ext cx="6686163" cy="1418956"/>
      </dsp:txXfrm>
    </dsp:sp>
    <dsp:sp modelId="{40F46ADC-CAC6-41E1-9669-3AF3261BB480}">
      <dsp:nvSpPr>
        <dsp:cNvPr id="0" name=""/>
        <dsp:cNvSpPr/>
      </dsp:nvSpPr>
      <dsp:spPr>
        <a:xfrm>
          <a:off x="0" y="3260933"/>
          <a:ext cx="6839687" cy="157248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dirty="0">
              <a:latin typeface="Times New Roman" panose="02020603050405020304" pitchFamily="18" charset="0"/>
              <a:cs typeface="Times New Roman" panose="02020603050405020304" pitchFamily="18" charset="0"/>
            </a:rPr>
            <a:t>Overall, the results indicate a clear trade-off between detection speed, structural understanding, and hardware dependency. While 2D vision-based models are efficient and cost-effective, they lack geometric representation of surface irregularities. Conversely, 3D reconstruction approaches provide better structural insight but are hardware-intensive. These findings highlight the need for a lightweight, camera-only framework capable of generating real-time geometric wireframe representations for intelligent transportation systems and autonomous vehicle applications.</a:t>
          </a:r>
        </a:p>
      </dsp:txBody>
      <dsp:txXfrm>
        <a:off x="76762" y="3337695"/>
        <a:ext cx="6686163" cy="1418956"/>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05CF78B-0D02-43A8-8325-9A386999106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35A064DB-86DC-44DA-B98A-E0129676CCF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D27956B-5CC6-4F37-A5D3-8ADAA93DFC00}" type="datetimeFigureOut">
              <a:rPr lang="en-US" smtClean="0"/>
              <a:t>2/26/2026</a:t>
            </a:fld>
            <a:endParaRPr lang="en-US"/>
          </a:p>
        </p:txBody>
      </p:sp>
      <p:sp>
        <p:nvSpPr>
          <p:cNvPr id="4" name="Footer Placeholder 3">
            <a:extLst>
              <a:ext uri="{FF2B5EF4-FFF2-40B4-BE49-F238E27FC236}">
                <a16:creationId xmlns:a16="http://schemas.microsoft.com/office/drawing/2014/main" id="{A4B8F9F5-FED8-429A-9A1F-BD8A63DB1DA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04FFFA3D-8B0E-438A-B175-82F98F7A1E2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E1F1B97-8606-4AF2-A4CA-5AF47D76D7D0}" type="slidenum">
              <a:rPr lang="en-US" smtClean="0"/>
              <a:t>‹#›</a:t>
            </a:fld>
            <a:endParaRPr lang="en-US"/>
          </a:p>
        </p:txBody>
      </p:sp>
    </p:spTree>
    <p:extLst>
      <p:ext uri="{BB962C8B-B14F-4D97-AF65-F5344CB8AC3E}">
        <p14:creationId xmlns:p14="http://schemas.microsoft.com/office/powerpoint/2010/main" val="39418152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D5F674-8DD1-4DA8-A2C3-D3B89A602C88}" type="datetimeFigureOut">
              <a:rPr lang="en-IN" smtClean="0"/>
              <a:t>26-02-2026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32A3B30-A2B2-41BD-A49E-20DE79328994}" type="slidenum">
              <a:rPr lang="en-IN" smtClean="0"/>
              <a:t>‹#›</a:t>
            </a:fld>
            <a:endParaRPr lang="en-IN"/>
          </a:p>
        </p:txBody>
      </p:sp>
    </p:spTree>
    <p:extLst>
      <p:ext uri="{BB962C8B-B14F-4D97-AF65-F5344CB8AC3E}">
        <p14:creationId xmlns:p14="http://schemas.microsoft.com/office/powerpoint/2010/main" val="18722935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432A3B30-A2B2-41BD-A49E-20DE79328994}" type="slidenum">
              <a:rPr lang="en-IN" smtClean="0"/>
              <a:t>4</a:t>
            </a:fld>
            <a:endParaRPr lang="en-IN"/>
          </a:p>
        </p:txBody>
      </p:sp>
    </p:spTree>
    <p:extLst>
      <p:ext uri="{BB962C8B-B14F-4D97-AF65-F5344CB8AC3E}">
        <p14:creationId xmlns:p14="http://schemas.microsoft.com/office/powerpoint/2010/main" val="21759143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dirty="0"/>
              <a:t>Paper ID : 2602XXX             Category : UG / PG / RS / Faculty </a:t>
            </a:r>
          </a:p>
        </p:txBody>
      </p:sp>
      <p:sp>
        <p:nvSpPr>
          <p:cNvPr id="6" name="Slide Number Placeholder 5"/>
          <p:cNvSpPr>
            <a:spLocks noGrp="1"/>
          </p:cNvSpPr>
          <p:nvPr>
            <p:ph type="sldNum" sz="quarter" idx="12"/>
          </p:nvPr>
        </p:nvSpPr>
        <p:spPr/>
        <p:txBody>
          <a:bodyPr/>
          <a:lstStyle/>
          <a:p>
            <a:fld id="{7CF33057-8DAF-4BD3-BA1F-F058DBAFCA35}" type="slidenum">
              <a:rPr lang="en-US" smtClean="0"/>
              <a:t>‹#›</a:t>
            </a:fld>
            <a:endParaRPr lang="en-US"/>
          </a:p>
        </p:txBody>
      </p:sp>
      <p:sp>
        <p:nvSpPr>
          <p:cNvPr id="7" name="Rectangle 1"/>
          <p:cNvSpPr>
            <a:spLocks noChangeArrowheads="1"/>
          </p:cNvSpPr>
          <p:nvPr userDrawn="1"/>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1632196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23083"/>
            <a:ext cx="10515600" cy="1325563"/>
          </a:xfrm>
        </p:spPr>
        <p:txBody>
          <a:bodyPr/>
          <a:lstStyle/>
          <a:p>
            <a:r>
              <a:rPr lang="en-US" dirty="0"/>
              <a:t>Click to edit Master title style</a:t>
            </a:r>
          </a:p>
        </p:txBody>
      </p:sp>
      <p:sp>
        <p:nvSpPr>
          <p:cNvPr id="3" name="Content Placeholder 2"/>
          <p:cNvSpPr>
            <a:spLocks noGrp="1"/>
          </p:cNvSpPr>
          <p:nvPr>
            <p:ph idx="1"/>
          </p:nvPr>
        </p:nvSpPr>
        <p:spPr>
          <a:xfrm>
            <a:off x="838200" y="1819764"/>
            <a:ext cx="10515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dirty="0"/>
              <a:t>Paper ID : 2602XXX             Category : UG / PG / RS / Faculty </a:t>
            </a:r>
          </a:p>
        </p:txBody>
      </p:sp>
      <p:sp>
        <p:nvSpPr>
          <p:cNvPr id="6" name="Slide Number Placeholder 5"/>
          <p:cNvSpPr>
            <a:spLocks noGrp="1"/>
          </p:cNvSpPr>
          <p:nvPr>
            <p:ph type="sldNum" sz="quarter" idx="12"/>
          </p:nvPr>
        </p:nvSpPr>
        <p:spPr/>
        <p:txBody>
          <a:bodyPr/>
          <a:lstStyle/>
          <a:p>
            <a:fld id="{7CF33057-8DAF-4BD3-BA1F-F058DBAFCA35}" type="slidenum">
              <a:rPr lang="en-US" smtClean="0"/>
              <a:t>‹#›</a:t>
            </a:fld>
            <a:endParaRPr lang="en-US"/>
          </a:p>
        </p:txBody>
      </p:sp>
    </p:spTree>
    <p:extLst>
      <p:ext uri="{BB962C8B-B14F-4D97-AF65-F5344CB8AC3E}">
        <p14:creationId xmlns:p14="http://schemas.microsoft.com/office/powerpoint/2010/main" val="40413341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dirty="0"/>
              <a:t>Paper ID : 2602XXX             Category : UG / PG / RS / Faculty </a:t>
            </a:r>
          </a:p>
        </p:txBody>
      </p:sp>
      <p:sp>
        <p:nvSpPr>
          <p:cNvPr id="6" name="Slide Number Placeholder 5"/>
          <p:cNvSpPr>
            <a:spLocks noGrp="1"/>
          </p:cNvSpPr>
          <p:nvPr>
            <p:ph type="sldNum" sz="quarter" idx="12"/>
          </p:nvPr>
        </p:nvSpPr>
        <p:spPr/>
        <p:txBody>
          <a:bodyPr/>
          <a:lstStyle/>
          <a:p>
            <a:fld id="{7CF33057-8DAF-4BD3-BA1F-F058DBAFCA35}" type="slidenum">
              <a:rPr lang="en-US" smtClean="0"/>
              <a:t>‹#›</a:t>
            </a:fld>
            <a:endParaRPr lang="en-US"/>
          </a:p>
        </p:txBody>
      </p:sp>
    </p:spTree>
    <p:extLst>
      <p:ext uri="{BB962C8B-B14F-4D97-AF65-F5344CB8AC3E}">
        <p14:creationId xmlns:p14="http://schemas.microsoft.com/office/powerpoint/2010/main" val="29526856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dirty="0"/>
              <a:t>Paper ID : 2602XXX             Category : UG / PG / RS / Faculty </a:t>
            </a:r>
          </a:p>
        </p:txBody>
      </p:sp>
      <p:sp>
        <p:nvSpPr>
          <p:cNvPr id="7" name="Slide Number Placeholder 6"/>
          <p:cNvSpPr>
            <a:spLocks noGrp="1"/>
          </p:cNvSpPr>
          <p:nvPr>
            <p:ph type="sldNum" sz="quarter" idx="12"/>
          </p:nvPr>
        </p:nvSpPr>
        <p:spPr/>
        <p:txBody>
          <a:bodyPr/>
          <a:lstStyle/>
          <a:p>
            <a:fld id="{7CF33057-8DAF-4BD3-BA1F-F058DBAFCA35}" type="slidenum">
              <a:rPr lang="en-US" smtClean="0"/>
              <a:t>‹#›</a:t>
            </a:fld>
            <a:endParaRPr lang="en-US"/>
          </a:p>
        </p:txBody>
      </p:sp>
    </p:spTree>
    <p:extLst>
      <p:ext uri="{BB962C8B-B14F-4D97-AF65-F5344CB8AC3E}">
        <p14:creationId xmlns:p14="http://schemas.microsoft.com/office/powerpoint/2010/main" val="14818444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r>
              <a:rPr lang="en-US" dirty="0"/>
              <a:t>Paper ID : 2602XXX             Category : UG / PG / RS / Faculty </a:t>
            </a:r>
          </a:p>
        </p:txBody>
      </p:sp>
      <p:sp>
        <p:nvSpPr>
          <p:cNvPr id="9" name="Slide Number Placeholder 8"/>
          <p:cNvSpPr>
            <a:spLocks noGrp="1"/>
          </p:cNvSpPr>
          <p:nvPr>
            <p:ph type="sldNum" sz="quarter" idx="12"/>
          </p:nvPr>
        </p:nvSpPr>
        <p:spPr/>
        <p:txBody>
          <a:bodyPr/>
          <a:lstStyle/>
          <a:p>
            <a:fld id="{7CF33057-8DAF-4BD3-BA1F-F058DBAFCA35}" type="slidenum">
              <a:rPr lang="en-US" smtClean="0"/>
              <a:t>‹#›</a:t>
            </a:fld>
            <a:endParaRPr lang="en-US"/>
          </a:p>
        </p:txBody>
      </p:sp>
    </p:spTree>
    <p:extLst>
      <p:ext uri="{BB962C8B-B14F-4D97-AF65-F5344CB8AC3E}">
        <p14:creationId xmlns:p14="http://schemas.microsoft.com/office/powerpoint/2010/main" val="42828276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r>
              <a:rPr lang="en-US" dirty="0"/>
              <a:t>Paper ID : 2602XXX             Category : UG / PG / RS / Faculty </a:t>
            </a:r>
          </a:p>
        </p:txBody>
      </p:sp>
      <p:sp>
        <p:nvSpPr>
          <p:cNvPr id="5" name="Slide Number Placeholder 4"/>
          <p:cNvSpPr>
            <a:spLocks noGrp="1"/>
          </p:cNvSpPr>
          <p:nvPr>
            <p:ph type="sldNum" sz="quarter" idx="12"/>
          </p:nvPr>
        </p:nvSpPr>
        <p:spPr/>
        <p:txBody>
          <a:bodyPr/>
          <a:lstStyle/>
          <a:p>
            <a:fld id="{7CF33057-8DAF-4BD3-BA1F-F058DBAFCA35}" type="slidenum">
              <a:rPr lang="en-US" smtClean="0"/>
              <a:t>‹#›</a:t>
            </a:fld>
            <a:endParaRPr lang="en-US"/>
          </a:p>
        </p:txBody>
      </p:sp>
    </p:spTree>
    <p:extLst>
      <p:ext uri="{BB962C8B-B14F-4D97-AF65-F5344CB8AC3E}">
        <p14:creationId xmlns:p14="http://schemas.microsoft.com/office/powerpoint/2010/main" val="34231700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r>
              <a:rPr lang="en-US" dirty="0"/>
              <a:t>Paper ID : 2602XXX             Category : UG / PG / RS / Faculty </a:t>
            </a:r>
          </a:p>
        </p:txBody>
      </p:sp>
      <p:sp>
        <p:nvSpPr>
          <p:cNvPr id="4" name="Slide Number Placeholder 3"/>
          <p:cNvSpPr>
            <a:spLocks noGrp="1"/>
          </p:cNvSpPr>
          <p:nvPr>
            <p:ph type="sldNum" sz="quarter" idx="12"/>
          </p:nvPr>
        </p:nvSpPr>
        <p:spPr/>
        <p:txBody>
          <a:bodyPr/>
          <a:lstStyle/>
          <a:p>
            <a:fld id="{7CF33057-8DAF-4BD3-BA1F-F058DBAFCA35}" type="slidenum">
              <a:rPr lang="en-US" smtClean="0"/>
              <a:t>‹#›</a:t>
            </a:fld>
            <a:endParaRPr lang="en-US"/>
          </a:p>
        </p:txBody>
      </p:sp>
    </p:spTree>
    <p:extLst>
      <p:ext uri="{BB962C8B-B14F-4D97-AF65-F5344CB8AC3E}">
        <p14:creationId xmlns:p14="http://schemas.microsoft.com/office/powerpoint/2010/main" val="15035115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dirty="0"/>
              <a:t>Paper ID : 2602XXX             Category : UG / PG / RS / Faculty </a:t>
            </a:r>
          </a:p>
        </p:txBody>
      </p:sp>
      <p:sp>
        <p:nvSpPr>
          <p:cNvPr id="7" name="Slide Number Placeholder 6"/>
          <p:cNvSpPr>
            <a:spLocks noGrp="1"/>
          </p:cNvSpPr>
          <p:nvPr>
            <p:ph type="sldNum" sz="quarter" idx="12"/>
          </p:nvPr>
        </p:nvSpPr>
        <p:spPr/>
        <p:txBody>
          <a:bodyPr/>
          <a:lstStyle/>
          <a:p>
            <a:fld id="{7CF33057-8DAF-4BD3-BA1F-F058DBAFCA35}" type="slidenum">
              <a:rPr lang="en-US" smtClean="0"/>
              <a:t>‹#›</a:t>
            </a:fld>
            <a:endParaRPr lang="en-US"/>
          </a:p>
        </p:txBody>
      </p:sp>
    </p:spTree>
    <p:extLst>
      <p:ext uri="{BB962C8B-B14F-4D97-AF65-F5344CB8AC3E}">
        <p14:creationId xmlns:p14="http://schemas.microsoft.com/office/powerpoint/2010/main" val="11066642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dirty="0"/>
              <a:t>Paper ID : 2602XXX             Category : UG / PG / RS / Faculty </a:t>
            </a:r>
          </a:p>
        </p:txBody>
      </p:sp>
      <p:sp>
        <p:nvSpPr>
          <p:cNvPr id="7" name="Slide Number Placeholder 6"/>
          <p:cNvSpPr>
            <a:spLocks noGrp="1"/>
          </p:cNvSpPr>
          <p:nvPr>
            <p:ph type="sldNum" sz="quarter" idx="12"/>
          </p:nvPr>
        </p:nvSpPr>
        <p:spPr/>
        <p:txBody>
          <a:bodyPr/>
          <a:lstStyle/>
          <a:p>
            <a:fld id="{7CF33057-8DAF-4BD3-BA1F-F058DBAFCA35}" type="slidenum">
              <a:rPr lang="en-US" smtClean="0"/>
              <a:t>‹#›</a:t>
            </a:fld>
            <a:endParaRPr lang="en-US"/>
          </a:p>
        </p:txBody>
      </p:sp>
    </p:spTree>
    <p:extLst>
      <p:ext uri="{BB962C8B-B14F-4D97-AF65-F5344CB8AC3E}">
        <p14:creationId xmlns:p14="http://schemas.microsoft.com/office/powerpoint/2010/main" val="19576873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dirty="0"/>
              <a:t>Paper ID : 2602XXX             Category : UG / PG / RS / Faculty </a:t>
            </a:r>
          </a:p>
        </p:txBody>
      </p:sp>
      <p:sp>
        <p:nvSpPr>
          <p:cNvPr id="6" name="Slide Number Placeholder 5"/>
          <p:cNvSpPr>
            <a:spLocks noGrp="1"/>
          </p:cNvSpPr>
          <p:nvPr>
            <p:ph type="sldNum" sz="quarter" idx="12"/>
          </p:nvPr>
        </p:nvSpPr>
        <p:spPr/>
        <p:txBody>
          <a:bodyPr/>
          <a:lstStyle/>
          <a:p>
            <a:fld id="{7CF33057-8DAF-4BD3-BA1F-F058DBAFCA35}" type="slidenum">
              <a:rPr lang="en-US" smtClean="0"/>
              <a:t>‹#›</a:t>
            </a:fld>
            <a:endParaRPr lang="en-US"/>
          </a:p>
        </p:txBody>
      </p:sp>
    </p:spTree>
    <p:extLst>
      <p:ext uri="{BB962C8B-B14F-4D97-AF65-F5344CB8AC3E}">
        <p14:creationId xmlns:p14="http://schemas.microsoft.com/office/powerpoint/2010/main" val="26056549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dirty="0"/>
              <a:t>Paper ID : 2602XXX             Category : UG / PG / RS / Faculty </a:t>
            </a:r>
          </a:p>
        </p:txBody>
      </p:sp>
      <p:sp>
        <p:nvSpPr>
          <p:cNvPr id="6" name="Slide Number Placeholder 5"/>
          <p:cNvSpPr>
            <a:spLocks noGrp="1"/>
          </p:cNvSpPr>
          <p:nvPr>
            <p:ph type="sldNum" sz="quarter" idx="12"/>
          </p:nvPr>
        </p:nvSpPr>
        <p:spPr/>
        <p:txBody>
          <a:bodyPr/>
          <a:lstStyle/>
          <a:p>
            <a:fld id="{7CF33057-8DAF-4BD3-BA1F-F058DBAFCA35}" type="slidenum">
              <a:rPr lang="en-US" smtClean="0"/>
              <a:t>‹#›</a:t>
            </a:fld>
            <a:endParaRPr lang="en-US"/>
          </a:p>
        </p:txBody>
      </p:sp>
    </p:spTree>
    <p:extLst>
      <p:ext uri="{BB962C8B-B14F-4D97-AF65-F5344CB8AC3E}">
        <p14:creationId xmlns:p14="http://schemas.microsoft.com/office/powerpoint/2010/main" val="12148166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bg>
      <p:bgRef idx="1002">
        <a:schemeClr val="bg2"/>
      </p:bgRef>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3F274645-626C-4692-8BCF-900900B0A95E}"/>
              </a:ext>
            </a:extLst>
          </p:cNvPr>
          <p:cNvSpPr>
            <a:spLocks noGrp="1"/>
          </p:cNvSpPr>
          <p:nvPr>
            <p:ph type="ftr" sz="quarter" idx="11"/>
          </p:nvPr>
        </p:nvSpPr>
        <p:spPr>
          <a:xfrm>
            <a:off x="2086495" y="6143106"/>
            <a:ext cx="6066905" cy="578370"/>
          </a:xfrm>
        </p:spPr>
        <p:txBody>
          <a:bodyPr/>
          <a:lstStyle>
            <a:lvl1pPr>
              <a:defRPr b="0">
                <a:solidFill>
                  <a:srgbClr val="00B0F0"/>
                </a:solidFill>
                <a:effectLst/>
                <a:latin typeface="Tahoma" panose="020B0604030504040204" pitchFamily="34" charset="0"/>
                <a:ea typeface="Tahoma" panose="020B0604030504040204" pitchFamily="34" charset="0"/>
                <a:cs typeface="Tahoma" panose="020B0604030504040204" pitchFamily="34" charset="0"/>
              </a:defRPr>
            </a:lvl1pPr>
          </a:lstStyle>
          <a:p>
            <a:r>
              <a:rPr lang="en-US" b="1" dirty="0">
                <a:solidFill>
                  <a:schemeClr val="accent4">
                    <a:lumMod val="50000"/>
                  </a:schemeClr>
                </a:solidFill>
                <a:latin typeface="Times New Roman" panose="02020603050405020304" pitchFamily="18" charset="0"/>
                <a:ea typeface="Calibri" panose="020F0502020204030204" pitchFamily="34" charset="0"/>
                <a:cs typeface="Times New Roman" panose="02020603050405020304" pitchFamily="18" charset="0"/>
              </a:rPr>
              <a:t>Paper ID : 2602XXX             Category : UG / PG / RS / Faculty </a:t>
            </a:r>
            <a:endParaRPr lang="en-US" i="1" dirty="0"/>
          </a:p>
        </p:txBody>
      </p:sp>
      <p:sp>
        <p:nvSpPr>
          <p:cNvPr id="6" name="Slide Number Placeholder 5">
            <a:extLst>
              <a:ext uri="{FF2B5EF4-FFF2-40B4-BE49-F238E27FC236}">
                <a16:creationId xmlns:a16="http://schemas.microsoft.com/office/drawing/2014/main" id="{99F76F3A-A1BA-4CE5-8555-EA0ABA80E65C}"/>
              </a:ext>
            </a:extLst>
          </p:cNvPr>
          <p:cNvSpPr>
            <a:spLocks noGrp="1"/>
          </p:cNvSpPr>
          <p:nvPr>
            <p:ph type="sldNum" sz="quarter" idx="12"/>
          </p:nvPr>
        </p:nvSpPr>
        <p:spPr/>
        <p:txBody>
          <a:bodyPr/>
          <a:lstStyle/>
          <a:p>
            <a:fld id="{7CF33057-8DAF-4BD3-BA1F-F058DBAFCA35}" type="slidenum">
              <a:rPr lang="en-US" smtClean="0"/>
              <a:t>‹#›</a:t>
            </a:fld>
            <a:endParaRPr lang="en-US"/>
          </a:p>
        </p:txBody>
      </p:sp>
      <p:sp>
        <p:nvSpPr>
          <p:cNvPr id="13" name="Title 1">
            <a:extLst>
              <a:ext uri="{FF2B5EF4-FFF2-40B4-BE49-F238E27FC236}">
                <a16:creationId xmlns:a16="http://schemas.microsoft.com/office/drawing/2014/main" id="{B3D41281-6D2C-4F3C-BA8F-87299BEEBCF5}"/>
              </a:ext>
            </a:extLst>
          </p:cNvPr>
          <p:cNvSpPr txBox="1">
            <a:spLocks/>
          </p:cNvSpPr>
          <p:nvPr userDrawn="1"/>
        </p:nvSpPr>
        <p:spPr>
          <a:xfrm>
            <a:off x="1664836" y="804875"/>
            <a:ext cx="8387541" cy="830996"/>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ctr">
              <a:lnSpc>
                <a:spcPct val="115000"/>
              </a:lnSpc>
              <a:spcBef>
                <a:spcPts val="0"/>
              </a:spcBef>
            </a:pPr>
            <a:r>
              <a:rPr lang="en-US" sz="2400" b="1" dirty="0">
                <a:solidFill>
                  <a:srgbClr val="7030A0"/>
                </a:solidFill>
                <a:latin typeface="Times New Roman" panose="02020603050405020304" pitchFamily="18" charset="0"/>
                <a:ea typeface="Calibri" panose="020F0502020204030204" pitchFamily="34" charset="0"/>
                <a:cs typeface="Times New Roman" panose="02020603050405020304" pitchFamily="18" charset="0"/>
              </a:rPr>
              <a:t>Third International Conference on Futuristic Trends in Science, Engineering, and Management (ICFTSEM-III) 2026</a:t>
            </a:r>
          </a:p>
        </p:txBody>
      </p:sp>
      <p:sp>
        <p:nvSpPr>
          <p:cNvPr id="14" name="TextBox 13">
            <a:extLst>
              <a:ext uri="{FF2B5EF4-FFF2-40B4-BE49-F238E27FC236}">
                <a16:creationId xmlns:a16="http://schemas.microsoft.com/office/drawing/2014/main" id="{D76A6572-F46A-46D8-98AF-31310E42C274}"/>
              </a:ext>
            </a:extLst>
          </p:cNvPr>
          <p:cNvSpPr txBox="1"/>
          <p:nvPr userDrawn="1"/>
        </p:nvSpPr>
        <p:spPr>
          <a:xfrm>
            <a:off x="2786827" y="1760440"/>
            <a:ext cx="5914292" cy="808619"/>
          </a:xfrm>
          <a:prstGeom prst="rect">
            <a:avLst/>
          </a:prstGeom>
          <a:noFill/>
        </p:spPr>
        <p:txBody>
          <a:bodyPr wrap="square" rtlCol="0">
            <a:spAutoFit/>
          </a:bodyPr>
          <a:lstStyle/>
          <a:p>
            <a:pPr algn="ctr">
              <a:lnSpc>
                <a:spcPct val="115000"/>
              </a:lnSpc>
              <a:spcBef>
                <a:spcPts val="0"/>
              </a:spcBef>
            </a:pPr>
            <a:r>
              <a:rPr lang="en-US" sz="4400" b="1" dirty="0">
                <a:solidFill>
                  <a:schemeClr val="accent6"/>
                </a:solidFill>
                <a:latin typeface="Times New Roman" panose="02020603050405020304" pitchFamily="18" charset="0"/>
                <a:ea typeface="Calibri" panose="020F0502020204030204" pitchFamily="34" charset="0"/>
                <a:cs typeface="Times New Roman" panose="02020603050405020304" pitchFamily="18" charset="0"/>
              </a:rPr>
              <a:t>ICFTSEM-III -  2026</a:t>
            </a:r>
            <a:endParaRPr lang="en-US" sz="4800" b="1" dirty="0">
              <a:solidFill>
                <a:schemeClr val="accent6"/>
              </a:solidFill>
              <a:latin typeface="Times New Roman" panose="02020603050405020304" pitchFamily="18" charset="0"/>
              <a:ea typeface="Calibri" panose="020F0502020204030204" pitchFamily="34" charset="0"/>
              <a:cs typeface="Times New Roman" panose="02020603050405020304" pitchFamily="18" charset="0"/>
            </a:endParaRPr>
          </a:p>
        </p:txBody>
      </p:sp>
      <p:sp>
        <p:nvSpPr>
          <p:cNvPr id="16" name="TextBox 15">
            <a:extLst>
              <a:ext uri="{FF2B5EF4-FFF2-40B4-BE49-F238E27FC236}">
                <a16:creationId xmlns:a16="http://schemas.microsoft.com/office/drawing/2014/main" id="{DC305E64-782B-4467-B6FE-F3A1AD6FF595}"/>
              </a:ext>
            </a:extLst>
          </p:cNvPr>
          <p:cNvSpPr txBox="1"/>
          <p:nvPr userDrawn="1"/>
        </p:nvSpPr>
        <p:spPr>
          <a:xfrm>
            <a:off x="1690058" y="3081672"/>
            <a:ext cx="8704813" cy="923330"/>
          </a:xfrm>
          <a:prstGeom prst="rect">
            <a:avLst/>
          </a:prstGeom>
          <a:noFill/>
        </p:spPr>
        <p:txBody>
          <a:bodyPr wrap="square">
            <a:spAutoFit/>
          </a:bodyPr>
          <a:lstStyle/>
          <a:p>
            <a:r>
              <a:rPr lang="en-US" b="1" dirty="0"/>
              <a:t>Organised by </a:t>
            </a:r>
          </a:p>
          <a:p>
            <a:r>
              <a:rPr lang="en-US" sz="1800" b="0" i="0" kern="1200" dirty="0">
                <a:solidFill>
                  <a:schemeClr val="tx1"/>
                </a:solidFill>
                <a:effectLst/>
                <a:latin typeface="+mn-lt"/>
                <a:ea typeface="+mn-ea"/>
                <a:cs typeface="+mn-cs"/>
              </a:rPr>
              <a:t>Jointly Organized by School of Management, Xavier University, Patna, India &amp; Global Conference Hub, Coimbatore, Tamil Nadu, India.</a:t>
            </a:r>
            <a:endParaRPr lang="en-US" sz="1600" b="0" i="1" dirty="0"/>
          </a:p>
        </p:txBody>
      </p:sp>
      <p:sp>
        <p:nvSpPr>
          <p:cNvPr id="17" name="TextBox 16">
            <a:extLst>
              <a:ext uri="{FF2B5EF4-FFF2-40B4-BE49-F238E27FC236}">
                <a16:creationId xmlns:a16="http://schemas.microsoft.com/office/drawing/2014/main" id="{B49173D2-8A0B-4D79-8A6A-6C57D2CD14E6}"/>
              </a:ext>
            </a:extLst>
          </p:cNvPr>
          <p:cNvSpPr txBox="1"/>
          <p:nvPr userDrawn="1"/>
        </p:nvSpPr>
        <p:spPr>
          <a:xfrm>
            <a:off x="8974388" y="2326364"/>
            <a:ext cx="2638097" cy="307777"/>
          </a:xfrm>
          <a:prstGeom prst="rect">
            <a:avLst/>
          </a:prstGeom>
          <a:solidFill>
            <a:srgbClr val="0070C0"/>
          </a:solidFill>
        </p:spPr>
        <p:txBody>
          <a:bodyPr wrap="square">
            <a:spAutoFit/>
          </a:bodyPr>
          <a:lstStyle/>
          <a:p>
            <a:pPr algn="r"/>
            <a:r>
              <a:rPr lang="en-US" sz="1400" b="1" kern="1200" dirty="0">
                <a:solidFill>
                  <a:schemeClr val="tx1"/>
                </a:solidFill>
                <a:latin typeface="+mn-lt"/>
                <a:ea typeface="+mn-ea"/>
                <a:cs typeface="+mn-cs"/>
              </a:rPr>
              <a:t>Dates:27.02.2026 &amp; 28.02.2026</a:t>
            </a:r>
            <a:endParaRPr lang="en-US" sz="1400" b="1" dirty="0"/>
          </a:p>
        </p:txBody>
      </p:sp>
    </p:spTree>
    <p:extLst>
      <p:ext uri="{BB962C8B-B14F-4D97-AF65-F5344CB8AC3E}">
        <p14:creationId xmlns:p14="http://schemas.microsoft.com/office/powerpoint/2010/main" val="630709437"/>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48DA2F-E874-4EAA-9B06-D16CC8F0095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C987C09-00AE-4433-9195-4932143E9D07}"/>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897AECED-DAEE-43B9-873F-E38BC2696C79}"/>
              </a:ext>
            </a:extLst>
          </p:cNvPr>
          <p:cNvSpPr>
            <a:spLocks noGrp="1"/>
          </p:cNvSpPr>
          <p:nvPr>
            <p:ph type="ftr" sz="quarter" idx="11"/>
          </p:nvPr>
        </p:nvSpPr>
        <p:spPr/>
        <p:txBody>
          <a:bodyPr/>
          <a:lstStyle/>
          <a:p>
            <a:r>
              <a:rPr lang="en-US" dirty="0"/>
              <a:t>Paper ID : 2602XXX             Category : UG / PG / RS / Faculty </a:t>
            </a:r>
          </a:p>
        </p:txBody>
      </p:sp>
      <p:sp>
        <p:nvSpPr>
          <p:cNvPr id="5" name="Slide Number Placeholder 4">
            <a:extLst>
              <a:ext uri="{FF2B5EF4-FFF2-40B4-BE49-F238E27FC236}">
                <a16:creationId xmlns:a16="http://schemas.microsoft.com/office/drawing/2014/main" id="{551A90C2-1E24-4DC9-B2C7-AB830A5B07E8}"/>
              </a:ext>
            </a:extLst>
          </p:cNvPr>
          <p:cNvSpPr>
            <a:spLocks noGrp="1"/>
          </p:cNvSpPr>
          <p:nvPr>
            <p:ph type="sldNum" sz="quarter" idx="12"/>
          </p:nvPr>
        </p:nvSpPr>
        <p:spPr/>
        <p:txBody>
          <a:bodyPr/>
          <a:lstStyle/>
          <a:p>
            <a:fld id="{7CF33057-8DAF-4BD3-BA1F-F058DBAFCA35}" type="slidenum">
              <a:rPr lang="en-US" smtClean="0"/>
              <a:t>‹#›</a:t>
            </a:fld>
            <a:endParaRPr lang="en-US"/>
          </a:p>
        </p:txBody>
      </p:sp>
    </p:spTree>
    <p:extLst>
      <p:ext uri="{BB962C8B-B14F-4D97-AF65-F5344CB8AC3E}">
        <p14:creationId xmlns:p14="http://schemas.microsoft.com/office/powerpoint/2010/main" val="225969761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D3361-A1AA-454B-ADB4-42D5599FE35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F23C3CD-E15C-44EC-821E-6000F681AB02}"/>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FC9CC74F-E207-417C-869F-8D50FAEFC532}"/>
              </a:ext>
            </a:extLst>
          </p:cNvPr>
          <p:cNvSpPr>
            <a:spLocks noGrp="1"/>
          </p:cNvSpPr>
          <p:nvPr>
            <p:ph type="ftr" sz="quarter" idx="11"/>
          </p:nvPr>
        </p:nvSpPr>
        <p:spPr/>
        <p:txBody>
          <a:bodyPr/>
          <a:lstStyle/>
          <a:p>
            <a:r>
              <a:rPr lang="en-US" dirty="0"/>
              <a:t>Paper ID : 2602XXX             Category : UG / PG / RS / Faculty </a:t>
            </a:r>
          </a:p>
        </p:txBody>
      </p:sp>
      <p:sp>
        <p:nvSpPr>
          <p:cNvPr id="5" name="Slide Number Placeholder 4">
            <a:extLst>
              <a:ext uri="{FF2B5EF4-FFF2-40B4-BE49-F238E27FC236}">
                <a16:creationId xmlns:a16="http://schemas.microsoft.com/office/drawing/2014/main" id="{D670CB11-0AE3-49DF-8BEC-719DBAE0D7BB}"/>
              </a:ext>
            </a:extLst>
          </p:cNvPr>
          <p:cNvSpPr>
            <a:spLocks noGrp="1"/>
          </p:cNvSpPr>
          <p:nvPr>
            <p:ph type="sldNum" sz="quarter" idx="12"/>
          </p:nvPr>
        </p:nvSpPr>
        <p:spPr/>
        <p:txBody>
          <a:bodyPr/>
          <a:lstStyle/>
          <a:p>
            <a:fld id="{7CF33057-8DAF-4BD3-BA1F-F058DBAFCA35}" type="slidenum">
              <a:rPr lang="en-US" smtClean="0"/>
              <a:t>‹#›</a:t>
            </a:fld>
            <a:endParaRPr lang="en-US"/>
          </a:p>
        </p:txBody>
      </p:sp>
    </p:spTree>
    <p:extLst>
      <p:ext uri="{BB962C8B-B14F-4D97-AF65-F5344CB8AC3E}">
        <p14:creationId xmlns:p14="http://schemas.microsoft.com/office/powerpoint/2010/main" val="26251396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Paper ID : 2602XXX             Category : UG / PG / RS / Faculty </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CF33057-8DAF-4BD3-BA1F-F058DBAFCA35}" type="slidenum">
              <a:rPr lang="en-US" smtClean="0"/>
              <a:t>‹#›</a:t>
            </a:fld>
            <a:endParaRPr lang="en-US"/>
          </a:p>
        </p:txBody>
      </p:sp>
      <p:pic>
        <p:nvPicPr>
          <p:cNvPr id="8" name="Picture 7"/>
          <p:cNvPicPr>
            <a:picLocks noChangeAspect="1"/>
          </p:cNvPicPr>
          <p:nvPr userDrawn="1"/>
        </p:nvPicPr>
        <p:blipFill>
          <a:blip r:embed="rId16" cstate="hqprint">
            <a:extLst>
              <a:ext uri="{28A0092B-C50C-407E-A947-70E740481C1C}">
                <a14:useLocalDpi xmlns:a14="http://schemas.microsoft.com/office/drawing/2010/main" val="0"/>
              </a:ext>
            </a:extLst>
          </a:blip>
          <a:stretch>
            <a:fillRect/>
          </a:stretch>
        </p:blipFill>
        <p:spPr>
          <a:xfrm>
            <a:off x="0" y="-29807"/>
            <a:ext cx="1489835" cy="1298367"/>
          </a:xfrm>
          <a:prstGeom prst="rect">
            <a:avLst/>
          </a:prstGeom>
        </p:spPr>
      </p:pic>
      <p:sp>
        <p:nvSpPr>
          <p:cNvPr id="9" name="Rectangle 1"/>
          <p:cNvSpPr>
            <a:spLocks noChangeArrowheads="1"/>
          </p:cNvSpPr>
          <p:nvPr userDrawn="1"/>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0" name="Rectangle 2"/>
          <p:cNvSpPr>
            <a:spLocks noChangeArrowheads="1"/>
          </p:cNvSpPr>
          <p:nvPr userDrawn="1"/>
        </p:nvSpPr>
        <p:spPr bwMode="auto">
          <a:xfrm>
            <a:off x="152400" y="152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1" name="Rectangle 3"/>
          <p:cNvSpPr>
            <a:spLocks noChangeArrowheads="1"/>
          </p:cNvSpPr>
          <p:nvPr userDrawn="1"/>
        </p:nvSpPr>
        <p:spPr bwMode="auto">
          <a:xfrm>
            <a:off x="304800" y="3048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2" name="Rectangle 4"/>
          <p:cNvSpPr>
            <a:spLocks noChangeArrowheads="1"/>
          </p:cNvSpPr>
          <p:nvPr userDrawn="1"/>
        </p:nvSpPr>
        <p:spPr bwMode="auto">
          <a:xfrm>
            <a:off x="45720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13" name="Picture 12"/>
          <p:cNvPicPr>
            <a:picLocks noChangeAspect="1"/>
          </p:cNvPicPr>
          <p:nvPr userDrawn="1"/>
        </p:nvPicPr>
        <p:blipFill>
          <a:blip r:embed="rId17"/>
          <a:stretch>
            <a:fillRect/>
          </a:stretch>
        </p:blipFill>
        <p:spPr>
          <a:xfrm>
            <a:off x="10769897" y="0"/>
            <a:ext cx="1399953" cy="1268560"/>
          </a:xfrm>
          <a:prstGeom prst="rect">
            <a:avLst/>
          </a:prstGeom>
        </p:spPr>
      </p:pic>
    </p:spTree>
    <p:extLst>
      <p:ext uri="{BB962C8B-B14F-4D97-AF65-F5344CB8AC3E}">
        <p14:creationId xmlns:p14="http://schemas.microsoft.com/office/powerpoint/2010/main" val="3785975121"/>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61" r:id="rId13"/>
    <p:sldLayoutId id="2147483660" r:id="rId14"/>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pct90">
          <a:fgClr>
            <a:schemeClr val="bg2">
              <a:tint val="95000"/>
              <a:satMod val="170000"/>
            </a:schemeClr>
          </a:fgClr>
          <a:bgClr>
            <a:schemeClr val="accent4">
              <a:lumMod val="60000"/>
              <a:lumOff val="40000"/>
            </a:schemeClr>
          </a:bgClr>
        </a:patt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92F9EC0C-6D7D-448A-9AB3-1F513268C2EE}"/>
              </a:ext>
            </a:extLst>
          </p:cNvPr>
          <p:cNvSpPr>
            <a:spLocks noGrp="1"/>
          </p:cNvSpPr>
          <p:nvPr>
            <p:ph type="subTitle" idx="4294967295"/>
          </p:nvPr>
        </p:nvSpPr>
        <p:spPr>
          <a:xfrm>
            <a:off x="1956408" y="4158543"/>
            <a:ext cx="8848725" cy="666750"/>
          </a:xfrm>
        </p:spPr>
        <p:txBody>
          <a:bodyPr>
            <a:noAutofit/>
          </a:bodyPr>
          <a:lstStyle/>
          <a:p>
            <a:pPr marL="0" indent="0" algn="ctr">
              <a:buNone/>
            </a:pPr>
            <a:r>
              <a:rPr lang="en-US" sz="2000" b="1" spc="144" dirty="0">
                <a:solidFill>
                  <a:schemeClr val="bg1"/>
                </a:solidFill>
                <a:highlight>
                  <a:srgbClr val="000080"/>
                </a:highlight>
                <a:latin typeface="Times New Roman" panose="02020603050405020304" pitchFamily="18" charset="0"/>
                <a:cs typeface="Times New Roman" panose="02020603050405020304" pitchFamily="18" charset="0"/>
              </a:rPr>
              <a:t>Paper Title : </a:t>
            </a:r>
            <a:r>
              <a:rPr lang="en-US" sz="2000" dirty="0">
                <a:solidFill>
                  <a:schemeClr val="bg1"/>
                </a:solidFill>
                <a:highlight>
                  <a:srgbClr val="000080"/>
                </a:highlight>
              </a:rPr>
              <a:t>Survey on real time wire-frame pothole detection system</a:t>
            </a:r>
            <a:endParaRPr lang="en-US" sz="2000" i="1" dirty="0">
              <a:solidFill>
                <a:schemeClr val="bg1"/>
              </a:solidFill>
              <a:highlight>
                <a:srgbClr val="000080"/>
              </a:highlight>
              <a:latin typeface="Times New Roman" panose="02020603050405020304" pitchFamily="18" charset="0"/>
              <a:cs typeface="Times New Roman" panose="02020603050405020304" pitchFamily="18" charset="0"/>
            </a:endParaRPr>
          </a:p>
        </p:txBody>
      </p:sp>
      <p:sp>
        <p:nvSpPr>
          <p:cNvPr id="20" name="TextBox 12">
            <a:extLst>
              <a:ext uri="{FF2B5EF4-FFF2-40B4-BE49-F238E27FC236}">
                <a16:creationId xmlns:a16="http://schemas.microsoft.com/office/drawing/2014/main" id="{888D88C6-4587-4696-A2DC-3E45C686C073}"/>
              </a:ext>
            </a:extLst>
          </p:cNvPr>
          <p:cNvSpPr txBox="1"/>
          <p:nvPr/>
        </p:nvSpPr>
        <p:spPr>
          <a:xfrm>
            <a:off x="9399001" y="4825294"/>
            <a:ext cx="2242721" cy="846386"/>
          </a:xfrm>
          <a:prstGeom prst="rect">
            <a:avLst/>
          </a:prstGeom>
        </p:spPr>
        <p:txBody>
          <a:bodyPr wrap="square" lIns="0" tIns="0" rIns="0" bIns="0" rtlCol="0" anchor="t">
            <a:spAutoFit/>
          </a:bodyPr>
          <a:lstStyle/>
          <a:p>
            <a:pPr algn="r"/>
            <a:r>
              <a:rPr lang="en-US" sz="1100" b="1" i="1" dirty="0">
                <a:solidFill>
                  <a:srgbClr val="000000"/>
                </a:solidFill>
                <a:latin typeface="Saira Medium"/>
              </a:rPr>
              <a:t>Presented by</a:t>
            </a:r>
          </a:p>
          <a:p>
            <a:pPr algn="r"/>
            <a:r>
              <a:rPr lang="en-US" sz="1100" dirty="0">
                <a:solidFill>
                  <a:srgbClr val="000000"/>
                </a:solidFill>
                <a:latin typeface="Times New Roman" panose="02020603050405020304" pitchFamily="18" charset="0"/>
                <a:cs typeface="Times New Roman" panose="02020603050405020304" pitchFamily="18" charset="0"/>
              </a:rPr>
              <a:t>Mr. Mohamed B Sirajuddeen</a:t>
            </a:r>
            <a:r>
              <a:rPr lang="en-US" sz="1100" i="1" dirty="0">
                <a:solidFill>
                  <a:srgbClr val="000000"/>
                </a:solidFill>
                <a:latin typeface="Saira Medium"/>
              </a:rPr>
              <a:t>,</a:t>
            </a:r>
          </a:p>
          <a:p>
            <a:pPr algn="r"/>
            <a:r>
              <a:rPr lang="en-US" sz="1100" i="1" dirty="0">
                <a:solidFill>
                  <a:srgbClr val="000000"/>
                </a:solidFill>
                <a:latin typeface="Saira Medium"/>
              </a:rPr>
              <a:t>Student - UG</a:t>
            </a:r>
          </a:p>
          <a:p>
            <a:pPr algn="r"/>
            <a:r>
              <a:rPr lang="en-US" sz="1100" i="1" dirty="0">
                <a:solidFill>
                  <a:srgbClr val="000000"/>
                </a:solidFill>
                <a:latin typeface="Saira Medium"/>
              </a:rPr>
              <a:t>RGCET,</a:t>
            </a:r>
          </a:p>
          <a:p>
            <a:pPr algn="r"/>
            <a:r>
              <a:rPr lang="en-US" sz="1100" i="1" dirty="0">
                <a:solidFill>
                  <a:srgbClr val="000000"/>
                </a:solidFill>
                <a:latin typeface="Saira Medium"/>
              </a:rPr>
              <a:t>Puducherry</a:t>
            </a:r>
          </a:p>
        </p:txBody>
      </p:sp>
      <p:sp>
        <p:nvSpPr>
          <p:cNvPr id="21" name="TextBox 13">
            <a:extLst>
              <a:ext uri="{FF2B5EF4-FFF2-40B4-BE49-F238E27FC236}">
                <a16:creationId xmlns:a16="http://schemas.microsoft.com/office/drawing/2014/main" id="{1B9DC2CD-1FDA-4098-8536-1028F4B1FD72}"/>
              </a:ext>
            </a:extLst>
          </p:cNvPr>
          <p:cNvSpPr txBox="1"/>
          <p:nvPr/>
        </p:nvSpPr>
        <p:spPr>
          <a:xfrm>
            <a:off x="98143" y="5248487"/>
            <a:ext cx="2630848" cy="923330"/>
          </a:xfrm>
          <a:prstGeom prst="rect">
            <a:avLst/>
          </a:prstGeom>
        </p:spPr>
        <p:txBody>
          <a:bodyPr wrap="square" lIns="0" tIns="0" rIns="0" bIns="0" rtlCol="0" anchor="t">
            <a:spAutoFit/>
          </a:bodyPr>
          <a:lstStyle/>
          <a:p>
            <a:pPr algn="r"/>
            <a:r>
              <a:rPr lang="en-US" sz="1200" u="sng" dirty="0">
                <a:solidFill>
                  <a:srgbClr val="000000"/>
                </a:solidFill>
                <a:latin typeface="Times New Roman" panose="02020603050405020304" pitchFamily="18" charset="0"/>
                <a:cs typeface="Times New Roman" panose="02020603050405020304" pitchFamily="18" charset="0"/>
              </a:rPr>
              <a:t>Authors Details</a:t>
            </a:r>
          </a:p>
          <a:p>
            <a:pPr algn="r"/>
            <a:r>
              <a:rPr lang="en-US" sz="1200" dirty="0">
                <a:solidFill>
                  <a:srgbClr val="000000"/>
                </a:solidFill>
                <a:latin typeface="Times New Roman" panose="02020603050405020304" pitchFamily="18" charset="0"/>
                <a:cs typeface="Times New Roman" panose="02020603050405020304" pitchFamily="18" charset="0"/>
              </a:rPr>
              <a:t>Dr. RG Suresh Kumar</a:t>
            </a:r>
          </a:p>
          <a:p>
            <a:pPr algn="r"/>
            <a:r>
              <a:rPr lang="en-US" sz="1200" dirty="0">
                <a:solidFill>
                  <a:srgbClr val="000000"/>
                </a:solidFill>
                <a:latin typeface="Times New Roman" panose="02020603050405020304" pitchFamily="18" charset="0"/>
                <a:cs typeface="Times New Roman" panose="02020603050405020304" pitchFamily="18" charset="0"/>
              </a:rPr>
              <a:t>Mr. Mohamed B Sirajuddeen</a:t>
            </a:r>
          </a:p>
          <a:p>
            <a:pPr algn="r"/>
            <a:r>
              <a:rPr lang="en-US" sz="1200" dirty="0">
                <a:solidFill>
                  <a:srgbClr val="000000"/>
                </a:solidFill>
                <a:latin typeface="Times New Roman" panose="02020603050405020304" pitchFamily="18" charset="0"/>
                <a:cs typeface="Times New Roman" panose="02020603050405020304" pitchFamily="18" charset="0"/>
              </a:rPr>
              <a:t>Professor &amp; </a:t>
            </a:r>
            <a:r>
              <a:rPr lang="en-US" sz="1200" dirty="0" err="1">
                <a:solidFill>
                  <a:srgbClr val="000000"/>
                </a:solidFill>
                <a:latin typeface="Times New Roman" panose="02020603050405020304" pitchFamily="18" charset="0"/>
                <a:cs typeface="Times New Roman" panose="02020603050405020304" pitchFamily="18" charset="0"/>
              </a:rPr>
              <a:t>HoD</a:t>
            </a:r>
            <a:r>
              <a:rPr lang="en-US" sz="1200" dirty="0">
                <a:solidFill>
                  <a:srgbClr val="000000"/>
                </a:solidFill>
                <a:latin typeface="Times New Roman" panose="02020603050405020304" pitchFamily="18" charset="0"/>
                <a:cs typeface="Times New Roman" panose="02020603050405020304" pitchFamily="18" charset="0"/>
              </a:rPr>
              <a:t> – RGCET, Puducherry</a:t>
            </a:r>
          </a:p>
          <a:p>
            <a:pPr algn="r"/>
            <a:r>
              <a:rPr lang="en-US" sz="1200" dirty="0">
                <a:solidFill>
                  <a:srgbClr val="000000"/>
                </a:solidFill>
                <a:latin typeface="Times New Roman" panose="02020603050405020304" pitchFamily="18" charset="0"/>
                <a:cs typeface="Times New Roman" panose="02020603050405020304" pitchFamily="18" charset="0"/>
              </a:rPr>
              <a:t>Student – UG RGCET, Puducherry</a:t>
            </a:r>
          </a:p>
        </p:txBody>
      </p:sp>
      <p:sp>
        <p:nvSpPr>
          <p:cNvPr id="5" name="TextBox 12">
            <a:extLst>
              <a:ext uri="{FF2B5EF4-FFF2-40B4-BE49-F238E27FC236}">
                <a16:creationId xmlns:a16="http://schemas.microsoft.com/office/drawing/2014/main" id="{954E01FF-D846-4D6E-8224-E40DAFD3EB29}"/>
              </a:ext>
            </a:extLst>
          </p:cNvPr>
          <p:cNvSpPr txBox="1"/>
          <p:nvPr/>
        </p:nvSpPr>
        <p:spPr>
          <a:xfrm>
            <a:off x="3564385" y="4579072"/>
            <a:ext cx="5063230" cy="492443"/>
          </a:xfrm>
          <a:prstGeom prst="rect">
            <a:avLst/>
          </a:prstGeom>
        </p:spPr>
        <p:txBody>
          <a:bodyPr wrap="square" lIns="0" tIns="0" rIns="0" bIns="0" rtlCol="0" anchor="t">
            <a:spAutoFit/>
          </a:bodyPr>
          <a:lstStyle/>
          <a:p>
            <a:r>
              <a:rPr lang="en-US" sz="1600" b="1" i="1" dirty="0">
                <a:solidFill>
                  <a:srgbClr val="000000"/>
                </a:solidFill>
                <a:latin typeface="Times New Roman" panose="02020603050405020304" pitchFamily="18" charset="0"/>
                <a:cs typeface="Times New Roman" panose="02020603050405020304" pitchFamily="18" charset="0"/>
              </a:rPr>
              <a:t>Paper Id </a:t>
            </a:r>
            <a:r>
              <a:rPr lang="en-US" sz="1600" i="1" dirty="0">
                <a:solidFill>
                  <a:srgbClr val="000000"/>
                </a:solidFill>
                <a:latin typeface="Times New Roman" panose="02020603050405020304" pitchFamily="18" charset="0"/>
                <a:cs typeface="Times New Roman" panose="02020603050405020304" pitchFamily="18" charset="0"/>
              </a:rPr>
              <a:t>: 2602051</a:t>
            </a:r>
          </a:p>
          <a:p>
            <a:r>
              <a:rPr lang="en-US" sz="1600" b="1" i="1" dirty="0">
                <a:solidFill>
                  <a:srgbClr val="000000"/>
                </a:solidFill>
                <a:latin typeface="Times New Roman" panose="02020603050405020304" pitchFamily="18" charset="0"/>
                <a:cs typeface="Times New Roman" panose="02020603050405020304" pitchFamily="18" charset="0"/>
              </a:rPr>
              <a:t>Presenter Category : </a:t>
            </a:r>
            <a:r>
              <a:rPr lang="en-US" sz="1600" i="1" dirty="0">
                <a:solidFill>
                  <a:srgbClr val="000000"/>
                </a:solidFill>
                <a:latin typeface="Times New Roman" panose="02020603050405020304" pitchFamily="18" charset="0"/>
                <a:cs typeface="Times New Roman" panose="02020603050405020304" pitchFamily="18" charset="0"/>
              </a:rPr>
              <a:t>UG</a:t>
            </a:r>
          </a:p>
        </p:txBody>
      </p:sp>
    </p:spTree>
    <p:extLst>
      <p:ext uri="{BB962C8B-B14F-4D97-AF65-F5344CB8AC3E}">
        <p14:creationId xmlns:p14="http://schemas.microsoft.com/office/powerpoint/2010/main" val="40377756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114F41-0F26-47D5-87BD-7089045E77E3}"/>
              </a:ext>
            </a:extLst>
          </p:cNvPr>
          <p:cNvSpPr>
            <a:spLocks noGrp="1"/>
          </p:cNvSpPr>
          <p:nvPr>
            <p:ph type="title"/>
          </p:nvPr>
        </p:nvSpPr>
        <p:spPr>
          <a:xfrm>
            <a:off x="804672" y="2023236"/>
            <a:ext cx="3853053" cy="2820908"/>
          </a:xfrm>
        </p:spPr>
        <p:txBody>
          <a:bodyPr>
            <a:normAutofit/>
          </a:bodyPr>
          <a:lstStyle/>
          <a:p>
            <a:r>
              <a:rPr lang="en-US" sz="4000" spc="107" dirty="0">
                <a:solidFill>
                  <a:schemeClr val="tx2"/>
                </a:solidFill>
                <a:latin typeface="Times New Roman" panose="02020603050405020304" pitchFamily="18" charset="0"/>
                <a:cs typeface="Times New Roman" panose="02020603050405020304" pitchFamily="18" charset="0"/>
              </a:rPr>
              <a:t>KEY TALKING POINTS</a:t>
            </a:r>
            <a:endParaRPr lang="en-US" sz="4000" dirty="0">
              <a:solidFill>
                <a:schemeClr val="tx2"/>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FA42E2F-A66E-40B9-BEC2-72EF0BCAD9A2}"/>
              </a:ext>
            </a:extLst>
          </p:cNvPr>
          <p:cNvSpPr>
            <a:spLocks noGrp="1"/>
          </p:cNvSpPr>
          <p:nvPr>
            <p:ph idx="1"/>
          </p:nvPr>
        </p:nvSpPr>
        <p:spPr>
          <a:xfrm>
            <a:off x="6271558" y="2034383"/>
            <a:ext cx="4935171" cy="3070952"/>
          </a:xfrm>
        </p:spPr>
        <p:txBody>
          <a:bodyPr>
            <a:normAutofit/>
          </a:bodyPr>
          <a:lstStyle/>
          <a:p>
            <a:pPr marL="160020" indent="-160020" defTabSz="640080">
              <a:lnSpc>
                <a:spcPct val="110000"/>
              </a:lnSpc>
              <a:spcBef>
                <a:spcPts val="700"/>
              </a:spcBef>
            </a:pPr>
            <a:r>
              <a:rPr lang="en-US" sz="1960" kern="1200" spc="22" dirty="0">
                <a:solidFill>
                  <a:schemeClr val="tx1"/>
                </a:solidFill>
                <a:latin typeface="Times New Roman" panose="02020603050405020304" pitchFamily="18" charset="0"/>
                <a:ea typeface="+mn-ea"/>
                <a:cs typeface="Times New Roman" panose="02020603050405020304" pitchFamily="18" charset="0"/>
              </a:rPr>
              <a:t>Abstract</a:t>
            </a:r>
          </a:p>
          <a:p>
            <a:pPr marL="160020" indent="-160020" defTabSz="640080">
              <a:lnSpc>
                <a:spcPct val="110000"/>
              </a:lnSpc>
              <a:spcBef>
                <a:spcPts val="700"/>
              </a:spcBef>
            </a:pPr>
            <a:r>
              <a:rPr lang="en-US" sz="1960" kern="1200" dirty="0">
                <a:solidFill>
                  <a:schemeClr val="tx1"/>
                </a:solidFill>
                <a:latin typeface="Times New Roman" panose="02020603050405020304" pitchFamily="18" charset="0"/>
                <a:ea typeface="+mn-ea"/>
                <a:cs typeface="Times New Roman" panose="02020603050405020304" pitchFamily="18" charset="0"/>
              </a:rPr>
              <a:t>I</a:t>
            </a:r>
            <a:r>
              <a:rPr lang="en-US" sz="1960" kern="1200" spc="22" dirty="0">
                <a:solidFill>
                  <a:schemeClr val="tx1"/>
                </a:solidFill>
                <a:latin typeface="Times New Roman" panose="02020603050405020304" pitchFamily="18" charset="0"/>
                <a:ea typeface="+mn-ea"/>
                <a:cs typeface="Times New Roman" panose="02020603050405020304" pitchFamily="18" charset="0"/>
              </a:rPr>
              <a:t>ntroduction</a:t>
            </a:r>
          </a:p>
          <a:p>
            <a:pPr marL="160020" indent="-160020" defTabSz="640080">
              <a:lnSpc>
                <a:spcPct val="110000"/>
              </a:lnSpc>
              <a:spcBef>
                <a:spcPts val="700"/>
              </a:spcBef>
            </a:pPr>
            <a:r>
              <a:rPr lang="en-US" sz="1960" kern="1200" spc="22" dirty="0">
                <a:solidFill>
                  <a:schemeClr val="tx1"/>
                </a:solidFill>
                <a:latin typeface="Times New Roman" panose="02020603050405020304" pitchFamily="18" charset="0"/>
                <a:ea typeface="+mn-ea"/>
                <a:cs typeface="Times New Roman" panose="02020603050405020304" pitchFamily="18" charset="0"/>
              </a:rPr>
              <a:t>Literature Review</a:t>
            </a:r>
          </a:p>
          <a:p>
            <a:pPr marL="160020" indent="-160020" defTabSz="640080">
              <a:lnSpc>
                <a:spcPct val="110000"/>
              </a:lnSpc>
              <a:spcBef>
                <a:spcPts val="700"/>
              </a:spcBef>
            </a:pPr>
            <a:r>
              <a:rPr lang="en-US" sz="1960" kern="1200" spc="22" dirty="0">
                <a:solidFill>
                  <a:schemeClr val="tx1"/>
                </a:solidFill>
                <a:latin typeface="Times New Roman" panose="02020603050405020304" pitchFamily="18" charset="0"/>
                <a:ea typeface="+mn-ea"/>
                <a:cs typeface="Times New Roman" panose="02020603050405020304" pitchFamily="18" charset="0"/>
              </a:rPr>
              <a:t>Survey Methodology</a:t>
            </a:r>
          </a:p>
          <a:p>
            <a:pPr marL="160020" indent="-160020" defTabSz="640080">
              <a:lnSpc>
                <a:spcPct val="110000"/>
              </a:lnSpc>
              <a:spcBef>
                <a:spcPts val="700"/>
              </a:spcBef>
            </a:pPr>
            <a:r>
              <a:rPr lang="en-US" sz="1960" kern="1200" spc="22" dirty="0">
                <a:solidFill>
                  <a:schemeClr val="tx1"/>
                </a:solidFill>
                <a:latin typeface="Times New Roman" panose="02020603050405020304" pitchFamily="18" charset="0"/>
                <a:ea typeface="+mn-ea"/>
                <a:cs typeface="Times New Roman" panose="02020603050405020304" pitchFamily="18" charset="0"/>
              </a:rPr>
              <a:t>Results &amp; Discussion</a:t>
            </a:r>
          </a:p>
          <a:p>
            <a:pPr marL="160020" indent="-160020" defTabSz="640080">
              <a:lnSpc>
                <a:spcPct val="110000"/>
              </a:lnSpc>
              <a:spcBef>
                <a:spcPts val="700"/>
              </a:spcBef>
            </a:pPr>
            <a:r>
              <a:rPr lang="en-US" sz="1960" kern="1200" spc="22" dirty="0">
                <a:solidFill>
                  <a:schemeClr val="tx1"/>
                </a:solidFill>
                <a:latin typeface="Times New Roman" panose="02020603050405020304" pitchFamily="18" charset="0"/>
                <a:ea typeface="+mn-ea"/>
                <a:cs typeface="Times New Roman" panose="02020603050405020304" pitchFamily="18" charset="0"/>
              </a:rPr>
              <a:t>Conclusion</a:t>
            </a:r>
          </a:p>
          <a:p>
            <a:pPr>
              <a:lnSpc>
                <a:spcPct val="110000"/>
              </a:lnSpc>
            </a:pPr>
            <a:endParaRPr lang="en-US" dirty="0"/>
          </a:p>
        </p:txBody>
      </p:sp>
      <p:sp>
        <p:nvSpPr>
          <p:cNvPr id="4" name="Footer Placeholder 3">
            <a:extLst>
              <a:ext uri="{FF2B5EF4-FFF2-40B4-BE49-F238E27FC236}">
                <a16:creationId xmlns:a16="http://schemas.microsoft.com/office/drawing/2014/main" id="{25EF9455-A8B4-C4A0-4D7C-91BF6E8C9EB8}"/>
              </a:ext>
            </a:extLst>
          </p:cNvPr>
          <p:cNvSpPr>
            <a:spLocks noGrp="1"/>
          </p:cNvSpPr>
          <p:nvPr>
            <p:ph type="ftr" sz="quarter" idx="11"/>
          </p:nvPr>
        </p:nvSpPr>
        <p:spPr>
          <a:xfrm>
            <a:off x="3616956" y="6311591"/>
            <a:ext cx="4088536" cy="307212"/>
          </a:xfrm>
        </p:spPr>
        <p:txBody>
          <a:bodyPr/>
          <a:lstStyle/>
          <a:p>
            <a:pPr defTabSz="640080">
              <a:spcAft>
                <a:spcPts val="600"/>
              </a:spcAft>
            </a:pPr>
            <a:r>
              <a:rPr lang="en-US" kern="1200" dirty="0">
                <a:solidFill>
                  <a:schemeClr val="tx1">
                    <a:tint val="75000"/>
                  </a:schemeClr>
                </a:solidFill>
              </a:rPr>
              <a:t>Paper ID : 2602051     Category : UG</a:t>
            </a:r>
            <a:endParaRPr lang="en-US" dirty="0"/>
          </a:p>
        </p:txBody>
      </p:sp>
      <p:sp>
        <p:nvSpPr>
          <p:cNvPr id="6" name="TextBox 5">
            <a:extLst>
              <a:ext uri="{FF2B5EF4-FFF2-40B4-BE49-F238E27FC236}">
                <a16:creationId xmlns:a16="http://schemas.microsoft.com/office/drawing/2014/main" id="{C6D70224-9988-42E6-AA0F-479BE75D3D08}"/>
              </a:ext>
            </a:extLst>
          </p:cNvPr>
          <p:cNvSpPr txBox="1"/>
          <p:nvPr/>
        </p:nvSpPr>
        <p:spPr>
          <a:xfrm>
            <a:off x="6091238" y="1382179"/>
            <a:ext cx="4003570" cy="710323"/>
          </a:xfrm>
          <a:prstGeom prst="rect">
            <a:avLst/>
          </a:prstGeom>
          <a:noFill/>
        </p:spPr>
        <p:txBody>
          <a:bodyPr wrap="square">
            <a:spAutoFit/>
          </a:bodyPr>
          <a:lstStyle/>
          <a:p>
            <a:pPr defTabSz="640080">
              <a:lnSpc>
                <a:spcPts val="5880"/>
              </a:lnSpc>
              <a:spcAft>
                <a:spcPts val="600"/>
              </a:spcAft>
            </a:pPr>
            <a:r>
              <a:rPr lang="en-US" sz="1680" b="1" kern="1200" spc="147" dirty="0">
                <a:solidFill>
                  <a:srgbClr val="49403C"/>
                </a:solidFill>
                <a:latin typeface="Times New Roman" panose="02020603050405020304" pitchFamily="18" charset="0"/>
                <a:ea typeface="+mn-ea"/>
                <a:cs typeface="Times New Roman" panose="02020603050405020304" pitchFamily="18" charset="0"/>
              </a:rPr>
              <a:t>PRESENTATION FRAMEWORK</a:t>
            </a:r>
            <a:endParaRPr lang="en-US" sz="2400" b="1" spc="210" dirty="0">
              <a:solidFill>
                <a:srgbClr val="49403C"/>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374088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90FCDB-9521-4DB5-AA7A-906571676EF2}"/>
              </a:ext>
            </a:extLst>
          </p:cNvPr>
          <p:cNvSpPr>
            <a:spLocks noGrp="1"/>
          </p:cNvSpPr>
          <p:nvPr>
            <p:ph type="title"/>
          </p:nvPr>
        </p:nvSpPr>
        <p:spPr>
          <a:xfrm>
            <a:off x="1719368" y="516318"/>
            <a:ext cx="4358951" cy="1325563"/>
          </a:xfrm>
        </p:spPr>
        <p:txBody>
          <a:bodyPr>
            <a:normAutofit/>
          </a:bodyPr>
          <a:lstStyle/>
          <a:p>
            <a:r>
              <a:rPr lang="en-US" sz="2800" spc="210" dirty="0">
                <a:latin typeface="Times New Roman" panose="02020603050405020304" pitchFamily="18" charset="0"/>
                <a:cs typeface="Times New Roman" panose="02020603050405020304" pitchFamily="18" charset="0"/>
              </a:rPr>
              <a:t>ABSTRACT</a:t>
            </a:r>
            <a:endParaRPr lang="en-US" sz="28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A14D6ED-3897-4237-8833-4CB129AB50D3}"/>
              </a:ext>
            </a:extLst>
          </p:cNvPr>
          <p:cNvSpPr>
            <a:spLocks noGrp="1"/>
          </p:cNvSpPr>
          <p:nvPr>
            <p:ph idx="1"/>
          </p:nvPr>
        </p:nvSpPr>
        <p:spPr>
          <a:xfrm>
            <a:off x="838200" y="1929384"/>
            <a:ext cx="10515600" cy="4251960"/>
          </a:xfrm>
        </p:spPr>
        <p:txBody>
          <a:bodyPr>
            <a:normAutofit/>
          </a:bodyPr>
          <a:lstStyle/>
          <a:p>
            <a:pPr marL="0" indent="0" algn="just">
              <a:buNone/>
            </a:pPr>
            <a:r>
              <a:rPr lang="en-US" sz="1600" dirty="0">
                <a:latin typeface="Times New Roman" panose="02020603050405020304" pitchFamily="18" charset="0"/>
                <a:cs typeface="Times New Roman" panose="02020603050405020304" pitchFamily="18" charset="0"/>
              </a:rPr>
              <a:t>Road surface irregularities such as potholes pose significant risks to vehicle safety, passenger comfort, and traffic efficiency. With the advancement of autonomous vehicles and smart transportation systems, accurate real-time road condition analysis has become essential. Recent approaches leverage computer vision and deep learning to automate pothole detection using camera-based image analysis, replacing traditional manual inspection and sensor-based methods.</a:t>
            </a:r>
          </a:p>
          <a:p>
            <a:pPr marL="0" indent="0" algn="just">
              <a:buNone/>
            </a:pPr>
            <a:r>
              <a:rPr lang="en-US" sz="1600" dirty="0">
                <a:latin typeface="Times New Roman" panose="02020603050405020304" pitchFamily="18" charset="0"/>
                <a:cs typeface="Times New Roman" panose="02020603050405020304" pitchFamily="18" charset="0"/>
              </a:rPr>
              <a:t>However, most existing systems rely on two-dimensional bounding box detection or simple classification, which lack structural depth and geometric understanding of surface irregularities. This survey analyzes current CNN-based detection, segmentation, and sensor-fusion approaches, highlighting their strengths and limitations in real-time deployment. Based on the identified research gaps, this work proposes a Real-Time Wireframe Pothole Detection framework that integrates monocular depth estimation with three-dimensional wireframe modeling to provide precise structural analysis for autonomous navigation and enhanced road safety.</a:t>
            </a:r>
          </a:p>
        </p:txBody>
      </p:sp>
      <p:sp>
        <p:nvSpPr>
          <p:cNvPr id="5" name="Footer Placeholder 3">
            <a:extLst>
              <a:ext uri="{FF2B5EF4-FFF2-40B4-BE49-F238E27FC236}">
                <a16:creationId xmlns:a16="http://schemas.microsoft.com/office/drawing/2014/main" id="{DB799BBF-1FC1-462A-2C46-FBEEE457C7B4}"/>
              </a:ext>
            </a:extLst>
          </p:cNvPr>
          <p:cNvSpPr txBox="1">
            <a:spLocks/>
          </p:cNvSpPr>
          <p:nvPr/>
        </p:nvSpPr>
        <p:spPr>
          <a:xfrm>
            <a:off x="3616956" y="6311591"/>
            <a:ext cx="4088536" cy="307212"/>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640080">
              <a:spcAft>
                <a:spcPts val="600"/>
              </a:spcAft>
            </a:pPr>
            <a:r>
              <a:rPr lang="en-US"/>
              <a:t>Paper ID : 2602051     Category : UG</a:t>
            </a:r>
            <a:endParaRPr lang="en-US" dirty="0"/>
          </a:p>
        </p:txBody>
      </p:sp>
    </p:spTree>
    <p:extLst>
      <p:ext uri="{BB962C8B-B14F-4D97-AF65-F5344CB8AC3E}">
        <p14:creationId xmlns:p14="http://schemas.microsoft.com/office/powerpoint/2010/main" val="13972588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461A83-0B67-9037-5D54-6682B85A9472}"/>
              </a:ext>
            </a:extLst>
          </p:cNvPr>
          <p:cNvSpPr>
            <a:spLocks noGrp="1"/>
          </p:cNvSpPr>
          <p:nvPr>
            <p:ph type="title"/>
          </p:nvPr>
        </p:nvSpPr>
        <p:spPr>
          <a:xfrm>
            <a:off x="1676400" y="466725"/>
            <a:ext cx="10515600" cy="981716"/>
          </a:xfrm>
        </p:spPr>
        <p:txBody>
          <a:bodyPr>
            <a:normAutofit/>
          </a:bodyPr>
          <a:lstStyle/>
          <a:p>
            <a:r>
              <a:rPr lang="en-US" sz="2800" dirty="0">
                <a:latin typeface="Times New Roman" panose="02020603050405020304" pitchFamily="18" charset="0"/>
                <a:cs typeface="Times New Roman" panose="02020603050405020304" pitchFamily="18" charset="0"/>
              </a:rPr>
              <a:t>OUTLINE OF ABSTRACT</a:t>
            </a:r>
            <a:endParaRPr lang="en-IN" sz="2800" dirty="0">
              <a:latin typeface="Times New Roman" panose="02020603050405020304" pitchFamily="18" charset="0"/>
              <a:cs typeface="Times New Roman" panose="02020603050405020304" pitchFamily="18" charset="0"/>
            </a:endParaRPr>
          </a:p>
        </p:txBody>
      </p:sp>
      <p:sp>
        <p:nvSpPr>
          <p:cNvPr id="3" name="Footer Placeholder 3">
            <a:extLst>
              <a:ext uri="{FF2B5EF4-FFF2-40B4-BE49-F238E27FC236}">
                <a16:creationId xmlns:a16="http://schemas.microsoft.com/office/drawing/2014/main" id="{A77C6862-A3D5-34B9-D31C-7A7D8ECB3CFF}"/>
              </a:ext>
            </a:extLst>
          </p:cNvPr>
          <p:cNvSpPr txBox="1">
            <a:spLocks/>
          </p:cNvSpPr>
          <p:nvPr/>
        </p:nvSpPr>
        <p:spPr>
          <a:xfrm>
            <a:off x="3616956" y="6311591"/>
            <a:ext cx="4088536" cy="307212"/>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640080">
              <a:spcAft>
                <a:spcPts val="600"/>
              </a:spcAft>
            </a:pPr>
            <a:r>
              <a:rPr lang="en-US"/>
              <a:t>Paper ID : 2602051     Category : UG</a:t>
            </a:r>
            <a:endParaRPr lang="en-US" dirty="0"/>
          </a:p>
        </p:txBody>
      </p:sp>
      <p:sp>
        <p:nvSpPr>
          <p:cNvPr id="7" name="Content Placeholder 6">
            <a:extLst>
              <a:ext uri="{FF2B5EF4-FFF2-40B4-BE49-F238E27FC236}">
                <a16:creationId xmlns:a16="http://schemas.microsoft.com/office/drawing/2014/main" id="{C6FAB1F1-C645-95AB-AEF9-2FD87EBDA4B0}"/>
              </a:ext>
            </a:extLst>
          </p:cNvPr>
          <p:cNvSpPr>
            <a:spLocks noGrp="1"/>
          </p:cNvSpPr>
          <p:nvPr>
            <p:ph idx="1"/>
          </p:nvPr>
        </p:nvSpPr>
        <p:spPr>
          <a:xfrm>
            <a:off x="485777" y="1819764"/>
            <a:ext cx="10515600" cy="3923811"/>
          </a:xfrm>
        </p:spPr>
        <p:txBody>
          <a:bodyPr numCol="2">
            <a:normAutofit fontScale="62500" lnSpcReduction="20000"/>
          </a:bodyPr>
          <a:lstStyle/>
          <a:p>
            <a:pPr marL="514350" indent="0" algn="just">
              <a:buNone/>
            </a:pPr>
            <a:r>
              <a:rPr lang="en-US" b="1" dirty="0">
                <a:latin typeface="Times New Roman" panose="02020603050405020304" pitchFamily="18" charset="0"/>
                <a:cs typeface="Times New Roman" panose="02020603050405020304" pitchFamily="18" charset="0"/>
              </a:rPr>
              <a:t>➤ Problem:</a:t>
            </a:r>
          </a:p>
          <a:p>
            <a:pPr marL="514350" indent="0" algn="just">
              <a:buNone/>
            </a:pPr>
            <a:r>
              <a:rPr lang="en-US" dirty="0">
                <a:latin typeface="Times New Roman" panose="02020603050405020304" pitchFamily="18" charset="0"/>
                <a:cs typeface="Times New Roman" panose="02020603050405020304" pitchFamily="18" charset="0"/>
              </a:rPr>
              <a:t>Road surface irregularities such as potholes pose serious risks to vehicle safety, traffic efficiency, and autonomous navigation. Existing detection systems mainly provide 2D bounding-box outputs without structural depth understanding.</a:t>
            </a:r>
          </a:p>
          <a:p>
            <a:pPr marL="514350" indent="0" algn="just">
              <a:buNone/>
            </a:pPr>
            <a:endParaRPr lang="en-US" b="1" dirty="0">
              <a:latin typeface="Times New Roman" panose="02020603050405020304" pitchFamily="18" charset="0"/>
              <a:cs typeface="Times New Roman" panose="02020603050405020304" pitchFamily="18" charset="0"/>
            </a:endParaRPr>
          </a:p>
          <a:p>
            <a:pPr marL="514350" indent="0" algn="just">
              <a:buNone/>
            </a:pPr>
            <a:r>
              <a:rPr lang="en-US" b="1" dirty="0">
                <a:latin typeface="Times New Roman" panose="02020603050405020304" pitchFamily="18" charset="0"/>
                <a:cs typeface="Times New Roman" panose="02020603050405020304" pitchFamily="18" charset="0"/>
              </a:rPr>
              <a:t>➤ Scope:</a:t>
            </a:r>
          </a:p>
          <a:p>
            <a:pPr marL="514350" indent="0" algn="just">
              <a:buNone/>
            </a:pPr>
            <a:r>
              <a:rPr lang="en-US" dirty="0">
                <a:latin typeface="Times New Roman" panose="02020603050405020304" pitchFamily="18" charset="0"/>
                <a:cs typeface="Times New Roman" panose="02020603050405020304" pitchFamily="18" charset="0"/>
              </a:rPr>
              <a:t>To analyze and compare current pothole detection approaches including CNN-based object detection, semantic segmentation, LiDAR fusion, and RGB-D reconstruction methods under real-time constraints.</a:t>
            </a:r>
            <a:endParaRPr lang="en-US" b="1" dirty="0">
              <a:latin typeface="Times New Roman" panose="02020603050405020304" pitchFamily="18" charset="0"/>
              <a:cs typeface="Times New Roman" panose="02020603050405020304" pitchFamily="18" charset="0"/>
            </a:endParaRPr>
          </a:p>
          <a:p>
            <a:pPr marL="514350" indent="0" algn="just">
              <a:buNone/>
            </a:pPr>
            <a:endParaRPr lang="en-US" b="1" dirty="0">
              <a:latin typeface="Times New Roman" panose="02020603050405020304" pitchFamily="18" charset="0"/>
              <a:cs typeface="Times New Roman" panose="02020603050405020304" pitchFamily="18" charset="0"/>
            </a:endParaRPr>
          </a:p>
          <a:p>
            <a:pPr marL="514350" indent="0" algn="just">
              <a:buNone/>
            </a:pPr>
            <a:endParaRPr lang="en-US" b="1" dirty="0">
              <a:latin typeface="Times New Roman" panose="02020603050405020304" pitchFamily="18" charset="0"/>
              <a:cs typeface="Times New Roman" panose="02020603050405020304" pitchFamily="18" charset="0"/>
            </a:endParaRPr>
          </a:p>
          <a:p>
            <a:pPr marL="514350" indent="0" algn="just">
              <a:buNone/>
            </a:pPr>
            <a:r>
              <a:rPr lang="en-US" b="1" dirty="0">
                <a:latin typeface="Times New Roman" panose="02020603050405020304" pitchFamily="18" charset="0"/>
                <a:cs typeface="Times New Roman" panose="02020603050405020304" pitchFamily="18" charset="0"/>
              </a:rPr>
              <a:t>➤ Strategy:</a:t>
            </a:r>
          </a:p>
          <a:p>
            <a:pPr marL="514350" indent="0" algn="just">
              <a:buNone/>
            </a:pPr>
            <a:r>
              <a:rPr lang="en-US" dirty="0">
                <a:latin typeface="Times New Roman" panose="02020603050405020304" pitchFamily="18" charset="0"/>
                <a:cs typeface="Times New Roman" panose="02020603050405020304" pitchFamily="18" charset="0"/>
              </a:rPr>
              <a:t>Categorize existing systems based on:</a:t>
            </a:r>
          </a:p>
          <a:p>
            <a:pPr marL="514350" indent="0" algn="just">
              <a:buNone/>
            </a:pPr>
            <a:r>
              <a:rPr lang="en-US" dirty="0">
                <a:latin typeface="Times New Roman" panose="02020603050405020304" pitchFamily="18" charset="0"/>
                <a:cs typeface="Times New Roman" panose="02020603050405020304" pitchFamily="18" charset="0"/>
              </a:rPr>
              <a:t>Detection architecture (R-CNN, YOLO)</a:t>
            </a:r>
          </a:p>
          <a:p>
            <a:pPr marL="514350" indent="0" algn="just">
              <a:buNone/>
            </a:pPr>
            <a:r>
              <a:rPr lang="en-US" dirty="0">
                <a:latin typeface="Times New Roman" panose="02020603050405020304" pitchFamily="18" charset="0"/>
                <a:cs typeface="Times New Roman" panose="02020603050405020304" pitchFamily="18" charset="0"/>
              </a:rPr>
              <a:t>Structural capability (2D vs 3D)</a:t>
            </a:r>
          </a:p>
          <a:p>
            <a:pPr marL="514350" indent="0" algn="just">
              <a:buNone/>
            </a:pPr>
            <a:r>
              <a:rPr lang="en-US" dirty="0">
                <a:latin typeface="Times New Roman" panose="02020603050405020304" pitchFamily="18" charset="0"/>
                <a:cs typeface="Times New Roman" panose="02020603050405020304" pitchFamily="18" charset="0"/>
              </a:rPr>
              <a:t>Real-time performance (FPS)</a:t>
            </a:r>
          </a:p>
          <a:p>
            <a:pPr marL="514350" indent="0" algn="just">
              <a:buNone/>
            </a:pPr>
            <a:r>
              <a:rPr lang="en-US" dirty="0">
                <a:latin typeface="Times New Roman" panose="02020603050405020304" pitchFamily="18" charset="0"/>
                <a:cs typeface="Times New Roman" panose="02020603050405020304" pitchFamily="18" charset="0"/>
              </a:rPr>
              <a:t>Hardware dependency (Camera vs LiDAR)</a:t>
            </a:r>
          </a:p>
          <a:p>
            <a:pPr marL="514350" indent="0" algn="just">
              <a:buNone/>
            </a:pPr>
            <a:endParaRPr lang="en-US" b="1" dirty="0">
              <a:latin typeface="Times New Roman" panose="02020603050405020304" pitchFamily="18" charset="0"/>
              <a:cs typeface="Times New Roman" panose="02020603050405020304" pitchFamily="18" charset="0"/>
            </a:endParaRPr>
          </a:p>
          <a:p>
            <a:pPr marL="514350" indent="0" algn="just">
              <a:buNone/>
            </a:pPr>
            <a:r>
              <a:rPr lang="en-US" b="1" dirty="0">
                <a:latin typeface="Times New Roman" panose="02020603050405020304" pitchFamily="18" charset="0"/>
                <a:cs typeface="Times New Roman" panose="02020603050405020304" pitchFamily="18" charset="0"/>
              </a:rPr>
              <a:t>➤ Plan:</a:t>
            </a:r>
          </a:p>
          <a:p>
            <a:pPr marL="514350" indent="0" algn="just">
              <a:buNone/>
            </a:pPr>
            <a:r>
              <a:rPr lang="en-US" dirty="0">
                <a:latin typeface="Times New Roman" panose="02020603050405020304" pitchFamily="18" charset="0"/>
                <a:cs typeface="Times New Roman" panose="02020603050405020304" pitchFamily="18" charset="0"/>
              </a:rPr>
              <a:t>Evaluate the strengths and limitations of current methods and identify the research gap in lightweight, camera-only geometric modeling for autonomous vehicle applications.</a:t>
            </a:r>
          </a:p>
          <a:p>
            <a:pPr marL="514350" indent="0" algn="just"/>
            <a:endParaRPr lang="en-US" dirty="0"/>
          </a:p>
        </p:txBody>
      </p:sp>
    </p:spTree>
    <p:extLst>
      <p:ext uri="{BB962C8B-B14F-4D97-AF65-F5344CB8AC3E}">
        <p14:creationId xmlns:p14="http://schemas.microsoft.com/office/powerpoint/2010/main" val="41056930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90FCDB-9521-4DB5-AA7A-906571676EF2}"/>
              </a:ext>
            </a:extLst>
          </p:cNvPr>
          <p:cNvSpPr>
            <a:spLocks noGrp="1"/>
          </p:cNvSpPr>
          <p:nvPr>
            <p:ph type="title"/>
          </p:nvPr>
        </p:nvSpPr>
        <p:spPr>
          <a:xfrm>
            <a:off x="640080" y="1243013"/>
            <a:ext cx="2522220" cy="4371974"/>
          </a:xfrm>
        </p:spPr>
        <p:txBody>
          <a:bodyPr>
            <a:normAutofit/>
          </a:bodyPr>
          <a:lstStyle/>
          <a:p>
            <a:r>
              <a:rPr lang="en-US" sz="2000" spc="210" dirty="0">
                <a:latin typeface="Times New Roman" panose="02020603050405020304" pitchFamily="18" charset="0"/>
                <a:cs typeface="Times New Roman" panose="02020603050405020304" pitchFamily="18" charset="0"/>
              </a:rPr>
              <a:t>INTRODUCTION</a:t>
            </a:r>
            <a:endParaRPr lang="en-US" sz="2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A14D6ED-3897-4237-8833-4CB129AB50D3}"/>
              </a:ext>
            </a:extLst>
          </p:cNvPr>
          <p:cNvSpPr>
            <a:spLocks noGrp="1"/>
          </p:cNvSpPr>
          <p:nvPr>
            <p:ph idx="1"/>
          </p:nvPr>
        </p:nvSpPr>
        <p:spPr>
          <a:xfrm>
            <a:off x="3474720" y="804672"/>
            <a:ext cx="7406640" cy="5230368"/>
          </a:xfrm>
        </p:spPr>
        <p:txBody>
          <a:bodyPr anchor="ctr">
            <a:normAutofit fontScale="92500" lnSpcReduction="10000"/>
          </a:bodyPr>
          <a:lstStyle/>
          <a:p>
            <a:pPr marL="0" indent="0" algn="just">
              <a:lnSpc>
                <a:spcPct val="100000"/>
              </a:lnSpc>
              <a:buNone/>
            </a:pPr>
            <a:r>
              <a:rPr lang="en-US" sz="1600" dirty="0">
                <a:latin typeface="Times New Roman" panose="02020603050405020304" pitchFamily="18" charset="0"/>
                <a:cs typeface="Times New Roman" panose="02020603050405020304" pitchFamily="18" charset="0"/>
              </a:rPr>
              <a:t>Road surface irregularities such as potholes remain a persistent challenge in transportation systems, significantly affecting vehicle safety, passenger comfort, traffic efficiency, and infrastructure maintenance costs. In recent years, the rapid development of Intelligent Transport Systems (ITS), smart city infrastructure, and autonomous vehicles has increased the demand for reliable and real-time road condition monitoring systems. Accurate detection and analysis of road surface damage are no longer limited to maintenance planning; they are now critical components of advanced driver assistance and autonomous navigation systems.</a:t>
            </a:r>
          </a:p>
          <a:p>
            <a:pPr marL="0" indent="0" algn="just">
              <a:lnSpc>
                <a:spcPct val="100000"/>
              </a:lnSpc>
              <a:buNone/>
            </a:pPr>
            <a:r>
              <a:rPr lang="en-US" sz="1600" dirty="0">
                <a:latin typeface="Times New Roman" panose="02020603050405020304" pitchFamily="18" charset="0"/>
                <a:cs typeface="Times New Roman" panose="02020603050405020304" pitchFamily="18" charset="0"/>
              </a:rPr>
              <a:t>Traditional pothole detection methods relied on manual inspections, vibration-based sensors, accelerometers, or specialized hardware such as laser scanners and LiDAR systems. While these approaches can provide accurate geometric information, they are often expensive, hardware-intensive, and not scalable for continuous large-scale monitoring. To overcome these limitations, recent research has increasingly focused on computer vision and deep learning techniques. Convolutional Neural Networks (CNNs), including R-CNN and YOLO-based architectures, have demonstrated strong performance in detecting potholes from camera images under varying environmental conditions.</a:t>
            </a:r>
          </a:p>
          <a:p>
            <a:pPr marL="0" indent="0" algn="just">
              <a:lnSpc>
                <a:spcPct val="100000"/>
              </a:lnSpc>
              <a:buNone/>
            </a:pPr>
            <a:r>
              <a:rPr lang="en-US" sz="1600" dirty="0">
                <a:latin typeface="Times New Roman" panose="02020603050405020304" pitchFamily="18" charset="0"/>
                <a:cs typeface="Times New Roman" panose="02020603050405020304" pitchFamily="18" charset="0"/>
              </a:rPr>
              <a:t>However, most existing vision-based systems primarily perform two-dimensional bounding box detection or simple classification, which lacks structural depth and geometric representation of the road surface. Although some studies integrate LiDAR or RGB-D data for three-dimensional estimation, these approaches increase system complexity and cost. There remains a gap in developing a lightweight, camera-only system capable of generating real-time geometric understanding of pothole structures. This motivates the exploration of a Real-Time Wireframe Pothole Detection framework that integrates depth estimation with structural modeling for improved decision-making in autonomous driving environments.</a:t>
            </a:r>
          </a:p>
        </p:txBody>
      </p:sp>
      <p:sp>
        <p:nvSpPr>
          <p:cNvPr id="5" name="Footer Placeholder 3">
            <a:extLst>
              <a:ext uri="{FF2B5EF4-FFF2-40B4-BE49-F238E27FC236}">
                <a16:creationId xmlns:a16="http://schemas.microsoft.com/office/drawing/2014/main" id="{22226DD6-579E-BCD4-18E0-4F625305AD8B}"/>
              </a:ext>
            </a:extLst>
          </p:cNvPr>
          <p:cNvSpPr>
            <a:spLocks noGrp="1"/>
          </p:cNvSpPr>
          <p:nvPr>
            <p:ph type="ftr" sz="quarter" idx="11"/>
          </p:nvPr>
        </p:nvSpPr>
        <p:spPr>
          <a:xfrm>
            <a:off x="3616956" y="6311591"/>
            <a:ext cx="4088536" cy="307212"/>
          </a:xfrm>
        </p:spPr>
        <p:txBody>
          <a:bodyPr/>
          <a:lstStyle/>
          <a:p>
            <a:pPr defTabSz="640080">
              <a:spcAft>
                <a:spcPts val="600"/>
              </a:spcAft>
            </a:pPr>
            <a:r>
              <a:rPr lang="en-US" kern="1200" dirty="0">
                <a:solidFill>
                  <a:schemeClr val="tx1">
                    <a:tint val="75000"/>
                  </a:schemeClr>
                </a:solidFill>
              </a:rPr>
              <a:t>Paper ID : 2602051     Category : UG</a:t>
            </a:r>
            <a:endParaRPr lang="en-US" dirty="0"/>
          </a:p>
        </p:txBody>
      </p:sp>
    </p:spTree>
    <p:extLst>
      <p:ext uri="{BB962C8B-B14F-4D97-AF65-F5344CB8AC3E}">
        <p14:creationId xmlns:p14="http://schemas.microsoft.com/office/powerpoint/2010/main" val="35607487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90FCDB-9521-4DB5-AA7A-906571676EF2}"/>
              </a:ext>
            </a:extLst>
          </p:cNvPr>
          <p:cNvSpPr>
            <a:spLocks noGrp="1"/>
          </p:cNvSpPr>
          <p:nvPr>
            <p:ph type="title"/>
          </p:nvPr>
        </p:nvSpPr>
        <p:spPr>
          <a:xfrm>
            <a:off x="2116494" y="1023978"/>
            <a:ext cx="5684481" cy="653395"/>
          </a:xfrm>
        </p:spPr>
        <p:txBody>
          <a:bodyPr>
            <a:normAutofit fontScale="90000"/>
          </a:bodyPr>
          <a:lstStyle/>
          <a:p>
            <a:r>
              <a:rPr lang="en-US" sz="4000" spc="210" dirty="0">
                <a:latin typeface="Times New Roman" panose="02020603050405020304" pitchFamily="18" charset="0"/>
                <a:cs typeface="Times New Roman" panose="02020603050405020304" pitchFamily="18" charset="0"/>
              </a:rPr>
              <a:t>LITERATURE REVIEW</a:t>
            </a:r>
            <a:endParaRPr lang="en-US" sz="4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A14D6ED-3897-4237-8833-4CB129AB50D3}"/>
              </a:ext>
            </a:extLst>
          </p:cNvPr>
          <p:cNvSpPr>
            <a:spLocks noGrp="1"/>
          </p:cNvSpPr>
          <p:nvPr>
            <p:ph idx="1"/>
          </p:nvPr>
        </p:nvSpPr>
        <p:spPr>
          <a:xfrm>
            <a:off x="838200" y="1929384"/>
            <a:ext cx="10515600" cy="4251960"/>
          </a:xfrm>
        </p:spPr>
        <p:txBody>
          <a:bodyPr>
            <a:normAutofit fontScale="85000" lnSpcReduction="20000"/>
          </a:bodyPr>
          <a:lstStyle/>
          <a:p>
            <a:pPr>
              <a:lnSpc>
                <a:spcPct val="11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Recent research on pothole detection has primarily focused on computer vision and deep learning techniques to improve accuracy and enable real-time deployment. Convolutional Neural Networks (CNNs) have become the dominant approach for vision-based detection, particularly using architectures from the R-CNN and YOLO families. Comparative evaluations of state-of-the-art models demonstrate that single-stage detectors such as YOLO achieve faster inference speeds suitable for real-time applications, while two-stage detectors like Faster R-CNN often provide higher accuracy under challenging lighting conditions. Studies evaluating these models under adverse environments such as rain, sunset, evening, and night conditions highlight the impact of illumination variability on detection robustness.</a:t>
            </a:r>
          </a:p>
          <a:p>
            <a:pPr>
              <a:lnSpc>
                <a:spcPct val="11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Beyond 2D object detection, segmentation-based methods have been explored to improve spatial precision. Benchmark studies using semantic segmentation architectures, including </a:t>
            </a:r>
            <a:r>
              <a:rPr lang="en-US" sz="1600" dirty="0" err="1">
                <a:latin typeface="Times New Roman" panose="02020603050405020304" pitchFamily="18" charset="0"/>
                <a:cs typeface="Times New Roman" panose="02020603050405020304" pitchFamily="18" charset="0"/>
              </a:rPr>
              <a:t>DeepLab</a:t>
            </a:r>
            <a:r>
              <a:rPr lang="en-US" sz="1600" dirty="0">
                <a:latin typeface="Times New Roman" panose="02020603050405020304" pitchFamily="18" charset="0"/>
                <a:cs typeface="Times New Roman" panose="02020603050405020304" pitchFamily="18" charset="0"/>
              </a:rPr>
              <a:t> variants and encoder–decoder networks, show improved pixel-level localization of cracks and potholes. Additionally, RGB-D datasets have been introduced to incorporate depth information, enabling better surface understanding. However, the integration of depth data introduces challenges related to noise, computational complexity, and real-time feasibility.</a:t>
            </a:r>
          </a:p>
          <a:p>
            <a:pPr>
              <a:lnSpc>
                <a:spcPct val="11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To overcome the limitations of purely image-based detection, sensor-fusion approaches combining RGB images with LiDAR point clouds have been proposed. These systems utilize CNN-based detection to localize potholes and then extract geometric features such as area, depth, and volume using point cloud processing techniques, including convex hull modeling. While such approaches provide enhanced structural analysis, they rely on expensive hardware and are not optimized for lightweight real-time deployment.</a:t>
            </a:r>
          </a:p>
          <a:p>
            <a:pPr>
              <a:lnSpc>
                <a:spcPct val="11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Overall, the literature demonstrates significant advancements in detection accuracy and environmental robustness. However, most existing systems remain limited to either two-dimensional detection or hardware-intensive 3D reconstruction. A unified, camera-only framework capable of generating real-time geometric wireframe representations of potholes remains underexplored, highlighting a clear research gap for further investigation.</a:t>
            </a:r>
            <a:endParaRPr lang="en-US" sz="2200" dirty="0">
              <a:latin typeface="Times New Roman" panose="02020603050405020304" pitchFamily="18" charset="0"/>
              <a:cs typeface="Times New Roman" panose="02020603050405020304" pitchFamily="18" charset="0"/>
            </a:endParaRPr>
          </a:p>
        </p:txBody>
      </p:sp>
      <p:sp>
        <p:nvSpPr>
          <p:cNvPr id="5" name="Footer Placeholder 3">
            <a:extLst>
              <a:ext uri="{FF2B5EF4-FFF2-40B4-BE49-F238E27FC236}">
                <a16:creationId xmlns:a16="http://schemas.microsoft.com/office/drawing/2014/main" id="{1A7B33D3-1674-07E7-4459-9F21DDF1123A}"/>
              </a:ext>
            </a:extLst>
          </p:cNvPr>
          <p:cNvSpPr>
            <a:spLocks noGrp="1"/>
          </p:cNvSpPr>
          <p:nvPr>
            <p:ph type="ftr" sz="quarter" idx="11"/>
          </p:nvPr>
        </p:nvSpPr>
        <p:spPr>
          <a:xfrm>
            <a:off x="3616956" y="6311591"/>
            <a:ext cx="4088536" cy="307212"/>
          </a:xfrm>
        </p:spPr>
        <p:txBody>
          <a:bodyPr/>
          <a:lstStyle/>
          <a:p>
            <a:pPr defTabSz="640080">
              <a:spcAft>
                <a:spcPts val="600"/>
              </a:spcAft>
            </a:pPr>
            <a:r>
              <a:rPr lang="en-US" kern="1200" dirty="0">
                <a:solidFill>
                  <a:schemeClr val="tx1">
                    <a:tint val="75000"/>
                  </a:schemeClr>
                </a:solidFill>
              </a:rPr>
              <a:t>Paper ID : 2602051     Category : UG</a:t>
            </a:r>
            <a:endParaRPr lang="en-US" dirty="0"/>
          </a:p>
        </p:txBody>
      </p:sp>
    </p:spTree>
    <p:extLst>
      <p:ext uri="{BB962C8B-B14F-4D97-AF65-F5344CB8AC3E}">
        <p14:creationId xmlns:p14="http://schemas.microsoft.com/office/powerpoint/2010/main" val="31453738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90FCDB-9521-4DB5-AA7A-906571676EF2}"/>
              </a:ext>
            </a:extLst>
          </p:cNvPr>
          <p:cNvSpPr>
            <a:spLocks noGrp="1"/>
          </p:cNvSpPr>
          <p:nvPr>
            <p:ph type="title"/>
          </p:nvPr>
        </p:nvSpPr>
        <p:spPr>
          <a:xfrm>
            <a:off x="2321768" y="486959"/>
            <a:ext cx="5755432" cy="1325563"/>
          </a:xfrm>
        </p:spPr>
        <p:txBody>
          <a:bodyPr>
            <a:normAutofit fontScale="90000"/>
          </a:bodyPr>
          <a:lstStyle/>
          <a:p>
            <a:r>
              <a:rPr lang="en-US" sz="5400" spc="210" dirty="0">
                <a:latin typeface="Times New Roman" panose="02020603050405020304" pitchFamily="18" charset="0"/>
                <a:cs typeface="Times New Roman" panose="02020603050405020304" pitchFamily="18" charset="0"/>
              </a:rPr>
              <a:t>METHODOLOGY</a:t>
            </a:r>
            <a:endParaRPr lang="en-US" sz="54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2C5927A7-025E-3076-F2DE-66AF6AFD4EA3}"/>
              </a:ext>
            </a:extLst>
          </p:cNvPr>
          <p:cNvSpPr>
            <a:spLocks noGrp="1"/>
          </p:cNvSpPr>
          <p:nvPr>
            <p:ph type="ftr" sz="quarter" idx="11"/>
          </p:nvPr>
        </p:nvSpPr>
        <p:spPr>
          <a:xfrm>
            <a:off x="3616956" y="6311591"/>
            <a:ext cx="4088536" cy="307212"/>
          </a:xfrm>
        </p:spPr>
        <p:txBody>
          <a:bodyPr/>
          <a:lstStyle/>
          <a:p>
            <a:pPr defTabSz="640080">
              <a:spcAft>
                <a:spcPts val="600"/>
              </a:spcAft>
            </a:pPr>
            <a:r>
              <a:rPr lang="en-US" kern="1200" dirty="0">
                <a:solidFill>
                  <a:schemeClr val="tx1">
                    <a:tint val="75000"/>
                  </a:schemeClr>
                </a:solidFill>
              </a:rPr>
              <a:t>Paper ID : 2602051     Category : UG</a:t>
            </a:r>
            <a:endParaRPr lang="en-US" dirty="0"/>
          </a:p>
        </p:txBody>
      </p:sp>
      <p:sp>
        <p:nvSpPr>
          <p:cNvPr id="7" name="Content Placeholder 6">
            <a:extLst>
              <a:ext uri="{FF2B5EF4-FFF2-40B4-BE49-F238E27FC236}">
                <a16:creationId xmlns:a16="http://schemas.microsoft.com/office/drawing/2014/main" id="{059FBBFC-A5CD-E2C7-9131-0E76E1FFD36A}"/>
              </a:ext>
            </a:extLst>
          </p:cNvPr>
          <p:cNvSpPr>
            <a:spLocks noGrp="1"/>
          </p:cNvSpPr>
          <p:nvPr>
            <p:ph idx="1"/>
          </p:nvPr>
        </p:nvSpPr>
        <p:spPr>
          <a:xfrm>
            <a:off x="838200" y="1819764"/>
            <a:ext cx="10515600" cy="1399686"/>
          </a:xfrm>
        </p:spPr>
        <p:txBody>
          <a:bodyPr>
            <a:normAutofit fontScale="47500" lnSpcReduction="20000"/>
          </a:bodyPr>
          <a:lstStyle/>
          <a:p>
            <a:pPr marL="0" indent="0" algn="just">
              <a:lnSpc>
                <a:spcPct val="120000"/>
              </a:lnSpc>
              <a:buNone/>
            </a:pPr>
            <a:r>
              <a:rPr lang="en-US" dirty="0">
                <a:latin typeface="Times New Roman" panose="02020603050405020304" pitchFamily="18" charset="0"/>
                <a:cs typeface="Times New Roman" panose="02020603050405020304" pitchFamily="18" charset="0"/>
              </a:rPr>
              <a:t>The proposed methodology integrates deep learning-based 2D detection with LiDAR-driven 3D geometric analysis. Road images are captured using an RGB camera while synchronized LiDAR sensors collect point cloud data. A YOLO-based convolutional neural network detects potholes in the image and generates bounding box coordinates. These coordinates are then mapped to the corresponding LiDAR region to extract relevant point cloud data. A convex hull algorithm is applied to the extracted 3D points to estimate geometric properties such as area, depth, and volume. Finally, GNSS data is used to map pothole locations for maintenance planning and severity assessment.</a:t>
            </a:r>
          </a:p>
        </p:txBody>
      </p:sp>
      <p:pic>
        <p:nvPicPr>
          <p:cNvPr id="11" name="Picture 10">
            <a:extLst>
              <a:ext uri="{FF2B5EF4-FFF2-40B4-BE49-F238E27FC236}">
                <a16:creationId xmlns:a16="http://schemas.microsoft.com/office/drawing/2014/main" id="{7B592BFE-5794-2CAC-03E5-8BD7EE0A09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09273" y="2762249"/>
            <a:ext cx="7544853" cy="3924579"/>
          </a:xfrm>
          <a:prstGeom prst="rect">
            <a:avLst/>
          </a:prstGeom>
        </p:spPr>
      </p:pic>
    </p:spTree>
    <p:extLst>
      <p:ext uri="{BB962C8B-B14F-4D97-AF65-F5344CB8AC3E}">
        <p14:creationId xmlns:p14="http://schemas.microsoft.com/office/powerpoint/2010/main" val="39172205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AEB1B7-FEEC-4202-98DA-42F59136CF35}"/>
              </a:ext>
            </a:extLst>
          </p:cNvPr>
          <p:cNvSpPr>
            <a:spLocks noGrp="1"/>
          </p:cNvSpPr>
          <p:nvPr>
            <p:ph type="title"/>
          </p:nvPr>
        </p:nvSpPr>
        <p:spPr>
          <a:xfrm>
            <a:off x="1812802" y="239197"/>
            <a:ext cx="8039470" cy="523782"/>
          </a:xfrm>
        </p:spPr>
        <p:txBody>
          <a:bodyPr>
            <a:noAutofit/>
          </a:bodyPr>
          <a:lstStyle/>
          <a:p>
            <a:pPr>
              <a:lnSpc>
                <a:spcPct val="100000"/>
              </a:lnSpc>
            </a:pPr>
            <a:r>
              <a:rPr lang="en-US" sz="2000" b="1" spc="210" dirty="0">
                <a:solidFill>
                  <a:srgbClr val="49403C"/>
                </a:solidFill>
                <a:latin typeface="Times New Roman" panose="02020603050405020304" pitchFamily="18" charset="0"/>
                <a:cs typeface="Times New Roman" panose="02020603050405020304" pitchFamily="18" charset="0"/>
              </a:rPr>
              <a:t>PERFORMANCE COMPARISON</a:t>
            </a:r>
            <a:endParaRPr lang="en-US" sz="2000" b="1"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BD3374F5-1C30-2FE0-E13A-049127BA6850}"/>
              </a:ext>
            </a:extLst>
          </p:cNvPr>
          <p:cNvSpPr>
            <a:spLocks noGrp="1"/>
          </p:cNvSpPr>
          <p:nvPr>
            <p:ph type="ftr" sz="quarter" idx="11"/>
          </p:nvPr>
        </p:nvSpPr>
        <p:spPr>
          <a:xfrm>
            <a:off x="3616956" y="6311591"/>
            <a:ext cx="4088536" cy="307212"/>
          </a:xfrm>
        </p:spPr>
        <p:txBody>
          <a:bodyPr/>
          <a:lstStyle/>
          <a:p>
            <a:pPr defTabSz="640080">
              <a:spcAft>
                <a:spcPts val="600"/>
              </a:spcAft>
            </a:pPr>
            <a:r>
              <a:rPr lang="en-US" kern="1200" dirty="0">
                <a:solidFill>
                  <a:schemeClr val="tx1">
                    <a:tint val="75000"/>
                  </a:schemeClr>
                </a:solidFill>
              </a:rPr>
              <a:t>Paper ID : 2602051     Category : UG</a:t>
            </a:r>
            <a:endParaRPr lang="en-US" dirty="0"/>
          </a:p>
        </p:txBody>
      </p:sp>
      <p:graphicFrame>
        <p:nvGraphicFramePr>
          <p:cNvPr id="10" name="Table 9">
            <a:extLst>
              <a:ext uri="{FF2B5EF4-FFF2-40B4-BE49-F238E27FC236}">
                <a16:creationId xmlns:a16="http://schemas.microsoft.com/office/drawing/2014/main" id="{DC48037D-F627-1E70-478E-2B6E255568C0}"/>
              </a:ext>
            </a:extLst>
          </p:cNvPr>
          <p:cNvGraphicFramePr>
            <a:graphicFrameLocks noGrp="1"/>
          </p:cNvGraphicFramePr>
          <p:nvPr>
            <p:extLst>
              <p:ext uri="{D42A27DB-BD31-4B8C-83A1-F6EECF244321}">
                <p14:modId xmlns:p14="http://schemas.microsoft.com/office/powerpoint/2010/main" val="3002460228"/>
              </p:ext>
            </p:extLst>
          </p:nvPr>
        </p:nvGraphicFramePr>
        <p:xfrm>
          <a:off x="1047751" y="4115742"/>
          <a:ext cx="10630530" cy="2010252"/>
        </p:xfrm>
        <a:graphic>
          <a:graphicData uri="http://schemas.openxmlformats.org/drawingml/2006/table">
            <a:tbl>
              <a:tblPr firstRow="1" bandRow="1">
                <a:tableStyleId>{5C22544A-7EE6-4342-B048-85BDC9FD1C3A}</a:tableStyleId>
              </a:tblPr>
              <a:tblGrid>
                <a:gridCol w="2126106">
                  <a:extLst>
                    <a:ext uri="{9D8B030D-6E8A-4147-A177-3AD203B41FA5}">
                      <a16:colId xmlns:a16="http://schemas.microsoft.com/office/drawing/2014/main" val="2583432674"/>
                    </a:ext>
                  </a:extLst>
                </a:gridCol>
                <a:gridCol w="2126106">
                  <a:extLst>
                    <a:ext uri="{9D8B030D-6E8A-4147-A177-3AD203B41FA5}">
                      <a16:colId xmlns:a16="http://schemas.microsoft.com/office/drawing/2014/main" val="129194225"/>
                    </a:ext>
                  </a:extLst>
                </a:gridCol>
                <a:gridCol w="2126106">
                  <a:extLst>
                    <a:ext uri="{9D8B030D-6E8A-4147-A177-3AD203B41FA5}">
                      <a16:colId xmlns:a16="http://schemas.microsoft.com/office/drawing/2014/main" val="2375367470"/>
                    </a:ext>
                  </a:extLst>
                </a:gridCol>
                <a:gridCol w="2126106">
                  <a:extLst>
                    <a:ext uri="{9D8B030D-6E8A-4147-A177-3AD203B41FA5}">
                      <a16:colId xmlns:a16="http://schemas.microsoft.com/office/drawing/2014/main" val="2956333226"/>
                    </a:ext>
                  </a:extLst>
                </a:gridCol>
                <a:gridCol w="2126106">
                  <a:extLst>
                    <a:ext uri="{9D8B030D-6E8A-4147-A177-3AD203B41FA5}">
                      <a16:colId xmlns:a16="http://schemas.microsoft.com/office/drawing/2014/main" val="2111793254"/>
                    </a:ext>
                  </a:extLst>
                </a:gridCol>
              </a:tblGrid>
              <a:tr h="357783">
                <a:tc>
                  <a:txBody>
                    <a:bodyPr/>
                    <a:lstStyle/>
                    <a:p>
                      <a:r>
                        <a:rPr lang="en-US" sz="1600" dirty="0">
                          <a:latin typeface="Times New Roman" panose="02020603050405020304" pitchFamily="18" charset="0"/>
                          <a:cs typeface="Times New Roman" panose="02020603050405020304" pitchFamily="18" charset="0"/>
                        </a:rPr>
                        <a:t>Model / Approach</a:t>
                      </a:r>
                    </a:p>
                  </a:txBody>
                  <a:tcPr anchor="ctr"/>
                </a:tc>
                <a:tc>
                  <a:txBody>
                    <a:bodyPr/>
                    <a:lstStyle/>
                    <a:p>
                      <a:r>
                        <a:rPr lang="en-US" sz="1600">
                          <a:latin typeface="Times New Roman" panose="02020603050405020304" pitchFamily="18" charset="0"/>
                          <a:cs typeface="Times New Roman" panose="02020603050405020304" pitchFamily="18" charset="0"/>
                        </a:rPr>
                        <a:t>mAP (Approx.)</a:t>
                      </a:r>
                    </a:p>
                  </a:txBody>
                  <a:tcPr anchor="ctr"/>
                </a:tc>
                <a:tc>
                  <a:txBody>
                    <a:bodyPr/>
                    <a:lstStyle/>
                    <a:p>
                      <a:r>
                        <a:rPr lang="en-US" sz="1600" dirty="0">
                          <a:latin typeface="Times New Roman" panose="02020603050405020304" pitchFamily="18" charset="0"/>
                          <a:cs typeface="Times New Roman" panose="02020603050405020304" pitchFamily="18" charset="0"/>
                        </a:rPr>
                        <a:t>FPS (Approx.)</a:t>
                      </a:r>
                    </a:p>
                  </a:txBody>
                  <a:tcPr anchor="ctr"/>
                </a:tc>
                <a:tc>
                  <a:txBody>
                    <a:bodyPr/>
                    <a:lstStyle/>
                    <a:p>
                      <a:r>
                        <a:rPr lang="en-US" sz="1600">
                          <a:latin typeface="Times New Roman" panose="02020603050405020304" pitchFamily="18" charset="0"/>
                          <a:cs typeface="Times New Roman" panose="02020603050405020304" pitchFamily="18" charset="0"/>
                        </a:rPr>
                        <a:t>Real-Time</a:t>
                      </a:r>
                    </a:p>
                  </a:txBody>
                  <a:tcPr anchor="ctr"/>
                </a:tc>
                <a:tc>
                  <a:txBody>
                    <a:bodyPr/>
                    <a:lstStyle/>
                    <a:p>
                      <a:r>
                        <a:rPr lang="en-US" sz="1600">
                          <a:latin typeface="Times New Roman" panose="02020603050405020304" pitchFamily="18" charset="0"/>
                          <a:cs typeface="Times New Roman" panose="02020603050405020304" pitchFamily="18" charset="0"/>
                        </a:rPr>
                        <a:t>Weather Robust</a:t>
                      </a:r>
                    </a:p>
                  </a:txBody>
                  <a:tcPr anchor="ctr"/>
                </a:tc>
                <a:extLst>
                  <a:ext uri="{0D108BD9-81ED-4DB2-BD59-A6C34878D82A}">
                    <a16:rowId xmlns:a16="http://schemas.microsoft.com/office/drawing/2014/main" val="1331999473"/>
                  </a:ext>
                </a:extLst>
              </a:tr>
              <a:tr h="357783">
                <a:tc>
                  <a:txBody>
                    <a:bodyPr/>
                    <a:lstStyle/>
                    <a:p>
                      <a:r>
                        <a:rPr lang="en-US" sz="1600">
                          <a:latin typeface="Times New Roman" panose="02020603050405020304" pitchFamily="18" charset="0"/>
                          <a:cs typeface="Times New Roman" panose="02020603050405020304" pitchFamily="18" charset="0"/>
                        </a:rPr>
                        <a:t>YOLOv5 / YOLOv7</a:t>
                      </a:r>
                    </a:p>
                  </a:txBody>
                  <a:tcPr anchor="ctr"/>
                </a:tc>
                <a:tc>
                  <a:txBody>
                    <a:bodyPr/>
                    <a:lstStyle/>
                    <a:p>
                      <a:r>
                        <a:rPr lang="en-US" sz="1600">
                          <a:latin typeface="Times New Roman" panose="02020603050405020304" pitchFamily="18" charset="0"/>
                          <a:cs typeface="Times New Roman" panose="02020603050405020304" pitchFamily="18" charset="0"/>
                        </a:rPr>
                        <a:t>High (70–80%+)</a:t>
                      </a:r>
                    </a:p>
                  </a:txBody>
                  <a:tcPr anchor="ctr"/>
                </a:tc>
                <a:tc>
                  <a:txBody>
                    <a:bodyPr/>
                    <a:lstStyle/>
                    <a:p>
                      <a:r>
                        <a:rPr lang="en-US" sz="1600">
                          <a:latin typeface="Times New Roman" panose="02020603050405020304" pitchFamily="18" charset="0"/>
                          <a:cs typeface="Times New Roman" panose="02020603050405020304" pitchFamily="18" charset="0"/>
                        </a:rPr>
                        <a:t>30–100+</a:t>
                      </a:r>
                    </a:p>
                  </a:txBody>
                  <a:tcPr anchor="ctr"/>
                </a:tc>
                <a:tc>
                  <a:txBody>
                    <a:bodyPr/>
                    <a:lstStyle/>
                    <a:p>
                      <a:r>
                        <a:rPr lang="en-US" sz="1600">
                          <a:latin typeface="Times New Roman" panose="02020603050405020304" pitchFamily="18" charset="0"/>
                          <a:cs typeface="Times New Roman" panose="02020603050405020304" pitchFamily="18" charset="0"/>
                        </a:rPr>
                        <a:t>Yes</a:t>
                      </a:r>
                    </a:p>
                  </a:txBody>
                  <a:tcPr anchor="ctr"/>
                </a:tc>
                <a:tc>
                  <a:txBody>
                    <a:bodyPr/>
                    <a:lstStyle/>
                    <a:p>
                      <a:r>
                        <a:rPr lang="en-US" sz="1600">
                          <a:latin typeface="Times New Roman" panose="02020603050405020304" pitchFamily="18" charset="0"/>
                          <a:cs typeface="Times New Roman" panose="02020603050405020304" pitchFamily="18" charset="0"/>
                        </a:rPr>
                        <a:t>Moderate–High</a:t>
                      </a:r>
                    </a:p>
                  </a:txBody>
                  <a:tcPr anchor="ctr"/>
                </a:tc>
                <a:extLst>
                  <a:ext uri="{0D108BD9-81ED-4DB2-BD59-A6C34878D82A}">
                    <a16:rowId xmlns:a16="http://schemas.microsoft.com/office/drawing/2014/main" val="394644091"/>
                  </a:ext>
                </a:extLst>
              </a:tr>
              <a:tr h="357783">
                <a:tc>
                  <a:txBody>
                    <a:bodyPr/>
                    <a:lstStyle/>
                    <a:p>
                      <a:r>
                        <a:rPr lang="en-US" sz="1600" dirty="0">
                          <a:latin typeface="Times New Roman" panose="02020603050405020304" pitchFamily="18" charset="0"/>
                          <a:cs typeface="Times New Roman" panose="02020603050405020304" pitchFamily="18" charset="0"/>
                        </a:rPr>
                        <a:t>Faster R-CNN</a:t>
                      </a:r>
                    </a:p>
                  </a:txBody>
                  <a:tcPr anchor="ctr"/>
                </a:tc>
                <a:tc>
                  <a:txBody>
                    <a:bodyPr/>
                    <a:lstStyle/>
                    <a:p>
                      <a:r>
                        <a:rPr lang="en-US" sz="1600" dirty="0">
                          <a:latin typeface="Times New Roman" panose="02020603050405020304" pitchFamily="18" charset="0"/>
                          <a:cs typeface="Times New Roman" panose="02020603050405020304" pitchFamily="18" charset="0"/>
                        </a:rPr>
                        <a:t>Very High (80–90%+)</a:t>
                      </a:r>
                    </a:p>
                  </a:txBody>
                  <a:tcPr anchor="ctr"/>
                </a:tc>
                <a:tc>
                  <a:txBody>
                    <a:bodyPr/>
                    <a:lstStyle/>
                    <a:p>
                      <a:r>
                        <a:rPr lang="en-US" sz="1600">
                          <a:latin typeface="Times New Roman" panose="02020603050405020304" pitchFamily="18" charset="0"/>
                          <a:cs typeface="Times New Roman" panose="02020603050405020304" pitchFamily="18" charset="0"/>
                        </a:rPr>
                        <a:t>5–15</a:t>
                      </a:r>
                    </a:p>
                  </a:txBody>
                  <a:tcPr anchor="ctr"/>
                </a:tc>
                <a:tc>
                  <a:txBody>
                    <a:bodyPr/>
                    <a:lstStyle/>
                    <a:p>
                      <a:r>
                        <a:rPr lang="en-US" sz="1600">
                          <a:latin typeface="Times New Roman" panose="02020603050405020304" pitchFamily="18" charset="0"/>
                          <a:cs typeface="Times New Roman" panose="02020603050405020304" pitchFamily="18" charset="0"/>
                        </a:rPr>
                        <a:t>No</a:t>
                      </a:r>
                    </a:p>
                  </a:txBody>
                  <a:tcPr anchor="ctr"/>
                </a:tc>
                <a:tc>
                  <a:txBody>
                    <a:bodyPr/>
                    <a:lstStyle/>
                    <a:p>
                      <a:r>
                        <a:rPr lang="en-US" sz="1600">
                          <a:latin typeface="Times New Roman" panose="02020603050405020304" pitchFamily="18" charset="0"/>
                          <a:cs typeface="Times New Roman" panose="02020603050405020304" pitchFamily="18" charset="0"/>
                        </a:rPr>
                        <a:t>High (Night Better)</a:t>
                      </a:r>
                    </a:p>
                  </a:txBody>
                  <a:tcPr anchor="ctr"/>
                </a:tc>
                <a:extLst>
                  <a:ext uri="{0D108BD9-81ED-4DB2-BD59-A6C34878D82A}">
                    <a16:rowId xmlns:a16="http://schemas.microsoft.com/office/drawing/2014/main" val="538490829"/>
                  </a:ext>
                </a:extLst>
              </a:tr>
              <a:tr h="511118">
                <a:tc>
                  <a:txBody>
                    <a:bodyPr/>
                    <a:lstStyle/>
                    <a:p>
                      <a:r>
                        <a:rPr lang="en-US" sz="1600">
                          <a:latin typeface="Times New Roman" panose="02020603050405020304" pitchFamily="18" charset="0"/>
                          <a:cs typeface="Times New Roman" panose="02020603050405020304" pitchFamily="18" charset="0"/>
                        </a:rPr>
                        <a:t>Segmentation (DeepLab / UNet++)</a:t>
                      </a:r>
                    </a:p>
                  </a:txBody>
                  <a:tcPr anchor="ctr"/>
                </a:tc>
                <a:tc>
                  <a:txBody>
                    <a:bodyPr/>
                    <a:lstStyle/>
                    <a:p>
                      <a:r>
                        <a:rPr lang="en-US" sz="1600">
                          <a:latin typeface="Times New Roman" panose="02020603050405020304" pitchFamily="18" charset="0"/>
                          <a:cs typeface="Times New Roman" panose="02020603050405020304" pitchFamily="18" charset="0"/>
                        </a:rPr>
                        <a:t>Moderate–High</a:t>
                      </a:r>
                    </a:p>
                  </a:txBody>
                  <a:tcPr anchor="ctr"/>
                </a:tc>
                <a:tc>
                  <a:txBody>
                    <a:bodyPr/>
                    <a:lstStyle/>
                    <a:p>
                      <a:r>
                        <a:rPr lang="en-US" sz="1600">
                          <a:latin typeface="Times New Roman" panose="02020603050405020304" pitchFamily="18" charset="0"/>
                          <a:cs typeface="Times New Roman" panose="02020603050405020304" pitchFamily="18" charset="0"/>
                        </a:rPr>
                        <a:t>&lt;20</a:t>
                      </a:r>
                    </a:p>
                  </a:txBody>
                  <a:tcPr anchor="ctr"/>
                </a:tc>
                <a:tc>
                  <a:txBody>
                    <a:bodyPr/>
                    <a:lstStyle/>
                    <a:p>
                      <a:r>
                        <a:rPr lang="en-US" sz="1600">
                          <a:latin typeface="Times New Roman" panose="02020603050405020304" pitchFamily="18" charset="0"/>
                          <a:cs typeface="Times New Roman" panose="02020603050405020304" pitchFamily="18" charset="0"/>
                        </a:rPr>
                        <a:t>Limited</a:t>
                      </a:r>
                    </a:p>
                  </a:txBody>
                  <a:tcPr anchor="ctr"/>
                </a:tc>
                <a:tc>
                  <a:txBody>
                    <a:bodyPr/>
                    <a:lstStyle/>
                    <a:p>
                      <a:r>
                        <a:rPr lang="en-US" sz="1600">
                          <a:latin typeface="Times New Roman" panose="02020603050405020304" pitchFamily="18" charset="0"/>
                          <a:cs typeface="Times New Roman" panose="02020603050405020304" pitchFamily="18" charset="0"/>
                        </a:rPr>
                        <a:t>Moderate</a:t>
                      </a:r>
                    </a:p>
                  </a:txBody>
                  <a:tcPr anchor="ctr"/>
                </a:tc>
                <a:extLst>
                  <a:ext uri="{0D108BD9-81ED-4DB2-BD59-A6C34878D82A}">
                    <a16:rowId xmlns:a16="http://schemas.microsoft.com/office/drawing/2014/main" val="3944226116"/>
                  </a:ext>
                </a:extLst>
              </a:tr>
              <a:tr h="357783">
                <a:tc>
                  <a:txBody>
                    <a:bodyPr/>
                    <a:lstStyle/>
                    <a:p>
                      <a:r>
                        <a:rPr lang="en-US" sz="1600">
                          <a:latin typeface="Times New Roman" panose="02020603050405020304" pitchFamily="18" charset="0"/>
                          <a:cs typeface="Times New Roman" panose="02020603050405020304" pitchFamily="18" charset="0"/>
                        </a:rPr>
                        <a:t>LiDAR + CNN Fusion</a:t>
                      </a:r>
                    </a:p>
                  </a:txBody>
                  <a:tcPr anchor="ctr"/>
                </a:tc>
                <a:tc>
                  <a:txBody>
                    <a:bodyPr/>
                    <a:lstStyle/>
                    <a:p>
                      <a:r>
                        <a:rPr lang="en-US" sz="1600">
                          <a:latin typeface="Times New Roman" panose="02020603050405020304" pitchFamily="18" charset="0"/>
                          <a:cs typeface="Times New Roman" panose="02020603050405020304" pitchFamily="18" charset="0"/>
                        </a:rPr>
                        <a:t>High</a:t>
                      </a:r>
                    </a:p>
                  </a:txBody>
                  <a:tcPr anchor="ctr"/>
                </a:tc>
                <a:tc>
                  <a:txBody>
                    <a:bodyPr/>
                    <a:lstStyle/>
                    <a:p>
                      <a:r>
                        <a:rPr lang="en-US" sz="1600">
                          <a:latin typeface="Times New Roman" panose="02020603050405020304" pitchFamily="18" charset="0"/>
                          <a:cs typeface="Times New Roman" panose="02020603050405020304" pitchFamily="18" charset="0"/>
                        </a:rPr>
                        <a:t>Not clearly real-time</a:t>
                      </a:r>
                    </a:p>
                  </a:txBody>
                  <a:tcPr anchor="ctr"/>
                </a:tc>
                <a:tc>
                  <a:txBody>
                    <a:bodyPr/>
                    <a:lstStyle/>
                    <a:p>
                      <a:r>
                        <a:rPr lang="en-US" sz="1600">
                          <a:latin typeface="Times New Roman" panose="02020603050405020304" pitchFamily="18" charset="0"/>
                          <a:cs typeface="Times New Roman" panose="02020603050405020304" pitchFamily="18" charset="0"/>
                        </a:rPr>
                        <a:t>Limited</a:t>
                      </a:r>
                    </a:p>
                  </a:txBody>
                  <a:tcPr anchor="ctr"/>
                </a:tc>
                <a:tc>
                  <a:txBody>
                    <a:bodyPr/>
                    <a:lstStyle/>
                    <a:p>
                      <a:r>
                        <a:rPr lang="en-US" sz="1600" dirty="0">
                          <a:latin typeface="Times New Roman" panose="02020603050405020304" pitchFamily="18" charset="0"/>
                          <a:cs typeface="Times New Roman" panose="02020603050405020304" pitchFamily="18" charset="0"/>
                        </a:rPr>
                        <a:t>High</a:t>
                      </a:r>
                    </a:p>
                  </a:txBody>
                  <a:tcPr anchor="ctr"/>
                </a:tc>
                <a:extLst>
                  <a:ext uri="{0D108BD9-81ED-4DB2-BD59-A6C34878D82A}">
                    <a16:rowId xmlns:a16="http://schemas.microsoft.com/office/drawing/2014/main" val="1636095398"/>
                  </a:ext>
                </a:extLst>
              </a:tr>
            </a:tbl>
          </a:graphicData>
        </a:graphic>
      </p:graphicFrame>
      <p:sp>
        <p:nvSpPr>
          <p:cNvPr id="11" name="TextBox 10">
            <a:extLst>
              <a:ext uri="{FF2B5EF4-FFF2-40B4-BE49-F238E27FC236}">
                <a16:creationId xmlns:a16="http://schemas.microsoft.com/office/drawing/2014/main" id="{713975DF-5BFD-B23C-03A4-C1102E6762DC}"/>
              </a:ext>
            </a:extLst>
          </p:cNvPr>
          <p:cNvSpPr txBox="1"/>
          <p:nvPr/>
        </p:nvSpPr>
        <p:spPr>
          <a:xfrm>
            <a:off x="900112" y="1664076"/>
            <a:ext cx="10391775" cy="2308324"/>
          </a:xfrm>
          <a:prstGeom prst="rect">
            <a:avLst/>
          </a:prstGeom>
          <a:noFill/>
        </p:spPr>
        <p:txBody>
          <a:bodyPr wrap="square" numCol="2" rtlCol="0">
            <a:spAutoFit/>
          </a:bodyPr>
          <a:lstStyle/>
          <a:p>
            <a:r>
              <a:rPr lang="en-US" sz="1600" b="1" dirty="0">
                <a:latin typeface="Times New Roman" panose="02020603050405020304" pitchFamily="18" charset="0"/>
                <a:cs typeface="Times New Roman" panose="02020603050405020304" pitchFamily="18" charset="0"/>
              </a:rPr>
              <a:t>Observations:</a:t>
            </a:r>
          </a:p>
          <a:p>
            <a:r>
              <a:rPr lang="en-US" sz="1600" b="1" dirty="0">
                <a:latin typeface="Times New Roman" panose="02020603050405020304" pitchFamily="18" charset="0"/>
                <a:cs typeface="Times New Roman" panose="02020603050405020304" pitchFamily="18" charset="0"/>
              </a:rPr>
              <a:t>YOLO-based models</a:t>
            </a:r>
            <a:endParaRPr lang="en-US" sz="160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High FPS (real-time capable)</a:t>
            </a:r>
          </a:p>
          <a:p>
            <a:pPr marL="742950" lvl="1"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Competitive </a:t>
            </a:r>
            <a:r>
              <a:rPr lang="en-US" sz="1600" dirty="0" err="1">
                <a:latin typeface="Times New Roman" panose="02020603050405020304" pitchFamily="18" charset="0"/>
                <a:cs typeface="Times New Roman" panose="02020603050405020304" pitchFamily="18" charset="0"/>
              </a:rPr>
              <a:t>mAP</a:t>
            </a:r>
            <a:r>
              <a:rPr lang="en-US" sz="1600" dirty="0">
                <a:latin typeface="Times New Roman" panose="02020603050405020304" pitchFamily="18" charset="0"/>
                <a:cs typeface="Times New Roman" panose="02020603050405020304" pitchFamily="18" charset="0"/>
              </a:rPr>
              <a:t> values</a:t>
            </a:r>
          </a:p>
          <a:p>
            <a:pPr marL="742950" lvl="1"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Perform well under clear, rain, and sunset conditions</a:t>
            </a:r>
          </a:p>
          <a:p>
            <a:pPr marL="742950" lvl="1"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Slight performance degradation at night</a:t>
            </a:r>
          </a:p>
          <a:p>
            <a:pPr marL="742950" lvl="1" indent="-285750">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Faster R-CNN</a:t>
            </a:r>
            <a:endParaRPr lang="en-US" sz="160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Higher precision in low-visibility conditions</a:t>
            </a:r>
          </a:p>
          <a:p>
            <a:pPr marL="742950" lvl="1"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Slower inference speed</a:t>
            </a:r>
          </a:p>
          <a:p>
            <a:pPr marL="742950" lvl="1"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Not ideal for strict real-time deployment</a:t>
            </a:r>
          </a:p>
          <a:p>
            <a:pPr marL="742950" lvl="1" indent="-285750">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Segmentation models (</a:t>
            </a:r>
            <a:r>
              <a:rPr lang="en-US" sz="1600" b="1" dirty="0" err="1">
                <a:latin typeface="Times New Roman" panose="02020603050405020304" pitchFamily="18" charset="0"/>
                <a:cs typeface="Times New Roman" panose="02020603050405020304" pitchFamily="18" charset="0"/>
              </a:rPr>
              <a:t>DeepLab</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UNet</a:t>
            </a:r>
            <a:r>
              <a:rPr lang="en-US" sz="1600" b="1" dirty="0">
                <a:latin typeface="Times New Roman" panose="02020603050405020304" pitchFamily="18" charset="0"/>
                <a:cs typeface="Times New Roman" panose="02020603050405020304" pitchFamily="18" charset="0"/>
              </a:rPr>
              <a:t> variants)</a:t>
            </a:r>
            <a:endParaRPr lang="en-US" sz="160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Higher spatial precision</a:t>
            </a:r>
          </a:p>
          <a:p>
            <a:pPr marL="742950" lvl="1"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Lower FPS</a:t>
            </a:r>
          </a:p>
          <a:p>
            <a:pPr marL="742950" lvl="1"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Better structural localization</a:t>
            </a:r>
          </a:p>
          <a:p>
            <a:pPr marL="742950" lvl="1"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Computationally intensive</a:t>
            </a:r>
          </a:p>
          <a:p>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920887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49A086-7D0D-A608-AEB1-21B8A3AE5C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CFE9EE-4235-154B-2A93-9C7588EF2073}"/>
              </a:ext>
            </a:extLst>
          </p:cNvPr>
          <p:cNvSpPr>
            <a:spLocks noGrp="1"/>
          </p:cNvSpPr>
          <p:nvPr>
            <p:ph type="title"/>
          </p:nvPr>
        </p:nvSpPr>
        <p:spPr>
          <a:xfrm>
            <a:off x="1812802" y="239197"/>
            <a:ext cx="8039470" cy="523782"/>
          </a:xfrm>
        </p:spPr>
        <p:txBody>
          <a:bodyPr>
            <a:noAutofit/>
          </a:bodyPr>
          <a:lstStyle/>
          <a:p>
            <a:pPr>
              <a:lnSpc>
                <a:spcPct val="100000"/>
              </a:lnSpc>
            </a:pPr>
            <a:r>
              <a:rPr lang="en-US" sz="2000" b="1" spc="210" dirty="0">
                <a:solidFill>
                  <a:srgbClr val="49403C"/>
                </a:solidFill>
                <a:latin typeface="Times New Roman" panose="02020603050405020304" pitchFamily="18" charset="0"/>
                <a:cs typeface="Times New Roman" panose="02020603050405020304" pitchFamily="18" charset="0"/>
              </a:rPr>
              <a:t>STRUCTURAL CAPABILITY COMPARISON</a:t>
            </a:r>
            <a:endParaRPr lang="en-US" sz="2000" b="1"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8C186539-9D2A-E1A9-FA98-146DDF4A4C22}"/>
              </a:ext>
            </a:extLst>
          </p:cNvPr>
          <p:cNvSpPr>
            <a:spLocks noGrp="1"/>
          </p:cNvSpPr>
          <p:nvPr>
            <p:ph type="ftr" sz="quarter" idx="11"/>
          </p:nvPr>
        </p:nvSpPr>
        <p:spPr>
          <a:xfrm>
            <a:off x="3616956" y="6311591"/>
            <a:ext cx="4088536" cy="307212"/>
          </a:xfrm>
        </p:spPr>
        <p:txBody>
          <a:bodyPr/>
          <a:lstStyle/>
          <a:p>
            <a:pPr defTabSz="640080">
              <a:spcAft>
                <a:spcPts val="600"/>
              </a:spcAft>
            </a:pPr>
            <a:r>
              <a:rPr lang="en-US" kern="1200" dirty="0">
                <a:solidFill>
                  <a:schemeClr val="tx1">
                    <a:tint val="75000"/>
                  </a:schemeClr>
                </a:solidFill>
              </a:rPr>
              <a:t>Paper ID : 2602051     Category : UG</a:t>
            </a:r>
            <a:endParaRPr lang="en-US" dirty="0"/>
          </a:p>
        </p:txBody>
      </p:sp>
      <p:graphicFrame>
        <p:nvGraphicFramePr>
          <p:cNvPr id="10" name="Table 9">
            <a:extLst>
              <a:ext uri="{FF2B5EF4-FFF2-40B4-BE49-F238E27FC236}">
                <a16:creationId xmlns:a16="http://schemas.microsoft.com/office/drawing/2014/main" id="{0075C344-94B1-70F4-F2FC-846E5181F516}"/>
              </a:ext>
            </a:extLst>
          </p:cNvPr>
          <p:cNvGraphicFramePr>
            <a:graphicFrameLocks noGrp="1"/>
          </p:cNvGraphicFramePr>
          <p:nvPr>
            <p:extLst>
              <p:ext uri="{D42A27DB-BD31-4B8C-83A1-F6EECF244321}">
                <p14:modId xmlns:p14="http://schemas.microsoft.com/office/powerpoint/2010/main" val="790873076"/>
              </p:ext>
            </p:extLst>
          </p:nvPr>
        </p:nvGraphicFramePr>
        <p:xfrm>
          <a:off x="304800" y="4115742"/>
          <a:ext cx="11607798" cy="2524431"/>
        </p:xfrm>
        <a:graphic>
          <a:graphicData uri="http://schemas.openxmlformats.org/drawingml/2006/table">
            <a:tbl>
              <a:tblPr firstRow="1" bandRow="1">
                <a:tableStyleId>{5C22544A-7EE6-4342-B048-85BDC9FD1C3A}</a:tableStyleId>
              </a:tblPr>
              <a:tblGrid>
                <a:gridCol w="1934633">
                  <a:extLst>
                    <a:ext uri="{9D8B030D-6E8A-4147-A177-3AD203B41FA5}">
                      <a16:colId xmlns:a16="http://schemas.microsoft.com/office/drawing/2014/main" val="2583432674"/>
                    </a:ext>
                  </a:extLst>
                </a:gridCol>
                <a:gridCol w="1934633">
                  <a:extLst>
                    <a:ext uri="{9D8B030D-6E8A-4147-A177-3AD203B41FA5}">
                      <a16:colId xmlns:a16="http://schemas.microsoft.com/office/drawing/2014/main" val="884061864"/>
                    </a:ext>
                  </a:extLst>
                </a:gridCol>
                <a:gridCol w="1934633">
                  <a:extLst>
                    <a:ext uri="{9D8B030D-6E8A-4147-A177-3AD203B41FA5}">
                      <a16:colId xmlns:a16="http://schemas.microsoft.com/office/drawing/2014/main" val="129194225"/>
                    </a:ext>
                  </a:extLst>
                </a:gridCol>
                <a:gridCol w="1934633">
                  <a:extLst>
                    <a:ext uri="{9D8B030D-6E8A-4147-A177-3AD203B41FA5}">
                      <a16:colId xmlns:a16="http://schemas.microsoft.com/office/drawing/2014/main" val="2375367470"/>
                    </a:ext>
                  </a:extLst>
                </a:gridCol>
                <a:gridCol w="1934633">
                  <a:extLst>
                    <a:ext uri="{9D8B030D-6E8A-4147-A177-3AD203B41FA5}">
                      <a16:colId xmlns:a16="http://schemas.microsoft.com/office/drawing/2014/main" val="2956333226"/>
                    </a:ext>
                  </a:extLst>
                </a:gridCol>
                <a:gridCol w="1934633">
                  <a:extLst>
                    <a:ext uri="{9D8B030D-6E8A-4147-A177-3AD203B41FA5}">
                      <a16:colId xmlns:a16="http://schemas.microsoft.com/office/drawing/2014/main" val="2111793254"/>
                    </a:ext>
                  </a:extLst>
                </a:gridCol>
              </a:tblGrid>
              <a:tr h="274916">
                <a:tc>
                  <a:txBody>
                    <a:bodyPr/>
                    <a:lstStyle/>
                    <a:p>
                      <a:r>
                        <a:rPr lang="en-US" sz="1400" dirty="0">
                          <a:latin typeface="Times New Roman" panose="02020603050405020304" pitchFamily="18" charset="0"/>
                          <a:cs typeface="Times New Roman" panose="02020603050405020304" pitchFamily="18" charset="0"/>
                        </a:rPr>
                        <a:t>Approach</a:t>
                      </a:r>
                    </a:p>
                  </a:txBody>
                  <a:tcPr anchor="ctr"/>
                </a:tc>
                <a:tc>
                  <a:txBody>
                    <a:bodyPr/>
                    <a:lstStyle/>
                    <a:p>
                      <a:r>
                        <a:rPr lang="en-US" sz="1400">
                          <a:latin typeface="Times New Roman" panose="02020603050405020304" pitchFamily="18" charset="0"/>
                          <a:cs typeface="Times New Roman" panose="02020603050405020304" pitchFamily="18" charset="0"/>
                        </a:rPr>
                        <a:t>2D Detection</a:t>
                      </a:r>
                    </a:p>
                  </a:txBody>
                  <a:tcPr anchor="ctr"/>
                </a:tc>
                <a:tc>
                  <a:txBody>
                    <a:bodyPr/>
                    <a:lstStyle/>
                    <a:p>
                      <a:r>
                        <a:rPr lang="en-US" sz="1400">
                          <a:latin typeface="Times New Roman" panose="02020603050405020304" pitchFamily="18" charset="0"/>
                          <a:cs typeface="Times New Roman" panose="02020603050405020304" pitchFamily="18" charset="0"/>
                        </a:rPr>
                        <a:t>Depth Info</a:t>
                      </a:r>
                    </a:p>
                  </a:txBody>
                  <a:tcPr anchor="ctr"/>
                </a:tc>
                <a:tc>
                  <a:txBody>
                    <a:bodyPr/>
                    <a:lstStyle/>
                    <a:p>
                      <a:r>
                        <a:rPr lang="en-US" sz="1400">
                          <a:latin typeface="Times New Roman" panose="02020603050405020304" pitchFamily="18" charset="0"/>
                          <a:cs typeface="Times New Roman" panose="02020603050405020304" pitchFamily="18" charset="0"/>
                        </a:rPr>
                        <a:t>Volume Estimation</a:t>
                      </a:r>
                    </a:p>
                  </a:txBody>
                  <a:tcPr anchor="ctr"/>
                </a:tc>
                <a:tc>
                  <a:txBody>
                    <a:bodyPr/>
                    <a:lstStyle/>
                    <a:p>
                      <a:r>
                        <a:rPr lang="en-US" sz="1400">
                          <a:latin typeface="Times New Roman" panose="02020603050405020304" pitchFamily="18" charset="0"/>
                          <a:cs typeface="Times New Roman" panose="02020603050405020304" pitchFamily="18" charset="0"/>
                        </a:rPr>
                        <a:t>Wireframe Modeling</a:t>
                      </a:r>
                    </a:p>
                  </a:txBody>
                  <a:tcPr anchor="ctr"/>
                </a:tc>
                <a:tc>
                  <a:txBody>
                    <a:bodyPr/>
                    <a:lstStyle/>
                    <a:p>
                      <a:r>
                        <a:rPr lang="en-US" sz="1400">
                          <a:latin typeface="Times New Roman" panose="02020603050405020304" pitchFamily="18" charset="0"/>
                          <a:cs typeface="Times New Roman" panose="02020603050405020304" pitchFamily="18" charset="0"/>
                        </a:rPr>
                        <a:t>Cost</a:t>
                      </a:r>
                    </a:p>
                  </a:txBody>
                  <a:tcPr anchor="ctr"/>
                </a:tc>
                <a:extLst>
                  <a:ext uri="{0D108BD9-81ED-4DB2-BD59-A6C34878D82A}">
                    <a16:rowId xmlns:a16="http://schemas.microsoft.com/office/drawing/2014/main" val="1331999473"/>
                  </a:ext>
                </a:extLst>
              </a:tr>
              <a:tr h="465557">
                <a:tc>
                  <a:txBody>
                    <a:bodyPr/>
                    <a:lstStyle/>
                    <a:p>
                      <a:r>
                        <a:rPr lang="en-US" sz="1400" dirty="0">
                          <a:latin typeface="Times New Roman" panose="02020603050405020304" pitchFamily="18" charset="0"/>
                          <a:cs typeface="Times New Roman" panose="02020603050405020304" pitchFamily="18" charset="0"/>
                        </a:rPr>
                        <a:t>CNN (YOLO / R-CNN)</a:t>
                      </a:r>
                    </a:p>
                  </a:txBody>
                  <a:tcPr anchor="ctr"/>
                </a:tc>
                <a:tc>
                  <a:txBody>
                    <a:bodyPr/>
                    <a:lstStyle/>
                    <a:p>
                      <a:r>
                        <a:rPr lang="en-US" sz="1400">
                          <a:latin typeface="Times New Roman" panose="02020603050405020304" pitchFamily="18" charset="0"/>
                          <a:cs typeface="Times New Roman" panose="02020603050405020304" pitchFamily="18" charset="0"/>
                        </a:rPr>
                        <a:t>Yes</a:t>
                      </a:r>
                    </a:p>
                  </a:txBody>
                  <a:tcPr anchor="ctr"/>
                </a:tc>
                <a:tc>
                  <a:txBody>
                    <a:bodyPr/>
                    <a:lstStyle/>
                    <a:p>
                      <a:r>
                        <a:rPr lang="en-US" sz="1400" dirty="0">
                          <a:latin typeface="Times New Roman" panose="02020603050405020304" pitchFamily="18" charset="0"/>
                          <a:cs typeface="Times New Roman" panose="02020603050405020304" pitchFamily="18" charset="0"/>
                        </a:rPr>
                        <a:t>No</a:t>
                      </a:r>
                    </a:p>
                  </a:txBody>
                  <a:tcPr anchor="ctr"/>
                </a:tc>
                <a:tc>
                  <a:txBody>
                    <a:bodyPr/>
                    <a:lstStyle/>
                    <a:p>
                      <a:r>
                        <a:rPr lang="en-US" sz="1400">
                          <a:latin typeface="Times New Roman" panose="02020603050405020304" pitchFamily="18" charset="0"/>
                          <a:cs typeface="Times New Roman" panose="02020603050405020304" pitchFamily="18" charset="0"/>
                        </a:rPr>
                        <a:t>No</a:t>
                      </a:r>
                    </a:p>
                  </a:txBody>
                  <a:tcPr anchor="ctr"/>
                </a:tc>
                <a:tc>
                  <a:txBody>
                    <a:bodyPr/>
                    <a:lstStyle/>
                    <a:p>
                      <a:r>
                        <a:rPr lang="en-US" sz="1400">
                          <a:latin typeface="Times New Roman" panose="02020603050405020304" pitchFamily="18" charset="0"/>
                          <a:cs typeface="Times New Roman" panose="02020603050405020304" pitchFamily="18" charset="0"/>
                        </a:rPr>
                        <a:t>No</a:t>
                      </a:r>
                    </a:p>
                  </a:txBody>
                  <a:tcPr anchor="ctr"/>
                </a:tc>
                <a:tc>
                  <a:txBody>
                    <a:bodyPr/>
                    <a:lstStyle/>
                    <a:p>
                      <a:r>
                        <a:rPr lang="en-US" sz="1400">
                          <a:latin typeface="Times New Roman" panose="02020603050405020304" pitchFamily="18" charset="0"/>
                          <a:cs typeface="Times New Roman" panose="02020603050405020304" pitchFamily="18" charset="0"/>
                        </a:rPr>
                        <a:t>Low</a:t>
                      </a:r>
                    </a:p>
                  </a:txBody>
                  <a:tcPr anchor="ctr"/>
                </a:tc>
                <a:extLst>
                  <a:ext uri="{0D108BD9-81ED-4DB2-BD59-A6C34878D82A}">
                    <a16:rowId xmlns:a16="http://schemas.microsoft.com/office/drawing/2014/main" val="684149697"/>
                  </a:ext>
                </a:extLst>
              </a:tr>
              <a:tr h="274916">
                <a:tc>
                  <a:txBody>
                    <a:bodyPr/>
                    <a:lstStyle/>
                    <a:p>
                      <a:r>
                        <a:rPr lang="en-US" sz="1400">
                          <a:latin typeface="Times New Roman" panose="02020603050405020304" pitchFamily="18" charset="0"/>
                          <a:cs typeface="Times New Roman" panose="02020603050405020304" pitchFamily="18" charset="0"/>
                        </a:rPr>
                        <a:t>Segmentation Models</a:t>
                      </a:r>
                    </a:p>
                  </a:txBody>
                  <a:tcPr anchor="ctr"/>
                </a:tc>
                <a:tc>
                  <a:txBody>
                    <a:bodyPr/>
                    <a:lstStyle/>
                    <a:p>
                      <a:r>
                        <a:rPr lang="en-US" sz="1400">
                          <a:latin typeface="Times New Roman" panose="02020603050405020304" pitchFamily="18" charset="0"/>
                          <a:cs typeface="Times New Roman" panose="02020603050405020304" pitchFamily="18" charset="0"/>
                        </a:rPr>
                        <a:t>Yes</a:t>
                      </a:r>
                    </a:p>
                  </a:txBody>
                  <a:tcPr anchor="ctr"/>
                </a:tc>
                <a:tc>
                  <a:txBody>
                    <a:bodyPr/>
                    <a:lstStyle/>
                    <a:p>
                      <a:r>
                        <a:rPr lang="en-US" sz="1400">
                          <a:latin typeface="Times New Roman" panose="02020603050405020304" pitchFamily="18" charset="0"/>
                          <a:cs typeface="Times New Roman" panose="02020603050405020304" pitchFamily="18" charset="0"/>
                        </a:rPr>
                        <a:t>Partial (Pixel-level)</a:t>
                      </a:r>
                    </a:p>
                  </a:txBody>
                  <a:tcPr anchor="ctr"/>
                </a:tc>
                <a:tc>
                  <a:txBody>
                    <a:bodyPr/>
                    <a:lstStyle/>
                    <a:p>
                      <a:r>
                        <a:rPr lang="en-US" sz="1400">
                          <a:latin typeface="Times New Roman" panose="02020603050405020304" pitchFamily="18" charset="0"/>
                          <a:cs typeface="Times New Roman" panose="02020603050405020304" pitchFamily="18" charset="0"/>
                        </a:rPr>
                        <a:t>No</a:t>
                      </a:r>
                    </a:p>
                  </a:txBody>
                  <a:tcPr anchor="ctr"/>
                </a:tc>
                <a:tc>
                  <a:txBody>
                    <a:bodyPr/>
                    <a:lstStyle/>
                    <a:p>
                      <a:r>
                        <a:rPr lang="en-US" sz="1400">
                          <a:latin typeface="Times New Roman" panose="02020603050405020304" pitchFamily="18" charset="0"/>
                          <a:cs typeface="Times New Roman" panose="02020603050405020304" pitchFamily="18" charset="0"/>
                        </a:rPr>
                        <a:t>No</a:t>
                      </a:r>
                    </a:p>
                  </a:txBody>
                  <a:tcPr anchor="ctr"/>
                </a:tc>
                <a:tc>
                  <a:txBody>
                    <a:bodyPr/>
                    <a:lstStyle/>
                    <a:p>
                      <a:r>
                        <a:rPr lang="en-US" sz="1400">
                          <a:latin typeface="Times New Roman" panose="02020603050405020304" pitchFamily="18" charset="0"/>
                          <a:cs typeface="Times New Roman" panose="02020603050405020304" pitchFamily="18" charset="0"/>
                        </a:rPr>
                        <a:t>Medium</a:t>
                      </a:r>
                    </a:p>
                  </a:txBody>
                  <a:tcPr anchor="ctr"/>
                </a:tc>
                <a:extLst>
                  <a:ext uri="{0D108BD9-81ED-4DB2-BD59-A6C34878D82A}">
                    <a16:rowId xmlns:a16="http://schemas.microsoft.com/office/drawing/2014/main" val="394644091"/>
                  </a:ext>
                </a:extLst>
              </a:tr>
              <a:tr h="465557">
                <a:tc>
                  <a:txBody>
                    <a:bodyPr/>
                    <a:lstStyle/>
                    <a:p>
                      <a:r>
                        <a:rPr lang="en-US" sz="1400">
                          <a:latin typeface="Times New Roman" panose="02020603050405020304" pitchFamily="18" charset="0"/>
                          <a:cs typeface="Times New Roman" panose="02020603050405020304" pitchFamily="18" charset="0"/>
                        </a:rPr>
                        <a:t>RGB-D Based Systems</a:t>
                      </a:r>
                    </a:p>
                  </a:txBody>
                  <a:tcPr anchor="ctr"/>
                </a:tc>
                <a:tc>
                  <a:txBody>
                    <a:bodyPr/>
                    <a:lstStyle/>
                    <a:p>
                      <a:r>
                        <a:rPr lang="en-US" sz="1400">
                          <a:latin typeface="Times New Roman" panose="02020603050405020304" pitchFamily="18" charset="0"/>
                          <a:cs typeface="Times New Roman" panose="02020603050405020304" pitchFamily="18" charset="0"/>
                        </a:rPr>
                        <a:t>Yes</a:t>
                      </a:r>
                    </a:p>
                  </a:txBody>
                  <a:tcPr anchor="ctr"/>
                </a:tc>
                <a:tc>
                  <a:txBody>
                    <a:bodyPr/>
                    <a:lstStyle/>
                    <a:p>
                      <a:r>
                        <a:rPr lang="en-US" sz="1400">
                          <a:latin typeface="Times New Roman" panose="02020603050405020304" pitchFamily="18" charset="0"/>
                          <a:cs typeface="Times New Roman" panose="02020603050405020304" pitchFamily="18" charset="0"/>
                        </a:rPr>
                        <a:t>Yes</a:t>
                      </a:r>
                    </a:p>
                  </a:txBody>
                  <a:tcPr anchor="ctr"/>
                </a:tc>
                <a:tc>
                  <a:txBody>
                    <a:bodyPr/>
                    <a:lstStyle/>
                    <a:p>
                      <a:r>
                        <a:rPr lang="en-US" sz="1400">
                          <a:latin typeface="Times New Roman" panose="02020603050405020304" pitchFamily="18" charset="0"/>
                          <a:cs typeface="Times New Roman" panose="02020603050405020304" pitchFamily="18" charset="0"/>
                        </a:rPr>
                        <a:t>Limited</a:t>
                      </a:r>
                    </a:p>
                  </a:txBody>
                  <a:tcPr anchor="ctr"/>
                </a:tc>
                <a:tc>
                  <a:txBody>
                    <a:bodyPr/>
                    <a:lstStyle/>
                    <a:p>
                      <a:r>
                        <a:rPr lang="en-US" sz="1400">
                          <a:latin typeface="Times New Roman" panose="02020603050405020304" pitchFamily="18" charset="0"/>
                          <a:cs typeface="Times New Roman" panose="02020603050405020304" pitchFamily="18" charset="0"/>
                        </a:rPr>
                        <a:t>No</a:t>
                      </a:r>
                    </a:p>
                  </a:txBody>
                  <a:tcPr anchor="ctr"/>
                </a:tc>
                <a:tc>
                  <a:txBody>
                    <a:bodyPr/>
                    <a:lstStyle/>
                    <a:p>
                      <a:r>
                        <a:rPr lang="en-US" sz="1400">
                          <a:latin typeface="Times New Roman" panose="02020603050405020304" pitchFamily="18" charset="0"/>
                          <a:cs typeface="Times New Roman" panose="02020603050405020304" pitchFamily="18" charset="0"/>
                        </a:rPr>
                        <a:t>Medium</a:t>
                      </a:r>
                    </a:p>
                  </a:txBody>
                  <a:tcPr anchor="ctr"/>
                </a:tc>
                <a:extLst>
                  <a:ext uri="{0D108BD9-81ED-4DB2-BD59-A6C34878D82A}">
                    <a16:rowId xmlns:a16="http://schemas.microsoft.com/office/drawing/2014/main" val="538490829"/>
                  </a:ext>
                </a:extLst>
              </a:tr>
              <a:tr h="465557">
                <a:tc>
                  <a:txBody>
                    <a:bodyPr/>
                    <a:lstStyle/>
                    <a:p>
                      <a:r>
                        <a:rPr lang="en-US" sz="1400">
                          <a:latin typeface="Times New Roman" panose="02020603050405020304" pitchFamily="18" charset="0"/>
                          <a:cs typeface="Times New Roman" panose="02020603050405020304" pitchFamily="18" charset="0"/>
                        </a:rPr>
                        <a:t>LiDAR + CNN Fusion</a:t>
                      </a:r>
                    </a:p>
                  </a:txBody>
                  <a:tcPr anchor="ctr"/>
                </a:tc>
                <a:tc>
                  <a:txBody>
                    <a:bodyPr/>
                    <a:lstStyle/>
                    <a:p>
                      <a:r>
                        <a:rPr lang="en-US" sz="1400">
                          <a:latin typeface="Times New Roman" panose="02020603050405020304" pitchFamily="18" charset="0"/>
                          <a:cs typeface="Times New Roman" panose="02020603050405020304" pitchFamily="18" charset="0"/>
                        </a:rPr>
                        <a:t>Yes</a:t>
                      </a:r>
                    </a:p>
                  </a:txBody>
                  <a:tcPr anchor="ctr"/>
                </a:tc>
                <a:tc>
                  <a:txBody>
                    <a:bodyPr/>
                    <a:lstStyle/>
                    <a:p>
                      <a:r>
                        <a:rPr lang="en-US" sz="1400">
                          <a:latin typeface="Times New Roman" panose="02020603050405020304" pitchFamily="18" charset="0"/>
                          <a:cs typeface="Times New Roman" panose="02020603050405020304" pitchFamily="18" charset="0"/>
                        </a:rPr>
                        <a:t>Yes</a:t>
                      </a:r>
                    </a:p>
                  </a:txBody>
                  <a:tcPr anchor="ctr"/>
                </a:tc>
                <a:tc>
                  <a:txBody>
                    <a:bodyPr/>
                    <a:lstStyle/>
                    <a:p>
                      <a:r>
                        <a:rPr lang="en-US" sz="1400">
                          <a:latin typeface="Times New Roman" panose="02020603050405020304" pitchFamily="18" charset="0"/>
                          <a:cs typeface="Times New Roman" panose="02020603050405020304" pitchFamily="18" charset="0"/>
                        </a:rPr>
                        <a:t>Yes</a:t>
                      </a:r>
                    </a:p>
                  </a:txBody>
                  <a:tcPr anchor="ctr"/>
                </a:tc>
                <a:tc>
                  <a:txBody>
                    <a:bodyPr/>
                    <a:lstStyle/>
                    <a:p>
                      <a:r>
                        <a:rPr lang="en-US" sz="1400">
                          <a:latin typeface="Times New Roman" panose="02020603050405020304" pitchFamily="18" charset="0"/>
                          <a:cs typeface="Times New Roman" panose="02020603050405020304" pitchFamily="18" charset="0"/>
                        </a:rPr>
                        <a:t>Surface Approx.</a:t>
                      </a:r>
                    </a:p>
                  </a:txBody>
                  <a:tcPr anchor="ctr"/>
                </a:tc>
                <a:tc>
                  <a:txBody>
                    <a:bodyPr/>
                    <a:lstStyle/>
                    <a:p>
                      <a:r>
                        <a:rPr lang="en-US" sz="1400">
                          <a:latin typeface="Times New Roman" panose="02020603050405020304" pitchFamily="18" charset="0"/>
                          <a:cs typeface="Times New Roman" panose="02020603050405020304" pitchFamily="18" charset="0"/>
                        </a:rPr>
                        <a:t>High</a:t>
                      </a:r>
                    </a:p>
                  </a:txBody>
                  <a:tcPr anchor="ctr"/>
                </a:tc>
                <a:extLst>
                  <a:ext uri="{0D108BD9-81ED-4DB2-BD59-A6C34878D82A}">
                    <a16:rowId xmlns:a16="http://schemas.microsoft.com/office/drawing/2014/main" val="3944226116"/>
                  </a:ext>
                </a:extLst>
              </a:tr>
              <a:tr h="465557">
                <a:tc>
                  <a:txBody>
                    <a:bodyPr/>
                    <a:lstStyle/>
                    <a:p>
                      <a:r>
                        <a:rPr lang="en-US" sz="1400">
                          <a:latin typeface="Times New Roman" panose="02020603050405020304" pitchFamily="18" charset="0"/>
                          <a:cs typeface="Times New Roman" panose="02020603050405020304" pitchFamily="18" charset="0"/>
                        </a:rPr>
                        <a:t>Proposed Wireframe Direction</a:t>
                      </a:r>
                    </a:p>
                  </a:txBody>
                  <a:tcPr anchor="ctr"/>
                </a:tc>
                <a:tc>
                  <a:txBody>
                    <a:bodyPr/>
                    <a:lstStyle/>
                    <a:p>
                      <a:r>
                        <a:rPr lang="en-US" sz="1400">
                          <a:latin typeface="Times New Roman" panose="02020603050405020304" pitchFamily="18" charset="0"/>
                          <a:cs typeface="Times New Roman" panose="02020603050405020304" pitchFamily="18" charset="0"/>
                        </a:rPr>
                        <a:t>Yes</a:t>
                      </a:r>
                    </a:p>
                  </a:txBody>
                  <a:tcPr anchor="ctr"/>
                </a:tc>
                <a:tc>
                  <a:txBody>
                    <a:bodyPr/>
                    <a:lstStyle/>
                    <a:p>
                      <a:r>
                        <a:rPr lang="en-US" sz="1400">
                          <a:latin typeface="Times New Roman" panose="02020603050405020304" pitchFamily="18" charset="0"/>
                          <a:cs typeface="Times New Roman" panose="02020603050405020304" pitchFamily="18" charset="0"/>
                        </a:rPr>
                        <a:t>Yes (Monocular)</a:t>
                      </a:r>
                    </a:p>
                  </a:txBody>
                  <a:tcPr anchor="ctr"/>
                </a:tc>
                <a:tc>
                  <a:txBody>
                    <a:bodyPr/>
                    <a:lstStyle/>
                    <a:p>
                      <a:r>
                        <a:rPr lang="en-US" sz="1400">
                          <a:latin typeface="Times New Roman" panose="02020603050405020304" pitchFamily="18" charset="0"/>
                          <a:cs typeface="Times New Roman" panose="02020603050405020304" pitchFamily="18" charset="0"/>
                        </a:rPr>
                        <a:t>Yes</a:t>
                      </a:r>
                    </a:p>
                  </a:txBody>
                  <a:tcPr anchor="ctr"/>
                </a:tc>
                <a:tc>
                  <a:txBody>
                    <a:bodyPr/>
                    <a:lstStyle/>
                    <a:p>
                      <a:r>
                        <a:rPr lang="en-US" sz="1400">
                          <a:latin typeface="Times New Roman" panose="02020603050405020304" pitchFamily="18" charset="0"/>
                          <a:cs typeface="Times New Roman" panose="02020603050405020304" pitchFamily="18" charset="0"/>
                        </a:rPr>
                        <a:t>Yes</a:t>
                      </a:r>
                    </a:p>
                  </a:txBody>
                  <a:tcPr anchor="ctr"/>
                </a:tc>
                <a:tc>
                  <a:txBody>
                    <a:bodyPr/>
                    <a:lstStyle/>
                    <a:p>
                      <a:r>
                        <a:rPr lang="en-US" sz="1400" dirty="0">
                          <a:latin typeface="Times New Roman" panose="02020603050405020304" pitchFamily="18" charset="0"/>
                          <a:cs typeface="Times New Roman" panose="02020603050405020304" pitchFamily="18" charset="0"/>
                        </a:rPr>
                        <a:t>Low–Medium</a:t>
                      </a:r>
                    </a:p>
                  </a:txBody>
                  <a:tcPr anchor="ctr"/>
                </a:tc>
                <a:extLst>
                  <a:ext uri="{0D108BD9-81ED-4DB2-BD59-A6C34878D82A}">
                    <a16:rowId xmlns:a16="http://schemas.microsoft.com/office/drawing/2014/main" val="1636095398"/>
                  </a:ext>
                </a:extLst>
              </a:tr>
            </a:tbl>
          </a:graphicData>
        </a:graphic>
      </p:graphicFrame>
      <p:sp>
        <p:nvSpPr>
          <p:cNvPr id="11" name="TextBox 10">
            <a:extLst>
              <a:ext uri="{FF2B5EF4-FFF2-40B4-BE49-F238E27FC236}">
                <a16:creationId xmlns:a16="http://schemas.microsoft.com/office/drawing/2014/main" id="{BA808CF4-F9D9-B8BE-8E3F-CF6E4FA17852}"/>
              </a:ext>
            </a:extLst>
          </p:cNvPr>
          <p:cNvSpPr txBox="1"/>
          <p:nvPr/>
        </p:nvSpPr>
        <p:spPr>
          <a:xfrm>
            <a:off x="900112" y="1664076"/>
            <a:ext cx="10587037" cy="2308324"/>
          </a:xfrm>
          <a:prstGeom prst="rect">
            <a:avLst/>
          </a:prstGeom>
          <a:noFill/>
        </p:spPr>
        <p:txBody>
          <a:bodyPr wrap="square" numCol="1" rtlCol="0">
            <a:spAutoFit/>
          </a:bodyPr>
          <a:lstStyle/>
          <a:p>
            <a:r>
              <a:rPr lang="en-US" sz="1600" dirty="0">
                <a:latin typeface="Times New Roman" panose="02020603050405020304" pitchFamily="18" charset="0"/>
                <a:cs typeface="Times New Roman" panose="02020603050405020304" pitchFamily="18" charset="0"/>
              </a:rPr>
              <a:t>While many systems achieve high detection accuracy, fewer systems provide geometric understanding of potholes.</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We evaluate methods based on:</a:t>
            </a:r>
          </a:p>
          <a:p>
            <a:pPr marL="285750" indent="-285750">
              <a:buFont typeface="Courier New" panose="02070309020205020404" pitchFamily="49" charset="0"/>
              <a:buChar char="o"/>
            </a:pPr>
            <a:r>
              <a:rPr lang="en-US" sz="1600" dirty="0">
                <a:latin typeface="Times New Roman" panose="02020603050405020304" pitchFamily="18" charset="0"/>
                <a:cs typeface="Times New Roman" panose="02020603050405020304" pitchFamily="18" charset="0"/>
              </a:rPr>
              <a:t>2D Detection</a:t>
            </a:r>
          </a:p>
          <a:p>
            <a:pPr marL="285750" indent="-285750">
              <a:buFont typeface="Courier New" panose="02070309020205020404" pitchFamily="49" charset="0"/>
              <a:buChar char="o"/>
            </a:pPr>
            <a:r>
              <a:rPr lang="en-US" sz="1600" dirty="0">
                <a:latin typeface="Times New Roman" panose="02020603050405020304" pitchFamily="18" charset="0"/>
                <a:cs typeface="Times New Roman" panose="02020603050405020304" pitchFamily="18" charset="0"/>
              </a:rPr>
              <a:t>Depth Estimation</a:t>
            </a:r>
          </a:p>
          <a:p>
            <a:pPr marL="285750" indent="-285750">
              <a:buFont typeface="Courier New" panose="02070309020205020404" pitchFamily="49" charset="0"/>
              <a:buChar char="o"/>
            </a:pPr>
            <a:r>
              <a:rPr lang="en-US" sz="1600" dirty="0">
                <a:latin typeface="Times New Roman" panose="02020603050405020304" pitchFamily="18" charset="0"/>
                <a:cs typeface="Times New Roman" panose="02020603050405020304" pitchFamily="18" charset="0"/>
              </a:rPr>
              <a:t>Volume Calculation</a:t>
            </a:r>
          </a:p>
          <a:p>
            <a:pPr marL="285750" indent="-285750">
              <a:buFont typeface="Courier New" panose="02070309020205020404" pitchFamily="49" charset="0"/>
              <a:buChar char="o"/>
            </a:pPr>
            <a:r>
              <a:rPr lang="en-US" sz="1600" dirty="0">
                <a:latin typeface="Times New Roman" panose="02020603050405020304" pitchFamily="18" charset="0"/>
                <a:cs typeface="Times New Roman" panose="02020603050405020304" pitchFamily="18" charset="0"/>
              </a:rPr>
              <a:t>Wireframe / Structural Modeling</a:t>
            </a:r>
          </a:p>
          <a:p>
            <a:pPr marL="285750" indent="-285750">
              <a:buFont typeface="Courier New" panose="02070309020205020404" pitchFamily="49" charset="0"/>
              <a:buChar char="o"/>
            </a:pPr>
            <a:r>
              <a:rPr lang="en-US" sz="1600" dirty="0">
                <a:latin typeface="Times New Roman" panose="02020603050405020304" pitchFamily="18" charset="0"/>
                <a:cs typeface="Times New Roman" panose="02020603050405020304" pitchFamily="18" charset="0"/>
              </a:rPr>
              <a:t>Hardware Cost</a:t>
            </a:r>
          </a:p>
          <a:p>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208555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9E0A8B-08D8-4C5D-91A3-32DDF766E2B9}"/>
              </a:ext>
            </a:extLst>
          </p:cNvPr>
          <p:cNvSpPr>
            <a:spLocks noGrp="1"/>
          </p:cNvSpPr>
          <p:nvPr>
            <p:ph type="title"/>
          </p:nvPr>
        </p:nvSpPr>
        <p:spPr>
          <a:xfrm>
            <a:off x="635001" y="640823"/>
            <a:ext cx="3422650" cy="5583148"/>
          </a:xfrm>
        </p:spPr>
        <p:txBody>
          <a:bodyPr anchor="ctr">
            <a:normAutofit/>
          </a:bodyPr>
          <a:lstStyle/>
          <a:p>
            <a:r>
              <a:rPr lang="en-US" sz="3600" spc="210" dirty="0">
                <a:latin typeface="Times New Roman" panose="02020603050405020304" pitchFamily="18" charset="0"/>
                <a:cs typeface="Times New Roman" panose="02020603050405020304" pitchFamily="18" charset="0"/>
              </a:rPr>
              <a:t>RESULT &amp; DISCUSSION</a:t>
            </a:r>
            <a:endParaRPr lang="en-US" sz="3600" dirty="0">
              <a:latin typeface="Times New Roman" panose="02020603050405020304" pitchFamily="18" charset="0"/>
              <a:cs typeface="Times New Roman" panose="02020603050405020304" pitchFamily="18" charset="0"/>
            </a:endParaRPr>
          </a:p>
        </p:txBody>
      </p:sp>
      <p:graphicFrame>
        <p:nvGraphicFramePr>
          <p:cNvPr id="26" name="Content Placeholder 2">
            <a:extLst>
              <a:ext uri="{FF2B5EF4-FFF2-40B4-BE49-F238E27FC236}">
                <a16:creationId xmlns:a16="http://schemas.microsoft.com/office/drawing/2014/main" id="{80A12CBC-5734-EAB1-4041-59DA42F6B401}"/>
              </a:ext>
            </a:extLst>
          </p:cNvPr>
          <p:cNvGraphicFramePr>
            <a:graphicFrameLocks noGrp="1"/>
          </p:cNvGraphicFramePr>
          <p:nvPr>
            <p:ph idx="1"/>
            <p:extLst>
              <p:ext uri="{D42A27DB-BD31-4B8C-83A1-F6EECF244321}">
                <p14:modId xmlns:p14="http://schemas.microsoft.com/office/powerpoint/2010/main" val="2303160225"/>
              </p:ext>
            </p:extLst>
          </p:nvPr>
        </p:nvGraphicFramePr>
        <p:xfrm>
          <a:off x="4248523" y="804084"/>
          <a:ext cx="6839687" cy="48687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Footer Placeholder 3">
            <a:extLst>
              <a:ext uri="{FF2B5EF4-FFF2-40B4-BE49-F238E27FC236}">
                <a16:creationId xmlns:a16="http://schemas.microsoft.com/office/drawing/2014/main" id="{7FB3E221-C3FE-47E6-9341-9118F7739478}"/>
              </a:ext>
            </a:extLst>
          </p:cNvPr>
          <p:cNvSpPr>
            <a:spLocks noGrp="1"/>
          </p:cNvSpPr>
          <p:nvPr>
            <p:ph type="ftr" sz="quarter" idx="11"/>
          </p:nvPr>
        </p:nvSpPr>
        <p:spPr>
          <a:xfrm>
            <a:off x="3616956" y="6311591"/>
            <a:ext cx="4088536" cy="307212"/>
          </a:xfrm>
        </p:spPr>
        <p:txBody>
          <a:bodyPr/>
          <a:lstStyle/>
          <a:p>
            <a:pPr defTabSz="640080">
              <a:spcAft>
                <a:spcPts val="600"/>
              </a:spcAft>
            </a:pPr>
            <a:r>
              <a:rPr lang="en-US" kern="1200" dirty="0">
                <a:solidFill>
                  <a:schemeClr val="tx1">
                    <a:tint val="75000"/>
                  </a:schemeClr>
                </a:solidFill>
              </a:rPr>
              <a:t>Paper ID : 2602051     Category : UG</a:t>
            </a:r>
            <a:endParaRPr lang="en-US" dirty="0"/>
          </a:p>
        </p:txBody>
      </p:sp>
    </p:spTree>
    <p:extLst>
      <p:ext uri="{BB962C8B-B14F-4D97-AF65-F5344CB8AC3E}">
        <p14:creationId xmlns:p14="http://schemas.microsoft.com/office/powerpoint/2010/main" val="28934121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CCFCD36-7390-ACED-CA10-A59AEF013B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EF9883-C74E-3FEF-BCF8-1CF9726F9FDD}"/>
              </a:ext>
            </a:extLst>
          </p:cNvPr>
          <p:cNvSpPr>
            <a:spLocks noGrp="1"/>
          </p:cNvSpPr>
          <p:nvPr>
            <p:ph type="title"/>
          </p:nvPr>
        </p:nvSpPr>
        <p:spPr>
          <a:xfrm>
            <a:off x="1901826" y="938973"/>
            <a:ext cx="9566274" cy="740302"/>
          </a:xfrm>
        </p:spPr>
        <p:txBody>
          <a:bodyPr anchor="ctr">
            <a:normAutofit/>
          </a:bodyPr>
          <a:lstStyle/>
          <a:p>
            <a:r>
              <a:rPr lang="en-US" sz="3600" spc="210" dirty="0">
                <a:latin typeface="Times New Roman" panose="02020603050405020304" pitchFamily="18" charset="0"/>
                <a:cs typeface="Times New Roman" panose="02020603050405020304" pitchFamily="18" charset="0"/>
              </a:rPr>
              <a:t>CONCLUSION</a:t>
            </a:r>
            <a:endParaRPr lang="en-US" sz="3600" dirty="0">
              <a:latin typeface="Times New Roman" panose="02020603050405020304" pitchFamily="18" charset="0"/>
              <a:cs typeface="Times New Roman" panose="02020603050405020304" pitchFamily="18" charset="0"/>
            </a:endParaRPr>
          </a:p>
        </p:txBody>
      </p:sp>
      <p:sp>
        <p:nvSpPr>
          <p:cNvPr id="3" name="Footer Placeholder 3">
            <a:extLst>
              <a:ext uri="{FF2B5EF4-FFF2-40B4-BE49-F238E27FC236}">
                <a16:creationId xmlns:a16="http://schemas.microsoft.com/office/drawing/2014/main" id="{09652E42-3C57-5988-AB0A-BEE1537A0F79}"/>
              </a:ext>
            </a:extLst>
          </p:cNvPr>
          <p:cNvSpPr>
            <a:spLocks noGrp="1"/>
          </p:cNvSpPr>
          <p:nvPr>
            <p:ph type="ftr" sz="quarter" idx="11"/>
          </p:nvPr>
        </p:nvSpPr>
        <p:spPr>
          <a:xfrm>
            <a:off x="3616956" y="6311591"/>
            <a:ext cx="4088536" cy="307212"/>
          </a:xfrm>
        </p:spPr>
        <p:txBody>
          <a:bodyPr/>
          <a:lstStyle/>
          <a:p>
            <a:pPr defTabSz="640080">
              <a:spcAft>
                <a:spcPts val="600"/>
              </a:spcAft>
            </a:pPr>
            <a:r>
              <a:rPr lang="en-US" kern="1200" dirty="0">
                <a:solidFill>
                  <a:schemeClr val="tx1">
                    <a:tint val="75000"/>
                  </a:schemeClr>
                </a:solidFill>
              </a:rPr>
              <a:t>Paper ID : 2602051     Category : UG</a:t>
            </a:r>
            <a:endParaRPr lang="en-US" dirty="0"/>
          </a:p>
        </p:txBody>
      </p:sp>
      <p:sp>
        <p:nvSpPr>
          <p:cNvPr id="5" name="Content Placeholder 4">
            <a:extLst>
              <a:ext uri="{FF2B5EF4-FFF2-40B4-BE49-F238E27FC236}">
                <a16:creationId xmlns:a16="http://schemas.microsoft.com/office/drawing/2014/main" id="{E35E5E49-8FAF-A80B-4989-20839FDA794F}"/>
              </a:ext>
            </a:extLst>
          </p:cNvPr>
          <p:cNvSpPr>
            <a:spLocks noGrp="1"/>
          </p:cNvSpPr>
          <p:nvPr>
            <p:ph idx="1"/>
          </p:nvPr>
        </p:nvSpPr>
        <p:spPr/>
        <p:txBody>
          <a:bodyPr>
            <a:normAutofit fontScale="85000" lnSpcReduction="20000"/>
          </a:bodyPr>
          <a:lstStyle/>
          <a:p>
            <a:pPr algn="just"/>
            <a:r>
              <a:rPr lang="en-US" dirty="0">
                <a:latin typeface="Times New Roman" panose="02020603050405020304" pitchFamily="18" charset="0"/>
                <a:cs typeface="Times New Roman" panose="02020603050405020304" pitchFamily="18" charset="0"/>
              </a:rPr>
              <a:t>This survey reviewed recent developments in vision-based pothole detection, highlighting progress from traditional image processing to deep learning, segmentation, and depth-integrated approaches. While modern models such as YOLO variants achieve strong real-time performance, most existing systems remain limited to 2D localization and lack structural understanding of pothole geometry.</a:t>
            </a:r>
          </a:p>
          <a:p>
            <a:pPr algn="just"/>
            <a:r>
              <a:rPr lang="en-US" dirty="0">
                <a:latin typeface="Times New Roman" panose="02020603050405020304" pitchFamily="18" charset="0"/>
                <a:cs typeface="Times New Roman" panose="02020603050405020304" pitchFamily="18" charset="0"/>
              </a:rPr>
              <a:t>Comparative analysis shows a clear trade-off between detection speed, geometric accuracy, and hardware cost. LiDAR-based methods provide precise depth estimation but increase system complexity, whereas camera-only models are lightweight but structurally limited.</a:t>
            </a:r>
          </a:p>
          <a:p>
            <a:pPr algn="just"/>
            <a:r>
              <a:rPr lang="en-US" dirty="0">
                <a:latin typeface="Times New Roman" panose="02020603050405020304" pitchFamily="18" charset="0"/>
                <a:cs typeface="Times New Roman" panose="02020603050405020304" pitchFamily="18" charset="0"/>
              </a:rPr>
              <a:t>Therefore, there is a clear need for a unified, real-time, camera-based framework that integrates detection, depth estimation, and geometric modeling. This direction forms the foundation for developing a Real-Time Wireframe Pothole Detection System suitable for autonomous vehicles and intelligent transportation systems.</a:t>
            </a:r>
          </a:p>
          <a:p>
            <a:pPr marL="0" indent="0" algn="just">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370471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519B0-7569-4718-B9DF-FB537932F407}"/>
              </a:ext>
            </a:extLst>
          </p:cNvPr>
          <p:cNvSpPr>
            <a:spLocks noGrp="1"/>
          </p:cNvSpPr>
          <p:nvPr>
            <p:ph type="title"/>
          </p:nvPr>
        </p:nvSpPr>
        <p:spPr>
          <a:xfrm>
            <a:off x="3711207" y="845544"/>
            <a:ext cx="4994429" cy="788972"/>
          </a:xfrm>
        </p:spPr>
        <p:txBody>
          <a:bodyPr/>
          <a:lstStyle/>
          <a:p>
            <a:r>
              <a:rPr lang="en-US" sz="3600" spc="210" dirty="0">
                <a:solidFill>
                  <a:srgbClr val="49403C"/>
                </a:solidFill>
                <a:latin typeface="Times New Roman" panose="02020603050405020304" pitchFamily="18" charset="0"/>
                <a:cs typeface="Times New Roman" panose="02020603050405020304" pitchFamily="18" charset="0"/>
              </a:rPr>
              <a:t>REFERENCES</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2BC12C9-5B22-4DD8-9900-204BDE96E6FF}"/>
              </a:ext>
            </a:extLst>
          </p:cNvPr>
          <p:cNvSpPr>
            <a:spLocks noGrp="1"/>
          </p:cNvSpPr>
          <p:nvPr>
            <p:ph idx="1"/>
          </p:nvPr>
        </p:nvSpPr>
        <p:spPr/>
        <p:txBody>
          <a:bodyPr>
            <a:normAutofit fontScale="62500" lnSpcReduction="20000"/>
          </a:bodyPr>
          <a:lstStyle/>
          <a:p>
            <a:pPr marL="0" indent="0" algn="just">
              <a:lnSpc>
                <a:spcPct val="120000"/>
              </a:lnSpc>
              <a:buNone/>
            </a:pPr>
            <a:r>
              <a:rPr lang="en-US" sz="2800" dirty="0">
                <a:solidFill>
                  <a:srgbClr val="000000"/>
                </a:solidFill>
                <a:latin typeface="Times New Roman" panose="02020603050405020304" pitchFamily="18" charset="0"/>
                <a:cs typeface="Times New Roman" panose="02020603050405020304" pitchFamily="18" charset="0"/>
              </a:rPr>
              <a:t>[1] E. </a:t>
            </a:r>
            <a:r>
              <a:rPr lang="en-US" sz="2800" dirty="0" err="1">
                <a:solidFill>
                  <a:srgbClr val="000000"/>
                </a:solidFill>
                <a:latin typeface="Times New Roman" panose="02020603050405020304" pitchFamily="18" charset="0"/>
                <a:cs typeface="Times New Roman" panose="02020603050405020304" pitchFamily="18" charset="0"/>
              </a:rPr>
              <a:t>Moscoso</a:t>
            </a:r>
            <a:r>
              <a:rPr lang="en-US" sz="2800" dirty="0">
                <a:solidFill>
                  <a:srgbClr val="000000"/>
                </a:solidFill>
                <a:latin typeface="Times New Roman" panose="02020603050405020304" pitchFamily="18" charset="0"/>
                <a:cs typeface="Times New Roman" panose="02020603050405020304" pitchFamily="18" charset="0"/>
              </a:rPr>
              <a:t> Thompson, A. Ranieri, S. </a:t>
            </a:r>
            <a:r>
              <a:rPr lang="en-US" sz="2800" dirty="0" err="1">
                <a:solidFill>
                  <a:srgbClr val="000000"/>
                </a:solidFill>
                <a:latin typeface="Times New Roman" panose="02020603050405020304" pitchFamily="18" charset="0"/>
                <a:cs typeface="Times New Roman" panose="02020603050405020304" pitchFamily="18" charset="0"/>
              </a:rPr>
              <a:t>Biasotti</a:t>
            </a:r>
            <a:r>
              <a:rPr lang="en-US" sz="2800" dirty="0">
                <a:solidFill>
                  <a:srgbClr val="000000"/>
                </a:solidFill>
                <a:latin typeface="Times New Roman" panose="02020603050405020304" pitchFamily="18" charset="0"/>
                <a:cs typeface="Times New Roman" panose="02020603050405020304" pitchFamily="18" charset="0"/>
              </a:rPr>
              <a:t>, M. </a:t>
            </a:r>
            <a:r>
              <a:rPr lang="en-US" sz="2800" dirty="0" err="1">
                <a:solidFill>
                  <a:srgbClr val="000000"/>
                </a:solidFill>
                <a:latin typeface="Times New Roman" panose="02020603050405020304" pitchFamily="18" charset="0"/>
                <a:cs typeface="Times New Roman" panose="02020603050405020304" pitchFamily="18" charset="0"/>
              </a:rPr>
              <a:t>Chicchon</a:t>
            </a:r>
            <a:r>
              <a:rPr lang="en-US" sz="2800" dirty="0">
                <a:solidFill>
                  <a:srgbClr val="000000"/>
                </a:solidFill>
                <a:latin typeface="Times New Roman" panose="02020603050405020304" pitchFamily="18" charset="0"/>
                <a:cs typeface="Times New Roman" panose="02020603050405020304" pitchFamily="18" charset="0"/>
              </a:rPr>
              <a:t>, I. </a:t>
            </a:r>
            <a:r>
              <a:rPr lang="en-US" sz="2800" dirty="0" err="1">
                <a:solidFill>
                  <a:srgbClr val="000000"/>
                </a:solidFill>
                <a:latin typeface="Times New Roman" panose="02020603050405020304" pitchFamily="18" charset="0"/>
                <a:cs typeface="Times New Roman" panose="02020603050405020304" pitchFamily="18" charset="0"/>
              </a:rPr>
              <a:t>Sipiran</a:t>
            </a:r>
            <a:r>
              <a:rPr lang="en-US" sz="2800" dirty="0">
                <a:solidFill>
                  <a:srgbClr val="000000"/>
                </a:solidFill>
                <a:latin typeface="Times New Roman" panose="02020603050405020304" pitchFamily="18" charset="0"/>
                <a:cs typeface="Times New Roman" panose="02020603050405020304" pitchFamily="18" charset="0"/>
              </a:rPr>
              <a:t>, M.-K. Pham, T.-L. Nguyen-Ho, H.-D. Nguyen, and M.-T. Tran, “SHREC 2022: Pothole and Crack Detection in the Road Pavement Using Images and RGB-D Data,” </a:t>
            </a:r>
            <a:r>
              <a:rPr lang="en-US" sz="2800" dirty="0" err="1">
                <a:solidFill>
                  <a:srgbClr val="000000"/>
                </a:solidFill>
                <a:latin typeface="Times New Roman" panose="02020603050405020304" pitchFamily="18" charset="0"/>
                <a:cs typeface="Times New Roman" panose="02020603050405020304" pitchFamily="18" charset="0"/>
              </a:rPr>
              <a:t>arXiv</a:t>
            </a:r>
            <a:r>
              <a:rPr lang="en-US" sz="2800" dirty="0">
                <a:solidFill>
                  <a:srgbClr val="000000"/>
                </a:solidFill>
                <a:latin typeface="Times New Roman" panose="02020603050405020304" pitchFamily="18" charset="0"/>
                <a:cs typeface="Times New Roman" panose="02020603050405020304" pitchFamily="18" charset="0"/>
              </a:rPr>
              <a:t> preprint arXiv:2205.13326, Jul. 2022. </a:t>
            </a:r>
          </a:p>
          <a:p>
            <a:pPr marL="0" indent="0" algn="just">
              <a:lnSpc>
                <a:spcPct val="120000"/>
              </a:lnSpc>
              <a:buNone/>
            </a:pPr>
            <a:r>
              <a:rPr lang="en-US" sz="2800" dirty="0">
                <a:solidFill>
                  <a:srgbClr val="000000"/>
                </a:solidFill>
                <a:latin typeface="Times New Roman" panose="02020603050405020304" pitchFamily="18" charset="0"/>
                <a:cs typeface="Times New Roman" panose="02020603050405020304" pitchFamily="18" charset="0"/>
              </a:rPr>
              <a:t>[2] A. A. </a:t>
            </a:r>
            <a:r>
              <a:rPr lang="en-US" sz="2800" dirty="0" err="1">
                <a:solidFill>
                  <a:srgbClr val="000000"/>
                </a:solidFill>
                <a:latin typeface="Times New Roman" panose="02020603050405020304" pitchFamily="18" charset="0"/>
                <a:cs typeface="Times New Roman" panose="02020603050405020304" pitchFamily="18" charset="0"/>
              </a:rPr>
              <a:t>Alhussan</a:t>
            </a:r>
            <a:r>
              <a:rPr lang="en-US" sz="2800" dirty="0">
                <a:solidFill>
                  <a:srgbClr val="000000"/>
                </a:solidFill>
                <a:latin typeface="Times New Roman" panose="02020603050405020304" pitchFamily="18" charset="0"/>
                <a:cs typeface="Times New Roman" panose="02020603050405020304" pitchFamily="18" charset="0"/>
              </a:rPr>
              <a:t>, D. S. </a:t>
            </a:r>
            <a:r>
              <a:rPr lang="en-US" sz="2800" dirty="0" err="1">
                <a:solidFill>
                  <a:srgbClr val="000000"/>
                </a:solidFill>
                <a:latin typeface="Times New Roman" panose="02020603050405020304" pitchFamily="18" charset="0"/>
                <a:cs typeface="Times New Roman" panose="02020603050405020304" pitchFamily="18" charset="0"/>
              </a:rPr>
              <a:t>Khafaga</a:t>
            </a:r>
            <a:r>
              <a:rPr lang="en-US" sz="2800" dirty="0">
                <a:solidFill>
                  <a:srgbClr val="000000"/>
                </a:solidFill>
                <a:latin typeface="Times New Roman" panose="02020603050405020304" pitchFamily="18" charset="0"/>
                <a:cs typeface="Times New Roman" panose="02020603050405020304" pitchFamily="18" charset="0"/>
              </a:rPr>
              <a:t>, E.-S. M. El-</a:t>
            </a:r>
            <a:r>
              <a:rPr lang="en-US" sz="2800" dirty="0" err="1">
                <a:solidFill>
                  <a:srgbClr val="000000"/>
                </a:solidFill>
                <a:latin typeface="Times New Roman" panose="02020603050405020304" pitchFamily="18" charset="0"/>
                <a:cs typeface="Times New Roman" panose="02020603050405020304" pitchFamily="18" charset="0"/>
              </a:rPr>
              <a:t>Kenawy</a:t>
            </a:r>
            <a:r>
              <a:rPr lang="en-US" sz="2800" dirty="0">
                <a:solidFill>
                  <a:srgbClr val="000000"/>
                </a:solidFill>
                <a:latin typeface="Times New Roman" panose="02020603050405020304" pitchFamily="18" charset="0"/>
                <a:cs typeface="Times New Roman" panose="02020603050405020304" pitchFamily="18" charset="0"/>
              </a:rPr>
              <a:t>, A. Ibrahim, M. M. Eid, and A. A. Abdelhamid, “Pothole and Plain Road Classification Using Adaptive Mutation Dipper Throated Optimization and Transfer Learning for Self Driving Cars,” IEEE Access, vol. 10, pp. 84188–84202, 2022. </a:t>
            </a:r>
            <a:r>
              <a:rPr lang="en-US" sz="2800" dirty="0" err="1">
                <a:solidFill>
                  <a:srgbClr val="000000"/>
                </a:solidFill>
                <a:latin typeface="Times New Roman" panose="02020603050405020304" pitchFamily="18" charset="0"/>
                <a:cs typeface="Times New Roman" panose="02020603050405020304" pitchFamily="18" charset="0"/>
              </a:rPr>
              <a:t>doi</a:t>
            </a:r>
            <a:r>
              <a:rPr lang="en-US" sz="2800" dirty="0">
                <a:solidFill>
                  <a:srgbClr val="000000"/>
                </a:solidFill>
                <a:latin typeface="Times New Roman" panose="02020603050405020304" pitchFamily="18" charset="0"/>
                <a:cs typeface="Times New Roman" panose="02020603050405020304" pitchFamily="18" charset="0"/>
              </a:rPr>
              <a:t>: 10.1109/ACCESS.2022.3196660. </a:t>
            </a:r>
          </a:p>
          <a:p>
            <a:pPr marL="0" indent="0" algn="just">
              <a:lnSpc>
                <a:spcPct val="120000"/>
              </a:lnSpc>
              <a:buNone/>
            </a:pPr>
            <a:r>
              <a:rPr lang="en-US" sz="2800" dirty="0">
                <a:solidFill>
                  <a:srgbClr val="000000"/>
                </a:solidFill>
                <a:latin typeface="Times New Roman" panose="02020603050405020304" pitchFamily="18" charset="0"/>
                <a:cs typeface="Times New Roman" panose="02020603050405020304" pitchFamily="18" charset="0"/>
              </a:rPr>
              <a:t>[3] D. Wang, H. Zhu, Y. Xu, and K. Liu, “Robust Video-Based Pothole Detection and Area Estimation for Intelligent Vehicles with Depth Map and Kalman Smoothing,” </a:t>
            </a:r>
            <a:r>
              <a:rPr lang="en-US" sz="2800" dirty="0" err="1">
                <a:solidFill>
                  <a:srgbClr val="000000"/>
                </a:solidFill>
                <a:latin typeface="Times New Roman" panose="02020603050405020304" pitchFamily="18" charset="0"/>
                <a:cs typeface="Times New Roman" panose="02020603050405020304" pitchFamily="18" charset="0"/>
              </a:rPr>
              <a:t>arXiv</a:t>
            </a:r>
            <a:r>
              <a:rPr lang="en-US" sz="2800" dirty="0">
                <a:solidFill>
                  <a:srgbClr val="000000"/>
                </a:solidFill>
                <a:latin typeface="Times New Roman" panose="02020603050405020304" pitchFamily="18" charset="0"/>
                <a:cs typeface="Times New Roman" panose="02020603050405020304" pitchFamily="18" charset="0"/>
              </a:rPr>
              <a:t> preprint arXiv:2505.21049, May 2025. </a:t>
            </a:r>
          </a:p>
          <a:p>
            <a:pPr marL="0" indent="0" algn="just">
              <a:lnSpc>
                <a:spcPct val="120000"/>
              </a:lnSpc>
              <a:buNone/>
            </a:pPr>
            <a:r>
              <a:rPr lang="en-US" sz="2800" dirty="0">
                <a:solidFill>
                  <a:srgbClr val="000000"/>
                </a:solidFill>
                <a:latin typeface="Times New Roman" panose="02020603050405020304" pitchFamily="18" charset="0"/>
                <a:cs typeface="Times New Roman" panose="02020603050405020304" pitchFamily="18" charset="0"/>
              </a:rPr>
              <a:t>[4] M. </a:t>
            </a:r>
            <a:r>
              <a:rPr lang="en-US" sz="2800" dirty="0" err="1">
                <a:solidFill>
                  <a:srgbClr val="000000"/>
                </a:solidFill>
                <a:latin typeface="Times New Roman" panose="02020603050405020304" pitchFamily="18" charset="0"/>
                <a:cs typeface="Times New Roman" panose="02020603050405020304" pitchFamily="18" charset="0"/>
              </a:rPr>
              <a:t>Yurdakul</a:t>
            </a:r>
            <a:r>
              <a:rPr lang="en-US" sz="2800" dirty="0">
                <a:solidFill>
                  <a:srgbClr val="000000"/>
                </a:solidFill>
                <a:latin typeface="Times New Roman" panose="02020603050405020304" pitchFamily="18" charset="0"/>
                <a:cs typeface="Times New Roman" panose="02020603050405020304" pitchFamily="18" charset="0"/>
              </a:rPr>
              <a:t> and Ş. </a:t>
            </a:r>
            <a:r>
              <a:rPr lang="en-US" sz="2800" dirty="0" err="1">
                <a:solidFill>
                  <a:srgbClr val="000000"/>
                </a:solidFill>
                <a:latin typeface="Times New Roman" panose="02020603050405020304" pitchFamily="18" charset="0"/>
                <a:cs typeface="Times New Roman" panose="02020603050405020304" pitchFamily="18" charset="0"/>
              </a:rPr>
              <a:t>Taşdemir</a:t>
            </a:r>
            <a:r>
              <a:rPr lang="en-US" sz="2800" dirty="0">
                <a:solidFill>
                  <a:srgbClr val="000000"/>
                </a:solidFill>
                <a:latin typeface="Times New Roman" panose="02020603050405020304" pitchFamily="18" charset="0"/>
                <a:cs typeface="Times New Roman" panose="02020603050405020304" pitchFamily="18" charset="0"/>
              </a:rPr>
              <a:t>, “An Enhanced YOLOv8 Model for Real-Time and Accurate Pothole Detection and Measurement,” 2024. </a:t>
            </a:r>
          </a:p>
          <a:p>
            <a:pPr marL="0" indent="0" algn="just">
              <a:lnSpc>
                <a:spcPct val="120000"/>
              </a:lnSpc>
              <a:buNone/>
            </a:pPr>
            <a:r>
              <a:rPr lang="en-US" sz="2800" dirty="0">
                <a:solidFill>
                  <a:srgbClr val="000000"/>
                </a:solidFill>
                <a:latin typeface="Times New Roman" panose="02020603050405020304" pitchFamily="18" charset="0"/>
                <a:cs typeface="Times New Roman" panose="02020603050405020304" pitchFamily="18" charset="0"/>
              </a:rPr>
              <a:t>[5] “Deep Learning Enhanced Feature Extraction of Potholes Using Vision and LiDAR Data for Road Maintenance,” 2024.</a:t>
            </a:r>
          </a:p>
        </p:txBody>
      </p:sp>
      <p:sp>
        <p:nvSpPr>
          <p:cNvPr id="5" name="Footer Placeholder 3">
            <a:extLst>
              <a:ext uri="{FF2B5EF4-FFF2-40B4-BE49-F238E27FC236}">
                <a16:creationId xmlns:a16="http://schemas.microsoft.com/office/drawing/2014/main" id="{6AC522A4-3972-3D26-D98C-0AC60DF90605}"/>
              </a:ext>
            </a:extLst>
          </p:cNvPr>
          <p:cNvSpPr>
            <a:spLocks noGrp="1"/>
          </p:cNvSpPr>
          <p:nvPr>
            <p:ph type="ftr" sz="quarter" idx="11"/>
          </p:nvPr>
        </p:nvSpPr>
        <p:spPr>
          <a:xfrm>
            <a:off x="3616956" y="6311591"/>
            <a:ext cx="4088536" cy="307212"/>
          </a:xfrm>
        </p:spPr>
        <p:txBody>
          <a:bodyPr/>
          <a:lstStyle/>
          <a:p>
            <a:pPr defTabSz="640080">
              <a:spcAft>
                <a:spcPts val="600"/>
              </a:spcAft>
            </a:pPr>
            <a:r>
              <a:rPr lang="en-US" kern="1200" dirty="0">
                <a:solidFill>
                  <a:schemeClr val="tx1">
                    <a:tint val="75000"/>
                  </a:schemeClr>
                </a:solidFill>
              </a:rPr>
              <a:t>Paper ID : 2602051     Category : UG</a:t>
            </a:r>
            <a:endParaRPr lang="en-US" dirty="0"/>
          </a:p>
        </p:txBody>
      </p:sp>
    </p:spTree>
    <p:extLst>
      <p:ext uri="{BB962C8B-B14F-4D97-AF65-F5344CB8AC3E}">
        <p14:creationId xmlns:p14="http://schemas.microsoft.com/office/powerpoint/2010/main" val="3154342985"/>
      </p:ext>
    </p:extLst>
  </p:cSld>
  <p:clrMapOvr>
    <a:masterClrMapping/>
  </p:clrMapOvr>
</p:sld>
</file>

<file path=ppt/theme/theme1.xml><?xml version="1.0" encoding="utf-8"?>
<a:theme xmlns:a="http://schemas.openxmlformats.org/drawingml/2006/main" name="Office Theme">
  <a:themeElements>
    <a:clrScheme name="Blue Green">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AE6F2518-B084-4896-AF52-66CC2144AA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3157</TotalTime>
  <Words>1999</Words>
  <Application>Microsoft Office PowerPoint</Application>
  <PresentationFormat>Widescreen</PresentationFormat>
  <Paragraphs>166</Paragraphs>
  <Slides>12</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12</vt:i4>
      </vt:variant>
    </vt:vector>
  </HeadingPairs>
  <TitlesOfParts>
    <vt:vector size="21" baseType="lpstr">
      <vt:lpstr>Arial</vt:lpstr>
      <vt:lpstr>Calibri</vt:lpstr>
      <vt:lpstr>Calibri Light</vt:lpstr>
      <vt:lpstr>Courier New</vt:lpstr>
      <vt:lpstr>Saira Medium</vt:lpstr>
      <vt:lpstr>Tahoma</vt:lpstr>
      <vt:lpstr>Times New Roman</vt:lpstr>
      <vt:lpstr>Wingdings</vt:lpstr>
      <vt:lpstr>Office Theme</vt:lpstr>
      <vt:lpstr>PowerPoint Presentation</vt:lpstr>
      <vt:lpstr>KEY TALKING POINTS</vt:lpstr>
      <vt:lpstr>ABSTRACT</vt:lpstr>
      <vt:lpstr>OUTLINE OF ABSTRACT</vt:lpstr>
      <vt:lpstr>INTRODUCTION</vt:lpstr>
      <vt:lpstr>LITERATURE REVIEW</vt:lpstr>
      <vt:lpstr>METHODOLOGY</vt:lpstr>
      <vt:lpstr>PERFORMANCE COMPARISON</vt:lpstr>
      <vt:lpstr>STRUCTURAL CAPABILITY COMPARISON</vt:lpstr>
      <vt:lpstr>RESULT &amp; DISCUSSION</vt:lpstr>
      <vt:lpstr>CONCLUSION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Second International Conference on Innovations in Engineering &amp; Sciences (ICIES) 2021</dc:title>
  <dc:creator>Pravin</dc:creator>
  <cp:lastModifiedBy>Sirajuddeen Mohamed</cp:lastModifiedBy>
  <cp:revision>110</cp:revision>
  <dcterms:created xsi:type="dcterms:W3CDTF">2021-03-20T03:55:40Z</dcterms:created>
  <dcterms:modified xsi:type="dcterms:W3CDTF">2026-02-26T16:52:35Z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2023-09-07T05:06:33Z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c778e571-5114-49bf-a4e7-8a47a5f09d20</vt:lpwstr>
  </property>
  <property fmtid="{D5CDD505-2E9C-101B-9397-08002B2CF9AE}" pid="7" name="MSIP_Label_defa4170-0d19-0005-0004-bc88714345d2_ActionId">
    <vt:lpwstr>98b1cca8-9179-4e55-9411-fb2d42ae25cf</vt:lpwstr>
  </property>
  <property fmtid="{D5CDD505-2E9C-101B-9397-08002B2CF9AE}" pid="8" name="MSIP_Label_defa4170-0d19-0005-0004-bc88714345d2_ContentBits">
    <vt:lpwstr>0</vt:lpwstr>
  </property>
</Properties>
</file>