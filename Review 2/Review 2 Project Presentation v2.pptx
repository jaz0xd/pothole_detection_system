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6" r:id="rId3"/>
    <p:sldId id="257" r:id="rId4"/>
    <p:sldId id="267" r:id="rId5"/>
    <p:sldId id="260" r:id="rId6"/>
    <p:sldId id="261" r:id="rId7"/>
    <p:sldId id="263" r:id="rId8"/>
    <p:sldId id="282" r:id="rId9"/>
    <p:sldId id="283" r:id="rId10"/>
    <p:sldId id="276" r:id="rId11"/>
    <p:sldId id="284" r:id="rId12"/>
    <p:sldId id="285" r:id="rId13"/>
    <p:sldId id="272" r:id="rId14"/>
    <p:sldId id="273" r:id="rId15"/>
    <p:sldId id="277" r:id="rId16"/>
    <p:sldId id="278" r:id="rId17"/>
    <p:sldId id="279" r:id="rId18"/>
    <p:sldId id="280" r:id="rId19"/>
    <p:sldId id="281" r:id="rId20"/>
    <p:sldId id="265" r:id="rId21"/>
    <p:sldId id="287" r:id="rId22"/>
    <p:sldId id="274" r:id="rId23"/>
    <p:sldId id="275" r:id="rId24"/>
    <p:sldId id="266" r:id="rId25"/>
  </p:sldIdLst>
  <p:sldSz cx="18288000" cy="10287000"/>
  <p:notesSz cx="6858000" cy="9144000"/>
  <p:embeddedFontLst>
    <p:embeddedFont>
      <p:font typeface="RQND Pro UltraWide"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4" d="100"/>
          <a:sy n="74" d="100"/>
        </p:scale>
        <p:origin x="4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9.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3302-D576-EB73-8F2C-CA87C416DE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7516F-A50A-4E24-CE1D-C8CE58E88B5F}"/>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a:extLst>
              <a:ext uri="{FF2B5EF4-FFF2-40B4-BE49-F238E27FC236}">
                <a16:creationId xmlns:a16="http://schemas.microsoft.com/office/drawing/2014/main" id="{A23E029A-FCD4-F77E-9C4E-C6E6CFBAD09E}"/>
              </a:ext>
            </a:extLst>
          </p:cNvPr>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a:extLst>
              <a:ext uri="{FF2B5EF4-FFF2-40B4-BE49-F238E27FC236}">
                <a16:creationId xmlns:a16="http://schemas.microsoft.com/office/drawing/2014/main" id="{4F6070C9-3E77-0A2C-5914-DECBD0323E96}"/>
              </a:ext>
            </a:extLst>
          </p:cNvPr>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a:extLst>
              <a:ext uri="{FF2B5EF4-FFF2-40B4-BE49-F238E27FC236}">
                <a16:creationId xmlns:a16="http://schemas.microsoft.com/office/drawing/2014/main" id="{21867058-380E-A773-F168-AEC5999C756D}"/>
              </a:ext>
            </a:extLst>
          </p:cNvPr>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49" name="TextBox 49">
            <a:extLst>
              <a:ext uri="{FF2B5EF4-FFF2-40B4-BE49-F238E27FC236}">
                <a16:creationId xmlns:a16="http://schemas.microsoft.com/office/drawing/2014/main" id="{5DF078BB-2063-A9CD-B3F3-484C2C705DCF}"/>
              </a:ext>
            </a:extLst>
          </p:cNvPr>
          <p:cNvSpPr txBox="1"/>
          <p:nvPr/>
        </p:nvSpPr>
        <p:spPr>
          <a:xfrm>
            <a:off x="2392306" y="4149400"/>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50" name="TextBox 50">
            <a:extLst>
              <a:ext uri="{FF2B5EF4-FFF2-40B4-BE49-F238E27FC236}">
                <a16:creationId xmlns:a16="http://schemas.microsoft.com/office/drawing/2014/main" id="{BB975EB6-E0CF-A1C3-5DC3-8B91AE0DF473}"/>
              </a:ext>
            </a:extLst>
          </p:cNvPr>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102" name="TextBox 48">
            <a:extLst>
              <a:ext uri="{FF2B5EF4-FFF2-40B4-BE49-F238E27FC236}">
                <a16:creationId xmlns:a16="http://schemas.microsoft.com/office/drawing/2014/main" id="{11079985-64E9-5922-79A7-D8E142A015A8}"/>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105" name="TextBox 49">
            <a:extLst>
              <a:ext uri="{FF2B5EF4-FFF2-40B4-BE49-F238E27FC236}">
                <a16:creationId xmlns:a16="http://schemas.microsoft.com/office/drawing/2014/main" id="{A8958DD0-58DE-B16B-153D-95A0D8509068}"/>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B548C3F2-F3C3-09F2-AAED-39DFE974953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08" name="TextBox 48">
            <a:extLst>
              <a:ext uri="{FF2B5EF4-FFF2-40B4-BE49-F238E27FC236}">
                <a16:creationId xmlns:a16="http://schemas.microsoft.com/office/drawing/2014/main" id="{0A5D7884-E7A4-8F5E-71E3-25F8AE6A687F}"/>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SURVEY SUMMARY TABLE</a:t>
            </a:r>
          </a:p>
        </p:txBody>
      </p:sp>
      <p:sp>
        <p:nvSpPr>
          <p:cNvPr id="109" name="TextBox 50">
            <a:extLst>
              <a:ext uri="{FF2B5EF4-FFF2-40B4-BE49-F238E27FC236}">
                <a16:creationId xmlns:a16="http://schemas.microsoft.com/office/drawing/2014/main" id="{C1BD3287-F4D9-0838-ACB1-3BD8475F5D3E}"/>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14" name="TextBox 113">
            <a:extLst>
              <a:ext uri="{FF2B5EF4-FFF2-40B4-BE49-F238E27FC236}">
                <a16:creationId xmlns:a16="http://schemas.microsoft.com/office/drawing/2014/main" id="{97417221-F96A-6BBB-7EFF-E2F9ECBEE929}"/>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2EE1CDFA-6CC2-699E-4170-E90B7B8CBFC1}"/>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D7226C12-7DE9-6935-8806-2F46A24EDE3F}"/>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C8ABAB3B-C9E2-68E6-3460-7043B45952B7}"/>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ECB507C0-6D33-CE6C-11A7-741BEF5CFD04}"/>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1700CD70-043F-2065-6427-F2464E2B4E29}"/>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43A79D57-05D6-3B19-D8B1-880498136549}"/>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32C9739-6960-30AC-0E8E-CDE46CE6F6F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DCEA4E6-FE41-9FF5-B225-9B7B512A8907}"/>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A8796BFD-24E0-7FCE-D98D-E2965FF06187}"/>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6" name="TextBox 49">
            <a:extLst>
              <a:ext uri="{FF2B5EF4-FFF2-40B4-BE49-F238E27FC236}">
                <a16:creationId xmlns:a16="http://schemas.microsoft.com/office/drawing/2014/main" id="{80EEE459-FC56-C3F3-8DF6-7CDF82D9B214}"/>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WORK</a:t>
            </a:r>
          </a:p>
        </p:txBody>
      </p:sp>
      <p:sp>
        <p:nvSpPr>
          <p:cNvPr id="45" name="TextBox 50">
            <a:extLst>
              <a:ext uri="{FF2B5EF4-FFF2-40B4-BE49-F238E27FC236}">
                <a16:creationId xmlns:a16="http://schemas.microsoft.com/office/drawing/2014/main" id="{3C56860C-18F4-C26C-AF1C-3BC6AFE8C362}"/>
              </a:ext>
            </a:extLst>
          </p:cNvPr>
          <p:cNvSpPr txBox="1"/>
          <p:nvPr/>
        </p:nvSpPr>
        <p:spPr>
          <a:xfrm>
            <a:off x="11155307" y="469091"/>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ARCHITECTURE</a:t>
            </a:r>
          </a:p>
        </p:txBody>
      </p:sp>
      <p:sp>
        <p:nvSpPr>
          <p:cNvPr id="101" name="Freeform 33">
            <a:extLst>
              <a:ext uri="{FF2B5EF4-FFF2-40B4-BE49-F238E27FC236}">
                <a16:creationId xmlns:a16="http://schemas.microsoft.com/office/drawing/2014/main" id="{B97EF363-E0F7-504A-773A-0AB8ED7DD5DD}"/>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1F28DCBF-54F6-996E-8A8B-CB3AA4B5E925}"/>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5FDF1D29-C912-A65A-E554-38C376783C5B}"/>
              </a:ext>
            </a:extLst>
          </p:cNvPr>
          <p:cNvSpPr txBox="1"/>
          <p:nvPr/>
        </p:nvSpPr>
        <p:spPr>
          <a:xfrm>
            <a:off x="11155307" y="1396010"/>
            <a:ext cx="4491892" cy="844270"/>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HARDWARE REQUIREMENT SOFTWARE REQUIREMENT</a:t>
            </a:r>
          </a:p>
        </p:txBody>
      </p:sp>
      <p:sp>
        <p:nvSpPr>
          <p:cNvPr id="4" name="Freeform 33">
            <a:extLst>
              <a:ext uri="{FF2B5EF4-FFF2-40B4-BE49-F238E27FC236}">
                <a16:creationId xmlns:a16="http://schemas.microsoft.com/office/drawing/2014/main" id="{A17DFA80-0533-069F-A54D-2DCF38F36A9D}"/>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0A2F1026-45D5-9AFF-E5D3-E173D088DF81}"/>
              </a:ext>
            </a:extLst>
          </p:cNvPr>
          <p:cNvSpPr txBox="1"/>
          <p:nvPr/>
        </p:nvSpPr>
        <p:spPr>
          <a:xfrm>
            <a:off x="11155306" y="2323055"/>
            <a:ext cx="6294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 SETUP SCREEN SHOT</a:t>
            </a:r>
          </a:p>
        </p:txBody>
      </p:sp>
      <p:sp>
        <p:nvSpPr>
          <p:cNvPr id="14" name="Freeform 33">
            <a:extLst>
              <a:ext uri="{FF2B5EF4-FFF2-40B4-BE49-F238E27FC236}">
                <a16:creationId xmlns:a16="http://schemas.microsoft.com/office/drawing/2014/main" id="{EB3FE778-BC89-3819-0ED4-EFCE07D9A8B0}"/>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B6D3D91A-F1DC-FD78-0103-0384F9FF7A24}"/>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IMPLEMENTATION DETAILS</a:t>
            </a:r>
          </a:p>
        </p:txBody>
      </p:sp>
      <p:sp>
        <p:nvSpPr>
          <p:cNvPr id="18" name="Freeform 33">
            <a:extLst>
              <a:ext uri="{FF2B5EF4-FFF2-40B4-BE49-F238E27FC236}">
                <a16:creationId xmlns:a16="http://schemas.microsoft.com/office/drawing/2014/main" id="{698FAF71-B568-7EC7-D198-FC213409413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D49C9E66-225A-C3FE-7D12-8E33513C2B86}"/>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RESULT &amp; DISCUSSION</a:t>
            </a:r>
          </a:p>
        </p:txBody>
      </p:sp>
      <p:sp>
        <p:nvSpPr>
          <p:cNvPr id="20" name="Freeform 33">
            <a:extLst>
              <a:ext uri="{FF2B5EF4-FFF2-40B4-BE49-F238E27FC236}">
                <a16:creationId xmlns:a16="http://schemas.microsoft.com/office/drawing/2014/main" id="{534AA426-BF06-5B84-FAD9-FE1D1E107B06}"/>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597CC6F8-27B7-BECE-F4C3-9EDC20C338E1}"/>
              </a:ext>
            </a:extLst>
          </p:cNvPr>
          <p:cNvSpPr txBox="1"/>
          <p:nvPr/>
        </p:nvSpPr>
        <p:spPr>
          <a:xfrm>
            <a:off x="11155306" y="5269691"/>
            <a:ext cx="6065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 &amp; FUTURE ENHANCEMENT</a:t>
            </a:r>
          </a:p>
        </p:txBody>
      </p:sp>
      <p:sp>
        <p:nvSpPr>
          <p:cNvPr id="22" name="TextBox 21">
            <a:extLst>
              <a:ext uri="{FF2B5EF4-FFF2-40B4-BE49-F238E27FC236}">
                <a16:creationId xmlns:a16="http://schemas.microsoft.com/office/drawing/2014/main" id="{163838DF-4B97-A985-01C8-E81D7859B24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416173BE-7130-926B-0D46-E9815707BF43}"/>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9519D188-AECC-EA97-E53F-B86972D4206E}"/>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Tree>
    <p:extLst>
      <p:ext uri="{BB962C8B-B14F-4D97-AF65-F5344CB8AC3E}">
        <p14:creationId xmlns:p14="http://schemas.microsoft.com/office/powerpoint/2010/main" val="391679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work</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2240811"/>
            <a:ext cx="13792200" cy="5901103"/>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Current vision–LiDAR pothole detection systems are impractical for large-scale deployment due to high LiDAR costs, calibration complexity, reduced reliability in wet/reflective conditions, and heavy computational requirements.</a:t>
            </a:r>
          </a:p>
          <a:p>
            <a:pPr marL="457200" indent="-45720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There is a need for a low-cost, lightweight, and robust pothole detection solution that can maintain high accuracy using vision-only or minimal-sensor setups, suitable for real-time performance on resource-constrained platforms in diverse environments.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Develop a real-time, low-cost, vision-only perception pipeline that uses a monocular RGB camera with YOLOv8-Seg for pixel-level anomaly detection,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depth estimation, Open3D for wireframe mesh reconstruction, and a geometry module to compute pothole dimensions accurately.</a:t>
            </a:r>
          </a:p>
          <a:p>
            <a:pPr marL="514350" indent="-51435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Implement a lightweight decision engine that interprets the 3D pothole metrics to trigger safe responses—such as slow-down, micro-avoidance, or logging—offering a sensor-efficient, LiDAR-free solution suitable for autonomous vehicles and large-scale road-mapping deployment.</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IMPLEMENTATION DETAILS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1025-E756-E32A-A2A9-93ECFD531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0E4F1A-BE49-AA7C-88E1-2C98456EA9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A72A4D8-6474-8405-0B07-CD004F4F7191}"/>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RESULT &amp; DISCUSSION</a:t>
            </a:r>
          </a:p>
        </p:txBody>
      </p:sp>
      <p:grpSp>
        <p:nvGrpSpPr>
          <p:cNvPr id="21" name="Group 21">
            <a:extLst>
              <a:ext uri="{FF2B5EF4-FFF2-40B4-BE49-F238E27FC236}">
                <a16:creationId xmlns:a16="http://schemas.microsoft.com/office/drawing/2014/main" id="{E5C2223F-66CD-9F3D-6FF9-ACE47E6C96F3}"/>
              </a:ext>
            </a:extLst>
          </p:cNvPr>
          <p:cNvGrpSpPr/>
          <p:nvPr/>
        </p:nvGrpSpPr>
        <p:grpSpPr>
          <a:xfrm>
            <a:off x="1028700" y="1866900"/>
            <a:ext cx="12458700" cy="7211238"/>
            <a:chOff x="0" y="0"/>
            <a:chExt cx="2717129" cy="1637498"/>
          </a:xfrm>
        </p:grpSpPr>
        <p:sp>
          <p:nvSpPr>
            <p:cNvPr id="22" name="Freeform 22">
              <a:extLst>
                <a:ext uri="{FF2B5EF4-FFF2-40B4-BE49-F238E27FC236}">
                  <a16:creationId xmlns:a16="http://schemas.microsoft.com/office/drawing/2014/main" id="{2280FE21-C874-5F65-FA6F-97EB4BAF70E9}"/>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a:extLst>
                <a:ext uri="{FF2B5EF4-FFF2-40B4-BE49-F238E27FC236}">
                  <a16:creationId xmlns:a16="http://schemas.microsoft.com/office/drawing/2014/main" id="{7DF3035E-8816-DD83-6F97-AF8AF1C4A584}"/>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27DDF86C-D6B1-85C3-2EF8-5D1F4A9DEB2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a:extLst>
              <a:ext uri="{FF2B5EF4-FFF2-40B4-BE49-F238E27FC236}">
                <a16:creationId xmlns:a16="http://schemas.microsoft.com/office/drawing/2014/main" id="{6E0614A8-5C6A-E239-99F5-B9DC30BF3D78}"/>
              </a:ext>
            </a:extLst>
          </p:cNvPr>
          <p:cNvGrpSpPr/>
          <p:nvPr/>
        </p:nvGrpSpPr>
        <p:grpSpPr>
          <a:xfrm>
            <a:off x="14157570" y="3223432"/>
            <a:ext cx="3473345" cy="4714531"/>
            <a:chOff x="0" y="0"/>
            <a:chExt cx="1824099" cy="2475934"/>
          </a:xfrm>
        </p:grpSpPr>
        <p:sp>
          <p:nvSpPr>
            <p:cNvPr id="37" name="Freeform 35">
              <a:extLst>
                <a:ext uri="{FF2B5EF4-FFF2-40B4-BE49-F238E27FC236}">
                  <a16:creationId xmlns:a16="http://schemas.microsoft.com/office/drawing/2014/main" id="{79887E9E-B264-B5D3-7A0A-7351AB25C50E}"/>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DC9BA15-94CC-A0EC-96BC-A6DA529725E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
        <p:nvSpPr>
          <p:cNvPr id="3" name="TextBox 2">
            <a:extLst>
              <a:ext uri="{FF2B5EF4-FFF2-40B4-BE49-F238E27FC236}">
                <a16:creationId xmlns:a16="http://schemas.microsoft.com/office/drawing/2014/main" id="{CE408C2D-530A-3643-6CF9-AB3900ABCBFC}"/>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46661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68021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 &amp; FUTURE ENHANCEMENT</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6634958"/>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strong foundation for a real-time wireframe-based pothole detection system by analyzing existing solutions, identifying key limitations, and defining a clear problem statement. Through an extensive literature survey, it highlighted advances in vision-based detection, depth estimation, and 3D reconstruction. The proposed solution, system workflow, and architecture outline a cost-effective, monocular camera pipeline using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and Open3D for accurate anomaly detection and geometry analysis. The defined hardware and software requirements provide a complete blueprint for implementation, enabling a structured and scalable path toward developing the final system.</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TotalTime>
  <Words>2838</Words>
  <Application>Microsoft Office PowerPoint</Application>
  <PresentationFormat>Custom</PresentationFormat>
  <Paragraphs>302</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Times New Roman</vt:lpstr>
      <vt:lpstr>Telegraf Bold</vt:lpstr>
      <vt:lpstr>Wingdings</vt:lpstr>
      <vt:lpstr>Arial</vt:lpstr>
      <vt:lpstr>Calibri</vt:lpstr>
      <vt:lpstr>RQND Pro UltraWide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51</cp:revision>
  <dcterms:created xsi:type="dcterms:W3CDTF">2006-08-16T00:00:00Z</dcterms:created>
  <dcterms:modified xsi:type="dcterms:W3CDTF">2026-03-29T06:59:38Z</dcterms:modified>
  <dc:identifier>DAG1RaZYIuE</dc:identifier>
</cp:coreProperties>
</file>