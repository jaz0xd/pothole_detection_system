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82" r:id="rId13"/>
    <p:sldId id="283" r:id="rId14"/>
    <p:sldId id="276" r:id="rId15"/>
    <p:sldId id="284" r:id="rId16"/>
    <p:sldId id="285" r:id="rId17"/>
    <p:sldId id="272" r:id="rId18"/>
    <p:sldId id="273" r:id="rId19"/>
    <p:sldId id="277" r:id="rId20"/>
    <p:sldId id="278" r:id="rId21"/>
    <p:sldId id="279" r:id="rId22"/>
    <p:sldId id="280" r:id="rId23"/>
    <p:sldId id="281" r:id="rId24"/>
    <p:sldId id="265" r:id="rId25"/>
    <p:sldId id="274" r:id="rId26"/>
    <p:sldId id="275" r:id="rId27"/>
    <p:sldId id="266" r:id="rId28"/>
  </p:sldIdLst>
  <p:sldSz cx="18288000" cy="10287000"/>
  <p:notesSz cx="6858000" cy="9144000"/>
  <p:embeddedFontLst>
    <p:embeddedFont>
      <p:font typeface="RQND Pro UltraWide" panose="020B0604020202020204" charset="0"/>
      <p:regular r:id="rId29"/>
    </p:embeddedFont>
    <p:embeddedFont>
      <p:font typeface="Telegraf Bold"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3955" autoAdjust="0"/>
  </p:normalViewPr>
  <p:slideViewPr>
    <p:cSldViewPr>
      <p:cViewPr varScale="1">
        <p:scale>
          <a:sx n="76" d="100"/>
          <a:sy n="76" d="100"/>
        </p:scale>
        <p:origin x="45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2.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1494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892037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71591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4690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19</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11936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2667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13960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21206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23230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43042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506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52696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
        <p:nvSpPr>
          <p:cNvPr id="22" name="TextBox 21">
            <a:extLst>
              <a:ext uri="{FF2B5EF4-FFF2-40B4-BE49-F238E27FC236}">
                <a16:creationId xmlns:a16="http://schemas.microsoft.com/office/drawing/2014/main" id="{8D7AFBD6-B8F1-05C3-3D13-0D8C2A9889C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39FD3C05-F650-D53C-D849-1BD94F40EF6F}"/>
              </a:ext>
            </a:extLst>
          </p:cNvPr>
          <p:cNvSpPr/>
          <p:nvPr/>
        </p:nvSpPr>
        <p:spPr>
          <a:xfrm>
            <a:off x="10058400" y="6006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F50D74BA-6622-AE8D-4564-EBA245DD1C88}"/>
              </a:ext>
            </a:extLst>
          </p:cNvPr>
          <p:cNvSpPr txBox="1"/>
          <p:nvPr/>
        </p:nvSpPr>
        <p:spPr>
          <a:xfrm>
            <a:off x="11155306" y="6209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ENVIRONMENTAL SETUP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
        <p:nvSpPr>
          <p:cNvPr id="3" name="TextBox 2">
            <a:extLst>
              <a:ext uri="{FF2B5EF4-FFF2-40B4-BE49-F238E27FC236}">
                <a16:creationId xmlns:a16="http://schemas.microsoft.com/office/drawing/2014/main" id="{140585FA-7258-00E9-9229-71D3DF8CDE8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
        <p:nvSpPr>
          <p:cNvPr id="6" name="TextBox 5">
            <a:extLst>
              <a:ext uri="{FF2B5EF4-FFF2-40B4-BE49-F238E27FC236}">
                <a16:creationId xmlns:a16="http://schemas.microsoft.com/office/drawing/2014/main" id="{84F1D092-A351-8101-36F5-94515A29DFC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CB423A6-982B-8031-3624-31837A8FF1B9}"/>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
        <p:nvSpPr>
          <p:cNvPr id="3" name="TextBox 2">
            <a:extLst>
              <a:ext uri="{FF2B5EF4-FFF2-40B4-BE49-F238E27FC236}">
                <a16:creationId xmlns:a16="http://schemas.microsoft.com/office/drawing/2014/main" id="{851B2CDA-F0D5-859B-1277-B56BBC8DD9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2240811"/>
            <a:ext cx="13792200" cy="5901103"/>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Current vision–LiDAR pothole detection systems are impractical for large-scale deployment due to high LiDAR costs, calibration complexity, reduced reliability in wet/reflective conditions, and heavy computational requirements.</a:t>
            </a:r>
          </a:p>
          <a:p>
            <a:pPr marL="457200" indent="-45720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There is a need for a low-cost, lightweight, and robust pothole detection solution that can maintain high accuracy using vision-only or minimal-sensor setups, suitable for real-time performance on resource-constrained platforms in diverse environments.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Develop a real-time, low-cost, vision-only perception pipeline that uses a monocular RGB camera with YOLOv8-Seg for pixel-level anomaly detection,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depth estimation, Open3D for wireframe mesh reconstruction, and a geometry module to compute pothole dimensions accurately.</a:t>
            </a:r>
          </a:p>
          <a:p>
            <a:pPr marL="514350" indent="-51435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Implement a lightweight decision engine that interprets the 3D pothole metrics to trigger safe responses—such as slow-down, micro-avoidance, or logging—offering a sensor-efficient, LiDAR-free solution suitable for autonomous vehicles and large-scale road-mapping deployment.</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endParaRPr lang="en-US" sz="2800" dirty="0">
              <a:solidFill>
                <a:schemeClr val="bg1"/>
              </a:solidFill>
              <a:latin typeface="Times New Roman" panose="02020603050405020304" pitchFamily="18" charset="0"/>
              <a:cs typeface="Times New Roman" panose="02020603050405020304" pitchFamily="18" charset="0"/>
            </a:endParaRP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781300"/>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Started deep-dive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Working on refining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upcoming implementation.</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6634958"/>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strong foundation for a real-time wireframe-based pothole detection system by analyzing existing solutions, identifying key limitations, and defining a clear problem statement. Through an extensive literature survey, it highlighted advances in vision-based detection, depth estimation, and 3D reconstruction. The proposed solution, system workflow, and architecture outline a cost-effective, monocular camera pipeline using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and Open3D for accurate anomaly detection and geometry analysis. The defined hardware and software requirements provide a complete blueprint for implementation, enabling a structured and scalable path toward developing the final system.</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26</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27</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1392</TotalTime>
  <Words>3109</Words>
  <Application>Microsoft Office PowerPoint</Application>
  <PresentationFormat>Custom</PresentationFormat>
  <Paragraphs>343</Paragraphs>
  <Slides>27</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Times New Roman</vt:lpstr>
      <vt:lpstr>RQND Pro UltraWide</vt:lpstr>
      <vt:lpstr>Telegraf Bold</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48</cp:revision>
  <dcterms:created xsi:type="dcterms:W3CDTF">2006-08-16T00:00:00Z</dcterms:created>
  <dcterms:modified xsi:type="dcterms:W3CDTF">2025-11-20T12:23:47Z</dcterms:modified>
  <dc:identifier>DAG1RaZYIuE</dc:identifier>
</cp:coreProperties>
</file>