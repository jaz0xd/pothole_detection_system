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7" r:id="rId3"/>
    <p:sldId id="265" r:id="rId4"/>
    <p:sldId id="266" r:id="rId5"/>
    <p:sldId id="257" r:id="rId6"/>
    <p:sldId id="268" r:id="rId7"/>
    <p:sldId id="264" r:id="rId8"/>
    <p:sldId id="258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09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4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2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2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8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4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3501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15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47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81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98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2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8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3835"/>
            <a:ext cx="7772400" cy="221661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Wireframe-Based Pothole Detection and Avoidance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6636" y="4819074"/>
            <a:ext cx="7550727" cy="46166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resented by 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 B SIRAJUDDEEN (22TD0053)</a:t>
            </a:r>
            <a:endParaRPr sz="240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D2184-4805-63FD-CD67-055215D31036}"/>
              </a:ext>
            </a:extLst>
          </p:cNvPr>
          <p:cNvSpPr txBox="1"/>
          <p:nvPr/>
        </p:nvSpPr>
        <p:spPr>
          <a:xfrm>
            <a:off x="796636" y="4049283"/>
            <a:ext cx="4445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 SURESH KUMAR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E46B0-4F91-B830-5C34-CB87820514F9}"/>
              </a:ext>
            </a:extLst>
          </p:cNvPr>
          <p:cNvSpPr txBox="1"/>
          <p:nvPr/>
        </p:nvSpPr>
        <p:spPr>
          <a:xfrm>
            <a:off x="3561818" y="2697020"/>
            <a:ext cx="2020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- 02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F921-7492-ACF1-9B15-BA95E7243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142042"/>
            <a:ext cx="7765322" cy="828495"/>
          </a:xfrm>
        </p:spPr>
        <p:txBody>
          <a:bodyPr/>
          <a:lstStyle/>
          <a:p>
            <a:r>
              <a:rPr lang="en-US" dirty="0"/>
              <a:t>Domain &amp; Sub-Domain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5EF2AE-E698-36B4-4549-2A7FDA45C5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630" y="1438041"/>
            <a:ext cx="420579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Focuses on building systems that mimic human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Involves machine learning, deep learning, computer vision,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machines to perceive, learn, adapt, and take actions autonomously.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techniques used in this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 Detection (YOLOv8)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Monocular Depth Estimation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 Reconstruction (Open3D)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Rule-Based Decision Systems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F9C7088-AB13-7AC2-038F-F3D333B2C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848" y="1438041"/>
            <a:ext cx="454108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Applies AI techniques to enable self-driving or driver-assistive vehicles.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perception, localization, path planning, and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Addresses real-time environmental sensing and decision-making for safe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Specific focus in this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road surface 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Depth-aware vehicle behavior (slow, avoid, alert)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Low-cost AV sensor alternatives for developing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Camera-based road understanding for poor infrastructure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1639F-D2F7-0AFC-89F5-20DEDF219B11}"/>
              </a:ext>
            </a:extLst>
          </p:cNvPr>
          <p:cNvSpPr txBox="1"/>
          <p:nvPr/>
        </p:nvSpPr>
        <p:spPr>
          <a:xfrm>
            <a:off x="1096662" y="1068709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85000"/>
                  </a:schemeClr>
                </a:solidFill>
              </a:rPr>
              <a:t>Artificial Intelligence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E4273-64B7-C992-3285-5F6C6CD4D7BB}"/>
              </a:ext>
            </a:extLst>
          </p:cNvPr>
          <p:cNvSpPr txBox="1"/>
          <p:nvPr/>
        </p:nvSpPr>
        <p:spPr>
          <a:xfrm>
            <a:off x="5495938" y="1068709"/>
            <a:ext cx="238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85000"/>
                  </a:schemeClr>
                </a:solidFill>
              </a:rPr>
              <a:t>Autonomous Vehicles</a:t>
            </a:r>
          </a:p>
        </p:txBody>
      </p:sp>
    </p:spTree>
    <p:extLst>
      <p:ext uri="{BB962C8B-B14F-4D97-AF65-F5344CB8AC3E}">
        <p14:creationId xmlns:p14="http://schemas.microsoft.com/office/powerpoint/2010/main" val="861906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A9C8-118C-06A4-7AB2-62184517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310718"/>
            <a:ext cx="7765322" cy="73667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1F84-DBFE-5703-AE97-DBCCF900F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14" y="1492753"/>
            <a:ext cx="7652347" cy="5245398"/>
          </a:xfrm>
        </p:spPr>
        <p:txBody>
          <a:bodyPr>
            <a:no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(AVs) rely on object detection and navigation systems optimized for structured and well-maintained roads.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countries like India, road infrastructure is often inconsistent, featuring frequent potholes, speed bumps, and surface deformities.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AV systems struggle to operate reliably in such conditions, impacting safety and ride quality.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Surface anomalies reduce ride comfort and can be significant safety hazards.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solutions using LiDAR and high-end sensors are expensive and not suitable for mass deployment.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pressing need for a </a:t>
            </a:r>
            <a:b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cost-effective, camera-based solution</a:t>
            </a:r>
            <a:b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capable of detecting, analyzing,</a:t>
            </a:r>
            <a:b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responding to road surface</a:t>
            </a:r>
            <a:b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anomalies in real-time.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955F0-DFBB-3714-49D2-E34EFE1CA50A}"/>
              </a:ext>
            </a:extLst>
          </p:cNvPr>
          <p:cNvSpPr txBox="1"/>
          <p:nvPr/>
        </p:nvSpPr>
        <p:spPr>
          <a:xfrm>
            <a:off x="846704" y="103196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eadlier than terrorism: Potholes behind 14,900 deaths across the country  in past five years">
            <a:extLst>
              <a:ext uri="{FF2B5EF4-FFF2-40B4-BE49-F238E27FC236}">
                <a16:creationId xmlns:a16="http://schemas.microsoft.com/office/drawing/2014/main" id="{DBBCED4F-C63C-9C96-7BA9-5C75EE9E3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117" y="4536489"/>
            <a:ext cx="4127130" cy="213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86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CC7B-2E9E-C3E4-05BE-A2720856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146481"/>
            <a:ext cx="7765322" cy="60664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0739AD1-A639-2D58-3D34-F841A6D37FC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4804" y="853132"/>
            <a:ext cx="8087556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vision-based pothole detection system using only a monocular camera, eliminating the need for LiDAR or stereo vision.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YOLOv8 for accurate detection of road surface anomalies such as potholes and speed breakers.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utilize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MiDaS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monocular depth estimation, generating a pixel-wise depth map from a single camera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wireframe mesh of the road surface using Open3D for real-time 3D reconstruction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the size, depth, and severity of detected road anomalies based on wireframe geometry.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decision engine that enables autonomous vehicle behavior such as slowing down, stopping, or avoiding hazardous road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the system is lightweight, low-cost, and deployable on embedded platforms such as Raspberry Pi or Jetson Nano.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system suitable for real-world conditions, especially in developing countries like India with irregular road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39845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 in Pothole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2964"/>
            <a:ext cx="8229600" cy="45259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detection (YOLOv5, YOLOv8)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+ Camera fusion for accurate depth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cloud and Convex Hull for geometry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Mobile3DRecon – real-time monocular mesh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road-specific Gaussian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surfel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reconstruction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CDB773-2EC8-7F11-A46C-4C74A156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382" y="5127098"/>
            <a:ext cx="4989853" cy="165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04D6CA-A279-7229-6EA8-6A952745B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65" y="4513848"/>
            <a:ext cx="3522182" cy="2190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234151-413C-BC7D-1081-271CD2450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089" y="3508221"/>
            <a:ext cx="4532711" cy="1530215"/>
          </a:xfrm>
          <a:prstGeom prst="rect">
            <a:avLst/>
          </a:prstGeom>
        </p:spPr>
      </p:pic>
      <p:pic>
        <p:nvPicPr>
          <p:cNvPr id="4098" name="Picture 2" descr="Blender 2.8 Wireframes Discussion - User Feedback - Developer Forum">
            <a:extLst>
              <a:ext uri="{FF2B5EF4-FFF2-40B4-BE49-F238E27FC236}">
                <a16:creationId xmlns:a16="http://schemas.microsoft.com/office/drawing/2014/main" id="{F75C21CC-42DF-E6D4-3D43-73F31051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444" y="1082964"/>
            <a:ext cx="2481080" cy="208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75E6-CA70-0C21-00AA-B8DBFE56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62319"/>
            <a:ext cx="7765322" cy="772182"/>
          </a:xfrm>
        </p:spPr>
        <p:txBody>
          <a:bodyPr>
            <a:normAutofit/>
          </a:bodyPr>
          <a:lstStyle/>
          <a:p>
            <a:r>
              <a:rPr lang="en-US" dirty="0"/>
              <a:t>Architectural 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B7799-B127-3DC4-C3E9-84E1AE78A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1" y="834501"/>
            <a:ext cx="7447491" cy="565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8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3774DA-C5C5-B9D1-A1CA-F1BE4EDA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11" y="416045"/>
            <a:ext cx="4341657" cy="29035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04FA06-9900-0581-3944-478BAE4928B8}"/>
              </a:ext>
            </a:extLst>
          </p:cNvPr>
          <p:cNvSpPr txBox="1"/>
          <p:nvPr/>
        </p:nvSpPr>
        <p:spPr>
          <a:xfrm>
            <a:off x="1868881" y="4671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MiDaS</a:t>
            </a:r>
            <a:endParaRPr lang="en-IN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29349-7067-2FDB-B387-7ABC3B612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1" y="4161006"/>
            <a:ext cx="4391577" cy="2650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9F291F-7CB8-1A8D-730F-4916DFDE2DE1}"/>
              </a:ext>
            </a:extLst>
          </p:cNvPr>
          <p:cNvSpPr txBox="1"/>
          <p:nvPr/>
        </p:nvSpPr>
        <p:spPr>
          <a:xfrm>
            <a:off x="1786213" y="363788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Open3D</a:t>
            </a:r>
            <a:endParaRPr lang="en-IN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An Introduction to LIDAR: The Key Self-Driving Car Sensor | by Oliver  Cameron | Voyage">
            <a:extLst>
              <a:ext uri="{FF2B5EF4-FFF2-40B4-BE49-F238E27FC236}">
                <a16:creationId xmlns:a16="http://schemas.microsoft.com/office/drawing/2014/main" id="{6B3AD9F2-183F-2D68-6AA6-B8DBC9F11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532" y="468068"/>
            <a:ext cx="4341657" cy="279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ow to Choose the Right LiDAR Sensor for Your Project — Rockwell Automation  Canada Ltd.">
            <a:extLst>
              <a:ext uri="{FF2B5EF4-FFF2-40B4-BE49-F238E27FC236}">
                <a16:creationId xmlns:a16="http://schemas.microsoft.com/office/drawing/2014/main" id="{A7705CF6-9F61-5C96-2F3F-CC60CD65C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515" y="4447713"/>
            <a:ext cx="4157163" cy="206270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1A2399-8140-8A76-0FF6-E73BE5BEC9EB}"/>
              </a:ext>
            </a:extLst>
          </p:cNvPr>
          <p:cNvSpPr txBox="1"/>
          <p:nvPr/>
        </p:nvSpPr>
        <p:spPr>
          <a:xfrm>
            <a:off x="6423606" y="490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endParaRPr lang="en-IN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56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89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599" y="1057563"/>
            <a:ext cx="8603673" cy="4983162"/>
          </a:xfrm>
        </p:spPr>
        <p:txBody>
          <a:bodyPr/>
          <a:lstStyle/>
          <a:p>
            <a:pPr fontAlgn="t"/>
            <a:r>
              <a:rPr lang="en-US" b="1" dirty="0">
                <a:effectLst/>
              </a:rPr>
              <a:t>Paper 1:</a:t>
            </a:r>
            <a:r>
              <a:rPr lang="en-US" dirty="0">
                <a:effectLst/>
              </a:rPr>
              <a:t> Demonstrates combining segmentation and depth to calculate pothole area and depth from dashboard camera footage — similar to YOLO + </a:t>
            </a:r>
            <a:r>
              <a:rPr lang="en-US" dirty="0" err="1">
                <a:effectLst/>
              </a:rPr>
              <a:t>MiDaS</a:t>
            </a:r>
            <a:r>
              <a:rPr lang="en-US" dirty="0">
                <a:effectLst/>
              </a:rPr>
              <a:t> method for depth-aware characterization.</a:t>
            </a:r>
          </a:p>
          <a:p>
            <a:pPr fontAlgn="t"/>
            <a:r>
              <a:rPr lang="en-US" b="1" dirty="0">
                <a:effectLst/>
              </a:rPr>
              <a:t>Paper 2:</a:t>
            </a:r>
            <a:r>
              <a:rPr lang="en-US" dirty="0">
                <a:effectLst/>
              </a:rPr>
              <a:t> Provides a baseline for depth‑enabled segmentation — your camera‑only system replaces depth sensor with </a:t>
            </a:r>
            <a:r>
              <a:rPr lang="en-US" dirty="0" err="1">
                <a:effectLst/>
              </a:rPr>
              <a:t>MiDaS</a:t>
            </a:r>
            <a:r>
              <a:rPr lang="en-US" dirty="0">
                <a:effectLst/>
              </a:rPr>
              <a:t>-based depth estimation.</a:t>
            </a:r>
          </a:p>
          <a:p>
            <a:pPr fontAlgn="t"/>
            <a:r>
              <a:rPr lang="en-US" b="1" dirty="0">
                <a:effectLst/>
              </a:rPr>
              <a:t>Paper 3:</a:t>
            </a:r>
            <a:r>
              <a:rPr lang="en-US" dirty="0">
                <a:effectLst/>
              </a:rPr>
              <a:t> Validates feasibility of estimating metric depth and segmentation from a single image — supports your monocular depth + segmentation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0110" y="181956"/>
            <a:ext cx="54237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Table Comparison</a:t>
            </a:r>
            <a:endParaRPr sz="280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320305"/>
              </p:ext>
            </p:extLst>
          </p:nvPr>
        </p:nvGraphicFramePr>
        <p:xfrm>
          <a:off x="457200" y="914399"/>
          <a:ext cx="8229600" cy="529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57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291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Pothole Detection and Characterization: Integrated Segmentation and Depth Estimation in Road Anomaly Systems - 2025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YOLOv8‑seg + monocular depth integration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Validates method of merging segmentation with depth maps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167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Enhanced YOLOv8 Model for Real‑Time and Accurate Pothole Detection and Measurement - 2025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YOLOv8n‑seg enhanced with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DSConv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SimAM, GELU + RGB‑D dataset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Guides improving detection performance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291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based Pothole Monocular Depth Estimation and Segmentation Using 3D Scanner‑Derived Depth Maps - 2023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3DPredicNet for depth estimation and segmentation using DSLR images and ground‑truth 3D scans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Supports feasibility of camera-only depth segmentation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210105"/>
            <a:ext cx="7765322" cy="97045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2081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identification and research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progress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prerequisites for Model Training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24375"/>
            <a:ext cx="7765322" cy="97045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Prototype AVs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real-time pothole detection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vision, depth, mesh &amp; AV logic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Assumed to be 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ptimized for real-world road safety in India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potential for AV 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240" y="1588887"/>
            <a:ext cx="8848817" cy="2832192"/>
          </a:xfrm>
        </p:spPr>
        <p:txBody>
          <a:bodyPr>
            <a:normAutofit/>
          </a:bodyPr>
          <a:lstStyle/>
          <a:p>
            <a:r>
              <a:rPr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326</TotalTime>
  <Words>759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Calisto MT</vt:lpstr>
      <vt:lpstr>Times New Roman</vt:lpstr>
      <vt:lpstr>Wingdings 2</vt:lpstr>
      <vt:lpstr>Slate</vt:lpstr>
      <vt:lpstr>Wireframe-Based Pothole Detection and Avoidance System</vt:lpstr>
      <vt:lpstr>Domain &amp; Sub-Domain</vt:lpstr>
      <vt:lpstr>Problem Statement</vt:lpstr>
      <vt:lpstr>Project Objective</vt:lpstr>
      <vt:lpstr>Existing Work in Pothole Detection</vt:lpstr>
      <vt:lpstr>Architectural Structure </vt:lpstr>
      <vt:lpstr>PowerPoint Presentation</vt:lpstr>
      <vt:lpstr>Literature Survey</vt:lpstr>
      <vt:lpstr>PowerPoint Presentation</vt:lpstr>
      <vt:lpstr>Current Status of the Project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Sirajuddeen Mohamed</cp:lastModifiedBy>
  <cp:revision>8</cp:revision>
  <dcterms:created xsi:type="dcterms:W3CDTF">2013-01-27T09:14:16Z</dcterms:created>
  <dcterms:modified xsi:type="dcterms:W3CDTF">2025-07-28T16:17:00Z</dcterms:modified>
  <cp:category/>
</cp:coreProperties>
</file>