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65" r:id="rId3"/>
    <p:sldId id="266" r:id="rId4"/>
    <p:sldId id="257" r:id="rId5"/>
    <p:sldId id="258" r:id="rId6"/>
    <p:sldId id="264" r:id="rId7"/>
    <p:sldId id="259" r:id="rId8"/>
    <p:sldId id="260" r:id="rId9"/>
    <p:sldId id="261" r:id="rId10"/>
    <p:sldId id="262" r:id="rId11"/>
    <p:sldId id="263"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8" d="100"/>
          <a:sy n="108" d="100"/>
        </p:scale>
        <p:origin x="1704"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28020" y="1769541"/>
            <a:ext cx="7080026"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028020" y="3598339"/>
            <a:ext cx="7080026"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37055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848099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71551" y="1761068"/>
            <a:ext cx="7192913"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971551" y="3589879"/>
            <a:ext cx="7192913"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93743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347" y="1732449"/>
            <a:ext cx="3795373"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2169" y="1732450"/>
            <a:ext cx="3798499"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7887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345" y="1770323"/>
            <a:ext cx="3787423" cy="4112953"/>
          </a:xfrm>
          <a:prstGeom prst="rect">
            <a:avLst/>
          </a:prstGeom>
        </p:spPr>
      </p:pic>
      <p:pic>
        <p:nvPicPr>
          <p:cNvPr id="14" name="Picture 13"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245" y="1770323"/>
            <a:ext cx="3787423" cy="4112953"/>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754404" y="1835254"/>
            <a:ext cx="3657258"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54404" y="2380138"/>
            <a:ext cx="3657258"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21225" y="1835255"/>
            <a:ext cx="3671498"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21225" y="2380138"/>
            <a:ext cx="3671498"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7/20/2025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3634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7/20/2025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164262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03928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0"/>
            <a:ext cx="2780167"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641725" y="609600"/>
            <a:ext cx="4808943"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347" y="2431518"/>
            <a:ext cx="2780167"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413680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2" name="Picture 11" descr="Slate-V2-S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4987" y="609923"/>
            <a:ext cx="3428146" cy="5205472"/>
          </a:xfrm>
          <a:prstGeom prst="rect">
            <a:avLst/>
          </a:prstGeom>
        </p:spPr>
      </p:pic>
      <p:sp>
        <p:nvSpPr>
          <p:cNvPr id="2" name="Title 1"/>
          <p:cNvSpPr>
            <a:spLocks noGrp="1"/>
          </p:cNvSpPr>
          <p:nvPr>
            <p:ph type="title"/>
          </p:nvPr>
        </p:nvSpPr>
        <p:spPr>
          <a:xfrm>
            <a:off x="685347" y="609923"/>
            <a:ext cx="3924676"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976728" y="743989"/>
            <a:ext cx="3165375"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347" y="2439261"/>
            <a:ext cx="3924676"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383837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Slate-V2-S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995" y="540085"/>
            <a:ext cx="7656010" cy="3834374"/>
          </a:xfrm>
          <a:prstGeom prst="rect">
            <a:avLst/>
          </a:prstGeom>
        </p:spPr>
      </p:pic>
      <p:sp>
        <p:nvSpPr>
          <p:cNvPr id="2" name="Title 1"/>
          <p:cNvSpPr>
            <a:spLocks noGrp="1"/>
          </p:cNvSpPr>
          <p:nvPr>
            <p:ph type="title"/>
          </p:nvPr>
        </p:nvSpPr>
        <p:spPr>
          <a:xfrm>
            <a:off x="685354" y="4565255"/>
            <a:ext cx="7766495"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26217" y="695010"/>
            <a:ext cx="7285600"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5108728"/>
            <a:ext cx="776532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6892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6" y="608437"/>
            <a:ext cx="776532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46" y="4295180"/>
            <a:ext cx="7765322"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974431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610033"/>
            <a:ext cx="6564224"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346" y="4304353"/>
            <a:ext cx="7765322"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11" name="TextBox 10"/>
          <p:cNvSpPr txBox="1"/>
          <p:nvPr/>
        </p:nvSpPr>
        <p:spPr>
          <a:xfrm>
            <a:off x="627459" y="873912"/>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7828359" y="2933245"/>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835010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346" y="2126943"/>
            <a:ext cx="7765322"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9" y="4650556"/>
            <a:ext cx="776414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255150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346" y="609600"/>
            <a:ext cx="776532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46"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346"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35033"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31076"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74929"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74929"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7/20/2025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612471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6" name="Picture 5"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239" y="1826045"/>
            <a:ext cx="2529046" cy="1833558"/>
          </a:xfrm>
          <a:prstGeom prst="rect">
            <a:avLst/>
          </a:prstGeom>
        </p:spPr>
      </p:pic>
      <p:pic>
        <p:nvPicPr>
          <p:cNvPr id="28" name="Picture 27"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3813" y="1826045"/>
            <a:ext cx="2529046" cy="1833558"/>
          </a:xfrm>
          <a:prstGeom prst="rect">
            <a:avLst/>
          </a:prstGeom>
        </p:spPr>
      </p:pic>
      <p:pic>
        <p:nvPicPr>
          <p:cNvPr id="29" name="Picture 28"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1715" y="1826045"/>
            <a:ext cx="2529046" cy="1833558"/>
          </a:xfrm>
          <a:prstGeom prst="rect">
            <a:avLst/>
          </a:prstGeom>
        </p:spPr>
      </p:pic>
      <p:sp>
        <p:nvSpPr>
          <p:cNvPr id="30" name="Title 1"/>
          <p:cNvSpPr>
            <a:spLocks noGrp="1"/>
          </p:cNvSpPr>
          <p:nvPr>
            <p:ph type="title"/>
          </p:nvPr>
        </p:nvSpPr>
        <p:spPr>
          <a:xfrm>
            <a:off x="685346" y="609600"/>
            <a:ext cx="7765322"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46"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763577" y="1938918"/>
            <a:ext cx="2319276"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5346" y="4480369"/>
            <a:ext cx="2475738"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32091"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409307" y="1939094"/>
            <a:ext cx="2319276"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331075" y="4480368"/>
            <a:ext cx="2476753"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75023"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6056774" y="1934432"/>
            <a:ext cx="2319276"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74929" y="4480366"/>
            <a:ext cx="2475738"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7/20/2025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769818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144982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37302" y="609600"/>
            <a:ext cx="1713365"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85347" y="609600"/>
            <a:ext cx="5937654"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7/20/2025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89521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346" y="609600"/>
            <a:ext cx="776532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46" y="1732450"/>
            <a:ext cx="776532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2" y="5883276"/>
            <a:ext cx="20574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5BCAD085-E8A6-8845-BD4E-CB4CCA059FC4}" type="datetimeFigureOut">
              <a:rPr lang="en-US" smtClean="0"/>
              <a:t>7/20/2025</a:t>
            </a:fld>
            <a:endParaRPr lang="en-US"/>
          </a:p>
        </p:txBody>
      </p:sp>
      <p:sp>
        <p:nvSpPr>
          <p:cNvPr id="5" name="Footer Placeholder 4"/>
          <p:cNvSpPr>
            <a:spLocks noGrp="1"/>
          </p:cNvSpPr>
          <p:nvPr>
            <p:ph type="ftr" sz="quarter" idx="3"/>
          </p:nvPr>
        </p:nvSpPr>
        <p:spPr>
          <a:xfrm>
            <a:off x="685347" y="5883276"/>
            <a:ext cx="5004649"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7885509" y="5883276"/>
            <a:ext cx="565159"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2094825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gif"/><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33835"/>
            <a:ext cx="7772400" cy="2216614"/>
          </a:xfrm>
        </p:spPr>
        <p:txBody>
          <a:bodyPr>
            <a:normAutofit fontScale="90000"/>
          </a:bodyPr>
          <a:lstStyle/>
          <a:p>
            <a:r>
              <a:rPr dirty="0">
                <a:latin typeface="Times New Roman" panose="02020603050405020304" pitchFamily="18" charset="0"/>
                <a:cs typeface="Times New Roman" panose="02020603050405020304" pitchFamily="18" charset="0"/>
              </a:rPr>
              <a:t>Wireframe-Based Pothole Detection and Avoidance System</a:t>
            </a:r>
          </a:p>
        </p:txBody>
      </p:sp>
      <p:sp>
        <p:nvSpPr>
          <p:cNvPr id="3" name="Subtitle 2"/>
          <p:cNvSpPr>
            <a:spLocks noGrp="1"/>
          </p:cNvSpPr>
          <p:nvPr>
            <p:ph type="subTitle" idx="1"/>
          </p:nvPr>
        </p:nvSpPr>
        <p:spPr>
          <a:xfrm>
            <a:off x="796636" y="4819073"/>
            <a:ext cx="7550727" cy="972127"/>
          </a:xfrm>
        </p:spPr>
        <p:txBody>
          <a:bodyPr>
            <a:normAutofit/>
          </a:bodyPr>
          <a:lstStyle/>
          <a:p>
            <a:r>
              <a:rPr lang="en-US" sz="2400" dirty="0">
                <a:latin typeface="Times New Roman" panose="02020603050405020304" pitchFamily="18" charset="0"/>
                <a:cs typeface="Times New Roman" panose="02020603050405020304" pitchFamily="18" charset="0"/>
              </a:rPr>
              <a:t>BATCH - 02</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P</a:t>
            </a:r>
            <a:r>
              <a:rPr sz="2400" dirty="0">
                <a:latin typeface="Times New Roman" panose="02020603050405020304" pitchFamily="18" charset="0"/>
                <a:cs typeface="Times New Roman" panose="02020603050405020304" pitchFamily="18" charset="0"/>
              </a:rPr>
              <a:t>resented by </a:t>
            </a:r>
            <a:r>
              <a:rPr lang="en-US" sz="2400" dirty="0">
                <a:latin typeface="Times New Roman" panose="02020603050405020304" pitchFamily="18" charset="0"/>
                <a:cs typeface="Times New Roman" panose="02020603050405020304" pitchFamily="18" charset="0"/>
              </a:rPr>
              <a:t>MOHAMED B SIRAJUDDEEN (22TD0053)</a:t>
            </a:r>
            <a:endParaRPr sz="24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FFD2184-4805-63FD-CD67-055215D31036}"/>
              </a:ext>
            </a:extLst>
          </p:cNvPr>
          <p:cNvSpPr txBox="1"/>
          <p:nvPr/>
        </p:nvSpPr>
        <p:spPr>
          <a:xfrm>
            <a:off x="2709951" y="3105834"/>
            <a:ext cx="3724096" cy="646331"/>
          </a:xfrm>
          <a:prstGeom prst="rect">
            <a:avLst/>
          </a:prstGeom>
          <a:noFill/>
        </p:spPr>
        <p:txBody>
          <a:bodyPr wrap="none" rtlCol="0">
            <a:spAutoFit/>
          </a:bodyPr>
          <a:lstStyle/>
          <a:p>
            <a:r>
              <a:rPr lang="en-US" sz="3600" dirty="0">
                <a:latin typeface="Times New Roman" panose="02020603050405020304" pitchFamily="18" charset="0"/>
                <a:cs typeface="Times New Roman" panose="02020603050405020304" pitchFamily="18" charset="0"/>
              </a:rPr>
              <a:t>Project Sequence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2A9C8-118C-06A4-7AB2-62184517D788}"/>
              </a:ext>
            </a:extLst>
          </p:cNvPr>
          <p:cNvSpPr>
            <a:spLocks noGrp="1"/>
          </p:cNvSpPr>
          <p:nvPr>
            <p:ph type="title"/>
          </p:nvPr>
        </p:nvSpPr>
        <p:spPr>
          <a:xfrm>
            <a:off x="689339" y="213063"/>
            <a:ext cx="7765322" cy="834327"/>
          </a:xfrm>
        </p:spPr>
        <p:txBody>
          <a:bodyPr>
            <a:normAutofit/>
          </a:bodyPr>
          <a:lstStyle/>
          <a:p>
            <a:r>
              <a:rPr lang="en-US" dirty="0">
                <a:latin typeface="Times New Roman" panose="02020603050405020304" pitchFamily="18" charset="0"/>
                <a:cs typeface="Times New Roman" panose="02020603050405020304" pitchFamily="18" charset="0"/>
              </a:rPr>
              <a:t>Problem Statement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4F01F84-DBFE-5703-AE97-DBCCF900F888}"/>
              </a:ext>
            </a:extLst>
          </p:cNvPr>
          <p:cNvSpPr>
            <a:spLocks noGrp="1"/>
          </p:cNvSpPr>
          <p:nvPr>
            <p:ph idx="1"/>
          </p:nvPr>
        </p:nvSpPr>
        <p:spPr>
          <a:xfrm>
            <a:off x="802314" y="1492753"/>
            <a:ext cx="7765322" cy="3221290"/>
          </a:xfrm>
        </p:spPr>
        <p:txBody>
          <a:bodyPr/>
          <a:lstStyle/>
          <a:p>
            <a:pPr marL="36900" indent="0">
              <a:buNone/>
            </a:pPr>
            <a:r>
              <a:rPr lang="en-US" dirty="0">
                <a:latin typeface="Times New Roman" panose="02020603050405020304" pitchFamily="18" charset="0"/>
                <a:cs typeface="Times New Roman" panose="02020603050405020304" pitchFamily="18" charset="0"/>
              </a:rPr>
              <a:t>Autonomous vehicles rely heavily on object detection and navigation systems that are typically optimized for structured and well-maintained roads. However, in countries like India, where road infrastructure is often inconsistent with frequent potholes, speed bumps, and surface deformities standard AV systems struggle to operate reliably. These surface anomalies not only reduce ride quality but also pose serious safety risks. Conventional solutions using LiDAR and high-end sensors are expensive and impractical for mass deployment. There is a need for a cost-effective, camera-based solution capable of detecting, analyzing, and responding to road surface anomalies in real-time.</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A6955F0-DFBB-3714-49D2-E34EFE1CA50A}"/>
              </a:ext>
            </a:extLst>
          </p:cNvPr>
          <p:cNvSpPr txBox="1"/>
          <p:nvPr/>
        </p:nvSpPr>
        <p:spPr>
          <a:xfrm>
            <a:off x="846704" y="1031964"/>
            <a:ext cx="1005403" cy="369332"/>
          </a:xfrm>
          <a:prstGeom prst="rect">
            <a:avLst/>
          </a:prstGeom>
          <a:noFill/>
        </p:spPr>
        <p:txBody>
          <a:bodyPr wrap="none" rtlCol="0">
            <a:spAutoFit/>
          </a:bodyPr>
          <a:lstStyle/>
          <a:p>
            <a:r>
              <a:rPr lang="en-US" dirty="0"/>
              <a:t>Abstract</a:t>
            </a:r>
            <a:endParaRPr lang="en-IN" dirty="0"/>
          </a:p>
        </p:txBody>
      </p:sp>
      <p:pic>
        <p:nvPicPr>
          <p:cNvPr id="2050" name="Picture 2" descr="Deadlier than terrorism: Potholes behind 14,900 deaths across the country  in past five years">
            <a:extLst>
              <a:ext uri="{FF2B5EF4-FFF2-40B4-BE49-F238E27FC236}">
                <a16:creationId xmlns:a16="http://schemas.microsoft.com/office/drawing/2014/main" id="{DBBCED4F-C63C-9C96-7BA9-5C75EE9E30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2138" y="4429956"/>
            <a:ext cx="4127130" cy="2321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18683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4CC7B-2E9E-C3E4-05BE-A2720856D7A7}"/>
              </a:ext>
            </a:extLst>
          </p:cNvPr>
          <p:cNvSpPr>
            <a:spLocks noGrp="1"/>
          </p:cNvSpPr>
          <p:nvPr>
            <p:ph type="title"/>
          </p:nvPr>
        </p:nvSpPr>
        <p:spPr>
          <a:xfrm>
            <a:off x="685346" y="609600"/>
            <a:ext cx="7765322" cy="1121546"/>
          </a:xfrm>
        </p:spPr>
        <p:txBody>
          <a:bodyPr>
            <a:normAutofit fontScale="90000"/>
          </a:bodyPr>
          <a:lstStyle/>
          <a:p>
            <a:r>
              <a:rPr lang="en-US" dirty="0"/>
              <a:t>Something you can expect only to happen in India</a:t>
            </a:r>
            <a:endParaRPr lang="en-IN" dirty="0"/>
          </a:p>
        </p:txBody>
      </p:sp>
      <p:pic>
        <p:nvPicPr>
          <p:cNvPr id="1026" name="Picture 2" descr="India's Crumbling Roads Take Lives - Asia Sentinel">
            <a:extLst>
              <a:ext uri="{FF2B5EF4-FFF2-40B4-BE49-F238E27FC236}">
                <a16:creationId xmlns:a16="http://schemas.microsoft.com/office/drawing/2014/main" id="{68CADF07-0FAA-C69B-F477-4E0D63C847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081814"/>
            <a:ext cx="9144000" cy="47761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84502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dirty="0">
                <a:latin typeface="Times New Roman" panose="02020603050405020304" pitchFamily="18" charset="0"/>
                <a:cs typeface="Times New Roman" panose="02020603050405020304" pitchFamily="18" charset="0"/>
              </a:rPr>
              <a:t>Existing Work in Pothole Detection</a:t>
            </a:r>
          </a:p>
        </p:txBody>
      </p:sp>
      <p:sp>
        <p:nvSpPr>
          <p:cNvPr id="3" name="Content Placeholder 2"/>
          <p:cNvSpPr>
            <a:spLocks noGrp="1"/>
          </p:cNvSpPr>
          <p:nvPr>
            <p:ph idx="1"/>
          </p:nvPr>
        </p:nvSpPr>
        <p:spPr>
          <a:xfrm>
            <a:off x="457200" y="1082964"/>
            <a:ext cx="8229600" cy="4525963"/>
          </a:xfrm>
        </p:spPr>
        <p:txBody>
          <a:bodyPr/>
          <a:lstStyle/>
          <a:p>
            <a:r>
              <a:rPr dirty="0">
                <a:latin typeface="Times New Roman" panose="02020603050405020304" pitchFamily="18" charset="0"/>
                <a:cs typeface="Times New Roman" panose="02020603050405020304" pitchFamily="18" charset="0"/>
              </a:rPr>
              <a:t>YOLO-based detection (YOLOv5, YOLOv8)</a:t>
            </a:r>
          </a:p>
          <a:p>
            <a:r>
              <a:rPr dirty="0">
                <a:latin typeface="Times New Roman" panose="02020603050405020304" pitchFamily="18" charset="0"/>
                <a:cs typeface="Times New Roman" panose="02020603050405020304" pitchFamily="18" charset="0"/>
              </a:rPr>
              <a:t>LiDAR + Camera fusion for accurate depth</a:t>
            </a:r>
          </a:p>
          <a:p>
            <a:r>
              <a:rPr dirty="0">
                <a:latin typeface="Times New Roman" panose="02020603050405020304" pitchFamily="18" charset="0"/>
                <a:cs typeface="Times New Roman" panose="02020603050405020304" pitchFamily="18" charset="0"/>
              </a:rPr>
              <a:t>Point cloud and Convex Hull for geometry</a:t>
            </a:r>
          </a:p>
          <a:p>
            <a:r>
              <a:rPr dirty="0">
                <a:latin typeface="Times New Roman" panose="02020603050405020304" pitchFamily="18" charset="0"/>
                <a:cs typeface="Times New Roman" panose="02020603050405020304" pitchFamily="18" charset="0"/>
              </a:rPr>
              <a:t>Mobile3DRecon – real-time monocular mesh</a:t>
            </a:r>
          </a:p>
          <a:p>
            <a:r>
              <a:rPr dirty="0" err="1">
                <a:latin typeface="Times New Roman" panose="02020603050405020304" pitchFamily="18" charset="0"/>
                <a:cs typeface="Times New Roman" panose="02020603050405020304" pitchFamily="18" charset="0"/>
              </a:rPr>
              <a:t>RoGs</a:t>
            </a:r>
            <a:r>
              <a:rPr dirty="0">
                <a:latin typeface="Times New Roman" panose="02020603050405020304" pitchFamily="18" charset="0"/>
                <a:cs typeface="Times New Roman" panose="02020603050405020304" pitchFamily="18" charset="0"/>
              </a:rPr>
              <a:t> – road-specific Gaussian </a:t>
            </a:r>
            <a:r>
              <a:rPr dirty="0" err="1">
                <a:latin typeface="Times New Roman" panose="02020603050405020304" pitchFamily="18" charset="0"/>
                <a:cs typeface="Times New Roman" panose="02020603050405020304" pitchFamily="18" charset="0"/>
              </a:rPr>
              <a:t>surfel</a:t>
            </a:r>
            <a:r>
              <a:rPr dirty="0">
                <a:latin typeface="Times New Roman" panose="02020603050405020304" pitchFamily="18" charset="0"/>
                <a:cs typeface="Times New Roman" panose="02020603050405020304" pitchFamily="18" charset="0"/>
              </a:rPr>
              <a:t> reconstruction</a:t>
            </a:r>
          </a:p>
        </p:txBody>
      </p:sp>
      <p:pic>
        <p:nvPicPr>
          <p:cNvPr id="5" name="Picture 4">
            <a:extLst>
              <a:ext uri="{FF2B5EF4-FFF2-40B4-BE49-F238E27FC236}">
                <a16:creationId xmlns:a16="http://schemas.microsoft.com/office/drawing/2014/main" id="{66CDB773-2EC8-7F11-A46C-4C74A1560395}"/>
              </a:ext>
            </a:extLst>
          </p:cNvPr>
          <p:cNvPicPr>
            <a:picLocks noChangeAspect="1"/>
          </p:cNvPicPr>
          <p:nvPr/>
        </p:nvPicPr>
        <p:blipFill>
          <a:blip r:embed="rId2"/>
          <a:stretch>
            <a:fillRect/>
          </a:stretch>
        </p:blipFill>
        <p:spPr>
          <a:xfrm>
            <a:off x="3979382" y="5207000"/>
            <a:ext cx="4989853" cy="1651000"/>
          </a:xfrm>
          <a:prstGeom prst="rect">
            <a:avLst/>
          </a:prstGeom>
        </p:spPr>
      </p:pic>
      <p:pic>
        <p:nvPicPr>
          <p:cNvPr id="7" name="Picture 6">
            <a:extLst>
              <a:ext uri="{FF2B5EF4-FFF2-40B4-BE49-F238E27FC236}">
                <a16:creationId xmlns:a16="http://schemas.microsoft.com/office/drawing/2014/main" id="{5504D6CA-A279-7229-6EA8-6A952745BDDA}"/>
              </a:ext>
            </a:extLst>
          </p:cNvPr>
          <p:cNvPicPr>
            <a:picLocks noChangeAspect="1"/>
          </p:cNvPicPr>
          <p:nvPr/>
        </p:nvPicPr>
        <p:blipFill>
          <a:blip r:embed="rId3"/>
          <a:stretch>
            <a:fillRect/>
          </a:stretch>
        </p:blipFill>
        <p:spPr>
          <a:xfrm>
            <a:off x="174765" y="4513848"/>
            <a:ext cx="3522182" cy="2190157"/>
          </a:xfrm>
          <a:prstGeom prst="rect">
            <a:avLst/>
          </a:prstGeom>
        </p:spPr>
      </p:pic>
      <p:pic>
        <p:nvPicPr>
          <p:cNvPr id="9" name="Picture 8">
            <a:extLst>
              <a:ext uri="{FF2B5EF4-FFF2-40B4-BE49-F238E27FC236}">
                <a16:creationId xmlns:a16="http://schemas.microsoft.com/office/drawing/2014/main" id="{60234151-413C-BC7D-1081-271CD2450BB6}"/>
              </a:ext>
            </a:extLst>
          </p:cNvPr>
          <p:cNvPicPr>
            <a:picLocks noChangeAspect="1"/>
          </p:cNvPicPr>
          <p:nvPr/>
        </p:nvPicPr>
        <p:blipFill>
          <a:blip r:embed="rId4"/>
          <a:stretch>
            <a:fillRect/>
          </a:stretch>
        </p:blipFill>
        <p:spPr>
          <a:xfrm>
            <a:off x="4154089" y="3508221"/>
            <a:ext cx="4532711" cy="1530215"/>
          </a:xfrm>
          <a:prstGeom prst="rect">
            <a:avLst/>
          </a:prstGeom>
        </p:spPr>
      </p:pic>
      <p:pic>
        <p:nvPicPr>
          <p:cNvPr id="4098" name="Picture 2" descr="Blender 2.8 Wireframes Discussion - User Feedback - Developer Forum">
            <a:extLst>
              <a:ext uri="{FF2B5EF4-FFF2-40B4-BE49-F238E27FC236}">
                <a16:creationId xmlns:a16="http://schemas.microsoft.com/office/drawing/2014/main" id="{F75C21CC-42DF-E6D4-3D43-73F3105192F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20444" y="1082964"/>
            <a:ext cx="2481080" cy="20869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48998"/>
          </a:xfrm>
        </p:spPr>
        <p:txBody>
          <a:bodyPr>
            <a:normAutofit fontScale="90000"/>
          </a:bodyPr>
          <a:lstStyle/>
          <a:p>
            <a:r>
              <a:rPr dirty="0">
                <a:latin typeface="Times New Roman" panose="02020603050405020304" pitchFamily="18" charset="0"/>
                <a:cs typeface="Times New Roman" panose="02020603050405020304" pitchFamily="18" charset="0"/>
              </a:rPr>
              <a:t>Project Innovations</a:t>
            </a:r>
          </a:p>
        </p:txBody>
      </p:sp>
      <p:sp>
        <p:nvSpPr>
          <p:cNvPr id="3" name="Content Placeholder 2"/>
          <p:cNvSpPr>
            <a:spLocks noGrp="1"/>
          </p:cNvSpPr>
          <p:nvPr>
            <p:ph idx="1"/>
          </p:nvPr>
        </p:nvSpPr>
        <p:spPr>
          <a:xfrm>
            <a:off x="355599" y="1057563"/>
            <a:ext cx="8603673" cy="4983162"/>
          </a:xfrm>
        </p:spPr>
        <p:txBody>
          <a:bodyPr/>
          <a:lstStyle/>
          <a:p>
            <a:r>
              <a:rPr dirty="0">
                <a:latin typeface="Times New Roman" panose="02020603050405020304" pitchFamily="18" charset="0"/>
                <a:cs typeface="Times New Roman" panose="02020603050405020304" pitchFamily="18" charset="0"/>
              </a:rPr>
              <a:t>Camera-only system (no LiDAR)</a:t>
            </a:r>
          </a:p>
          <a:p>
            <a:r>
              <a:rPr dirty="0">
                <a:latin typeface="Times New Roman" panose="02020603050405020304" pitchFamily="18" charset="0"/>
                <a:cs typeface="Times New Roman" panose="02020603050405020304" pitchFamily="18" charset="0"/>
              </a:rPr>
              <a:t>Real-time wireframe mesh using monocular depth</a:t>
            </a:r>
          </a:p>
          <a:p>
            <a:r>
              <a:rPr dirty="0">
                <a:latin typeface="Times New Roman" panose="02020603050405020304" pitchFamily="18" charset="0"/>
                <a:cs typeface="Times New Roman" panose="02020603050405020304" pitchFamily="18" charset="0"/>
              </a:rPr>
              <a:t>YOLOv8 + </a:t>
            </a:r>
            <a:r>
              <a:rPr dirty="0" err="1">
                <a:latin typeface="Times New Roman" panose="02020603050405020304" pitchFamily="18" charset="0"/>
                <a:cs typeface="Times New Roman" panose="02020603050405020304" pitchFamily="18" charset="0"/>
              </a:rPr>
              <a:t>MiDaS</a:t>
            </a:r>
            <a:r>
              <a:rPr dirty="0">
                <a:latin typeface="Times New Roman" panose="02020603050405020304" pitchFamily="18" charset="0"/>
                <a:cs typeface="Times New Roman" panose="02020603050405020304" pitchFamily="18" charset="0"/>
              </a:rPr>
              <a:t> integration</a:t>
            </a:r>
          </a:p>
          <a:p>
            <a:r>
              <a:rPr dirty="0">
                <a:latin typeface="Times New Roman" panose="02020603050405020304" pitchFamily="18" charset="0"/>
                <a:cs typeface="Times New Roman" panose="02020603050405020304" pitchFamily="18" charset="0"/>
              </a:rPr>
              <a:t>Decision-making </a:t>
            </a:r>
            <a:r>
              <a:rPr lang="en-US" dirty="0">
                <a:latin typeface="Times New Roman" panose="02020603050405020304" pitchFamily="18" charset="0"/>
                <a:cs typeface="Times New Roman" panose="02020603050405020304" pitchFamily="18" charset="0"/>
              </a:rPr>
              <a:t>to</a:t>
            </a:r>
            <a:r>
              <a:rPr dirty="0">
                <a:latin typeface="Times New Roman" panose="02020603050405020304" pitchFamily="18" charset="0"/>
                <a:cs typeface="Times New Roman" panose="02020603050405020304" pitchFamily="18" charset="0"/>
              </a:rPr>
              <a:t> slow down / avoid</a:t>
            </a:r>
            <a:r>
              <a:rPr lang="en-US" dirty="0">
                <a:latin typeface="Times New Roman" panose="02020603050405020304" pitchFamily="18" charset="0"/>
                <a:cs typeface="Times New Roman" panose="02020603050405020304" pitchFamily="18" charset="0"/>
              </a:rPr>
              <a:t> potholes</a:t>
            </a:r>
            <a:endParaRPr dirty="0">
              <a:latin typeface="Times New Roman" panose="02020603050405020304" pitchFamily="18" charset="0"/>
              <a:cs typeface="Times New Roman" panose="02020603050405020304" pitchFamily="18" charset="0"/>
            </a:endParaRPr>
          </a:p>
          <a:p>
            <a:r>
              <a:rPr dirty="0">
                <a:latin typeface="Times New Roman" panose="02020603050405020304" pitchFamily="18" charset="0"/>
                <a:cs typeface="Times New Roman" panose="02020603050405020304" pitchFamily="18" charset="0"/>
              </a:rPr>
              <a:t>Designed for unstructured Indian road conditions</a:t>
            </a:r>
          </a:p>
        </p:txBody>
      </p:sp>
      <p:pic>
        <p:nvPicPr>
          <p:cNvPr id="3074" name="Picture 2" descr="How to Choose the Right LiDAR Sensor for Your Project — Rockwell Automation  Canada Ltd.">
            <a:extLst>
              <a:ext uri="{FF2B5EF4-FFF2-40B4-BE49-F238E27FC236}">
                <a16:creationId xmlns:a16="http://schemas.microsoft.com/office/drawing/2014/main" id="{A7705CF6-9F61-5C96-2F3F-CC60CD65C2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0679" y="4710175"/>
            <a:ext cx="3807119" cy="1889018"/>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3076" name="Picture 4" descr="An Introduction to LIDAR: The Key Self-Driving Car Sensor | by Oliver  Cameron | Voyage">
            <a:extLst>
              <a:ext uri="{FF2B5EF4-FFF2-40B4-BE49-F238E27FC236}">
                <a16:creationId xmlns:a16="http://schemas.microsoft.com/office/drawing/2014/main" id="{6B3AD9F2-183F-2D68-6AA6-B8DBC9F112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28" y="3799643"/>
            <a:ext cx="5109445" cy="27995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53774DA-C5C5-B9D1-A1CA-F1BE4EDAAC2E}"/>
              </a:ext>
            </a:extLst>
          </p:cNvPr>
          <p:cNvPicPr>
            <a:picLocks noChangeAspect="1"/>
          </p:cNvPicPr>
          <p:nvPr/>
        </p:nvPicPr>
        <p:blipFill>
          <a:blip r:embed="rId2"/>
          <a:stretch>
            <a:fillRect/>
          </a:stretch>
        </p:blipFill>
        <p:spPr>
          <a:xfrm>
            <a:off x="123811" y="416045"/>
            <a:ext cx="4448189" cy="2903596"/>
          </a:xfrm>
          <a:prstGeom prst="rect">
            <a:avLst/>
          </a:prstGeom>
        </p:spPr>
      </p:pic>
      <p:sp>
        <p:nvSpPr>
          <p:cNvPr id="2" name="TextBox 1">
            <a:extLst>
              <a:ext uri="{FF2B5EF4-FFF2-40B4-BE49-F238E27FC236}">
                <a16:creationId xmlns:a16="http://schemas.microsoft.com/office/drawing/2014/main" id="{2D04FA06-9900-0581-3944-478BAE4928B8}"/>
              </a:ext>
            </a:extLst>
          </p:cNvPr>
          <p:cNvSpPr txBox="1"/>
          <p:nvPr/>
        </p:nvSpPr>
        <p:spPr>
          <a:xfrm>
            <a:off x="1586785" y="46713"/>
            <a:ext cx="851515" cy="369332"/>
          </a:xfrm>
          <a:prstGeom prst="rect">
            <a:avLst/>
          </a:prstGeom>
          <a:noFill/>
        </p:spPr>
        <p:txBody>
          <a:bodyPr wrap="none" rtlCol="0">
            <a:spAutoFit/>
          </a:bodyPr>
          <a:lstStyle/>
          <a:p>
            <a:r>
              <a:rPr lang="en-US" dirty="0" err="1">
                <a:latin typeface="Times New Roman" panose="02020603050405020304" pitchFamily="18" charset="0"/>
                <a:cs typeface="Times New Roman" panose="02020603050405020304" pitchFamily="18" charset="0"/>
              </a:rPr>
              <a:t>MiDaS</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25929349-7067-2FDB-B387-7ABC3B6127FB}"/>
              </a:ext>
            </a:extLst>
          </p:cNvPr>
          <p:cNvPicPr>
            <a:picLocks noChangeAspect="1"/>
          </p:cNvPicPr>
          <p:nvPr/>
        </p:nvPicPr>
        <p:blipFill>
          <a:blip r:embed="rId3"/>
          <a:stretch>
            <a:fillRect/>
          </a:stretch>
        </p:blipFill>
        <p:spPr>
          <a:xfrm>
            <a:off x="73891" y="4161006"/>
            <a:ext cx="6825673" cy="2650281"/>
          </a:xfrm>
          <a:prstGeom prst="rect">
            <a:avLst/>
          </a:prstGeom>
        </p:spPr>
      </p:pic>
      <p:sp>
        <p:nvSpPr>
          <p:cNvPr id="8" name="TextBox 7">
            <a:extLst>
              <a:ext uri="{FF2B5EF4-FFF2-40B4-BE49-F238E27FC236}">
                <a16:creationId xmlns:a16="http://schemas.microsoft.com/office/drawing/2014/main" id="{EB9F291F-7CB8-1A8D-730F-4916DFDE2DE1}"/>
              </a:ext>
            </a:extLst>
          </p:cNvPr>
          <p:cNvSpPr txBox="1"/>
          <p:nvPr/>
        </p:nvSpPr>
        <p:spPr>
          <a:xfrm>
            <a:off x="2706116" y="3637889"/>
            <a:ext cx="966931"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Open3D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6560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446" y="262081"/>
            <a:ext cx="3095463" cy="584775"/>
          </a:xfrm>
          <a:prstGeom prst="rect">
            <a:avLst/>
          </a:prstGeom>
          <a:noFill/>
        </p:spPr>
        <p:txBody>
          <a:bodyPr wrap="none">
            <a:spAutoFit/>
          </a:bodyPr>
          <a:lstStyle/>
          <a:p>
            <a:r>
              <a:rPr lang="en-US" sz="3200" dirty="0">
                <a:latin typeface="Times New Roman" panose="02020603050405020304" pitchFamily="18" charset="0"/>
                <a:cs typeface="Times New Roman" panose="02020603050405020304" pitchFamily="18" charset="0"/>
              </a:rPr>
              <a:t>Project Workflow</a:t>
            </a:r>
            <a:endParaRPr sz="32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5877D102-E4CA-BFAD-6301-A463B781C24F}"/>
              </a:ext>
            </a:extLst>
          </p:cNvPr>
          <p:cNvPicPr>
            <a:picLocks noChangeAspect="1"/>
          </p:cNvPicPr>
          <p:nvPr/>
        </p:nvPicPr>
        <p:blipFill>
          <a:blip r:embed="rId2"/>
          <a:stretch>
            <a:fillRect/>
          </a:stretch>
        </p:blipFill>
        <p:spPr>
          <a:xfrm>
            <a:off x="2884054" y="1154545"/>
            <a:ext cx="3627582" cy="544137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71069" y="181956"/>
            <a:ext cx="6801862" cy="523220"/>
          </a:xfrm>
          <a:prstGeom prst="rect">
            <a:avLst/>
          </a:prstGeom>
          <a:noFill/>
        </p:spPr>
        <p:txBody>
          <a:bodyPr wrap="none">
            <a:spAutoFit/>
          </a:bodyPr>
          <a:lstStyle/>
          <a:p>
            <a:pPr algn="ctr"/>
            <a:r>
              <a:rPr sz="2800" dirty="0">
                <a:latin typeface="Times New Roman" panose="02020603050405020304" pitchFamily="18" charset="0"/>
                <a:cs typeface="Times New Roman" panose="02020603050405020304" pitchFamily="18" charset="0"/>
              </a:rPr>
              <a:t>Comparison: Existing Systems vs. My Project</a:t>
            </a:r>
          </a:p>
        </p:txBody>
      </p:sp>
      <p:graphicFrame>
        <p:nvGraphicFramePr>
          <p:cNvPr id="3" name="Table 2"/>
          <p:cNvGraphicFramePr>
            <a:graphicFrameLocks noGrp="1"/>
          </p:cNvGraphicFramePr>
          <p:nvPr>
            <p:extLst>
              <p:ext uri="{D42A27DB-BD31-4B8C-83A1-F6EECF244321}">
                <p14:modId xmlns:p14="http://schemas.microsoft.com/office/powerpoint/2010/main" val="1440580215"/>
              </p:ext>
            </p:extLst>
          </p:nvPr>
        </p:nvGraphicFramePr>
        <p:xfrm>
          <a:off x="457200" y="914400"/>
          <a:ext cx="8229600" cy="246888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457200">
                <a:tc>
                  <a:txBody>
                    <a:bodyPr/>
                    <a:lstStyle/>
                    <a:p>
                      <a:r>
                        <a:t>Feature</a:t>
                      </a:r>
                    </a:p>
                  </a:txBody>
                  <a:tcPr/>
                </a:tc>
                <a:tc>
                  <a:txBody>
                    <a:bodyPr/>
                    <a:lstStyle/>
                    <a:p>
                      <a:r>
                        <a:rPr dirty="0"/>
                        <a:t>Existing Systems</a:t>
                      </a:r>
                    </a:p>
                  </a:txBody>
                  <a:tcPr/>
                </a:tc>
                <a:tc>
                  <a:txBody>
                    <a:bodyPr/>
                    <a:lstStyle/>
                    <a:p>
                      <a:r>
                        <a:t>My Project</a:t>
                      </a:r>
                    </a:p>
                  </a:txBody>
                  <a:tcPr/>
                </a:tc>
                <a:extLst>
                  <a:ext uri="{0D108BD9-81ED-4DB2-BD59-A6C34878D82A}">
                    <a16:rowId xmlns:a16="http://schemas.microsoft.com/office/drawing/2014/main" val="10000"/>
                  </a:ext>
                </a:extLst>
              </a:tr>
              <a:tr h="457200">
                <a:tc>
                  <a:txBody>
                    <a:bodyPr/>
                    <a:lstStyle/>
                    <a:p>
                      <a:r>
                        <a:t>Sensor</a:t>
                      </a:r>
                    </a:p>
                  </a:txBody>
                  <a:tcPr/>
                </a:tc>
                <a:tc>
                  <a:txBody>
                    <a:bodyPr/>
                    <a:lstStyle/>
                    <a:p>
                      <a:r>
                        <a:t>LiDAR + Camera</a:t>
                      </a:r>
                    </a:p>
                  </a:txBody>
                  <a:tcPr/>
                </a:tc>
                <a:tc>
                  <a:txBody>
                    <a:bodyPr/>
                    <a:lstStyle/>
                    <a:p>
                      <a:r>
                        <a:t>Monocular Camera Only</a:t>
                      </a:r>
                    </a:p>
                  </a:txBody>
                  <a:tcPr/>
                </a:tc>
                <a:extLst>
                  <a:ext uri="{0D108BD9-81ED-4DB2-BD59-A6C34878D82A}">
                    <a16:rowId xmlns:a16="http://schemas.microsoft.com/office/drawing/2014/main" val="10001"/>
                  </a:ext>
                </a:extLst>
              </a:tr>
              <a:tr h="457200">
                <a:tc>
                  <a:txBody>
                    <a:bodyPr/>
                    <a:lstStyle/>
                    <a:p>
                      <a:r>
                        <a:t>Mesh Type</a:t>
                      </a:r>
                    </a:p>
                  </a:txBody>
                  <a:tcPr/>
                </a:tc>
                <a:tc>
                  <a:txBody>
                    <a:bodyPr/>
                    <a:lstStyle/>
                    <a:p>
                      <a:r>
                        <a:t>Point Cloud</a:t>
                      </a:r>
                    </a:p>
                  </a:txBody>
                  <a:tcPr/>
                </a:tc>
                <a:tc>
                  <a:txBody>
                    <a:bodyPr/>
                    <a:lstStyle/>
                    <a:p>
                      <a:r>
                        <a:t>Wireframe Mesh</a:t>
                      </a:r>
                    </a:p>
                  </a:txBody>
                  <a:tcPr/>
                </a:tc>
                <a:extLst>
                  <a:ext uri="{0D108BD9-81ED-4DB2-BD59-A6C34878D82A}">
                    <a16:rowId xmlns:a16="http://schemas.microsoft.com/office/drawing/2014/main" val="10002"/>
                  </a:ext>
                </a:extLst>
              </a:tr>
              <a:tr h="457200">
                <a:tc>
                  <a:txBody>
                    <a:bodyPr/>
                    <a:lstStyle/>
                    <a:p>
                      <a:r>
                        <a:t>Cost</a:t>
                      </a:r>
                    </a:p>
                  </a:txBody>
                  <a:tcPr/>
                </a:tc>
                <a:tc>
                  <a:txBody>
                    <a:bodyPr/>
                    <a:lstStyle/>
                    <a:p>
                      <a:r>
                        <a:t>High</a:t>
                      </a:r>
                    </a:p>
                  </a:txBody>
                  <a:tcPr/>
                </a:tc>
                <a:tc>
                  <a:txBody>
                    <a:bodyPr/>
                    <a:lstStyle/>
                    <a:p>
                      <a:r>
                        <a:t>Low</a:t>
                      </a:r>
                    </a:p>
                  </a:txBody>
                  <a:tcPr/>
                </a:tc>
                <a:extLst>
                  <a:ext uri="{0D108BD9-81ED-4DB2-BD59-A6C34878D82A}">
                    <a16:rowId xmlns:a16="http://schemas.microsoft.com/office/drawing/2014/main" val="10003"/>
                  </a:ext>
                </a:extLst>
              </a:tr>
              <a:tr h="457200">
                <a:tc>
                  <a:txBody>
                    <a:bodyPr/>
                    <a:lstStyle/>
                    <a:p>
                      <a:r>
                        <a:t>Usage</a:t>
                      </a:r>
                    </a:p>
                  </a:txBody>
                  <a:tcPr/>
                </a:tc>
                <a:tc>
                  <a:txBody>
                    <a:bodyPr/>
                    <a:lstStyle/>
                    <a:p>
                      <a:r>
                        <a:rPr dirty="0"/>
                        <a:t>Offline Inspection</a:t>
                      </a:r>
                      <a:r>
                        <a:rPr lang="en-US" dirty="0"/>
                        <a:t> + Existing static data</a:t>
                      </a:r>
                      <a:endParaRPr dirty="0"/>
                    </a:p>
                  </a:txBody>
                  <a:tcPr/>
                </a:tc>
                <a:tc>
                  <a:txBody>
                    <a:bodyPr/>
                    <a:lstStyle/>
                    <a:p>
                      <a:r>
                        <a:rPr dirty="0"/>
                        <a:t>Real-time </a:t>
                      </a:r>
                      <a:r>
                        <a:rPr lang="en-US" dirty="0"/>
                        <a:t>rendering &amp; </a:t>
                      </a:r>
                      <a:r>
                        <a:rPr dirty="0"/>
                        <a:t>Vehicle Response</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Current Status of the Project</a:t>
            </a:r>
          </a:p>
        </p:txBody>
      </p:sp>
      <p:sp>
        <p:nvSpPr>
          <p:cNvPr id="3" name="Content Placeholder 2"/>
          <p:cNvSpPr>
            <a:spLocks noGrp="1"/>
          </p:cNvSpPr>
          <p:nvPr>
            <p:ph idx="1"/>
          </p:nvPr>
        </p:nvSpPr>
        <p:spPr>
          <a:xfrm>
            <a:off x="457200" y="1600201"/>
            <a:ext cx="8229600" cy="2620818"/>
          </a:xfrm>
        </p:spPr>
        <p:txBody>
          <a:bodyPr/>
          <a:lstStyle/>
          <a:p>
            <a:r>
              <a:rPr lang="en-US" dirty="0">
                <a:latin typeface="Times New Roman" panose="02020603050405020304" pitchFamily="18" charset="0"/>
                <a:cs typeface="Times New Roman" panose="02020603050405020304" pitchFamily="18" charset="0"/>
              </a:rPr>
              <a:t>Research paper</a:t>
            </a:r>
            <a:r>
              <a:rPr dirty="0">
                <a:latin typeface="Times New Roman" panose="02020603050405020304" pitchFamily="18" charset="0"/>
                <a:cs typeface="Times New Roman" panose="02020603050405020304" pitchFamily="18" charset="0"/>
              </a:rPr>
              <a:t> review </a:t>
            </a:r>
            <a:r>
              <a:rPr lang="en-US" dirty="0">
                <a:latin typeface="Times New Roman" panose="02020603050405020304" pitchFamily="18" charset="0"/>
                <a:cs typeface="Times New Roman" panose="02020603050405020304" pitchFamily="18" charset="0"/>
              </a:rPr>
              <a:t>in progress</a:t>
            </a:r>
            <a:endParaRPr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Technology identification and research</a:t>
            </a:r>
            <a:r>
              <a:rPr dirty="0">
                <a:latin typeface="Times New Roman" panose="02020603050405020304" pitchFamily="18" charset="0"/>
                <a:cs typeface="Times New Roman" panose="02020603050405020304" pitchFamily="18" charset="0"/>
              </a:rPr>
              <a:t> in progress</a:t>
            </a:r>
            <a:endParaRPr lang="en-US"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Preparing prerequisites for Model Training</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Estimated </a:t>
            </a:r>
            <a:r>
              <a:rPr dirty="0">
                <a:latin typeface="Times New Roman" panose="02020603050405020304" pitchFamily="18" charset="0"/>
                <a:cs typeface="Times New Roman" panose="02020603050405020304" pitchFamily="18" charset="0"/>
              </a:rPr>
              <a:t>Low-cost</a:t>
            </a:r>
            <a:r>
              <a:rPr lang="en-US" dirty="0">
                <a:latin typeface="Times New Roman" panose="02020603050405020304" pitchFamily="18" charset="0"/>
                <a:cs typeface="Times New Roman" panose="02020603050405020304" pitchFamily="18" charset="0"/>
              </a:rPr>
              <a:t> of Prototype AVs</a:t>
            </a:r>
            <a:r>
              <a:rPr dirty="0">
                <a:latin typeface="Times New Roman" panose="02020603050405020304" pitchFamily="18" charset="0"/>
                <a:cs typeface="Times New Roman" panose="02020603050405020304" pitchFamily="18" charset="0"/>
              </a:rPr>
              <a:t>, real-time pothole detection system</a:t>
            </a:r>
          </a:p>
          <a:p>
            <a:r>
              <a:rPr dirty="0">
                <a:latin typeface="Times New Roman" panose="02020603050405020304" pitchFamily="18" charset="0"/>
                <a:cs typeface="Times New Roman" panose="02020603050405020304" pitchFamily="18" charset="0"/>
              </a:rPr>
              <a:t>Combines vision, depth, mesh &amp; AV logic</a:t>
            </a:r>
          </a:p>
          <a:p>
            <a:r>
              <a:rPr lang="en-US" dirty="0">
                <a:latin typeface="Times New Roman" panose="02020603050405020304" pitchFamily="18" charset="0"/>
                <a:cs typeface="Times New Roman" panose="02020603050405020304" pitchFamily="18" charset="0"/>
              </a:rPr>
              <a:t>Assumed to be o</a:t>
            </a:r>
            <a:r>
              <a:rPr dirty="0">
                <a:latin typeface="Times New Roman" panose="02020603050405020304" pitchFamily="18" charset="0"/>
                <a:cs typeface="Times New Roman" panose="02020603050405020304" pitchFamily="18" charset="0"/>
              </a:rPr>
              <a:t>ptimized for real-world road safety in India</a:t>
            </a:r>
          </a:p>
          <a:p>
            <a:r>
              <a:rPr dirty="0">
                <a:latin typeface="Times New Roman" panose="02020603050405020304" pitchFamily="18" charset="0"/>
                <a:cs typeface="Times New Roman" panose="02020603050405020304" pitchFamily="18" charset="0"/>
              </a:rPr>
              <a:t>Strong potential for AV deployment</a:t>
            </a:r>
            <a:r>
              <a:rPr lang="en-US" dirty="0">
                <a:latin typeface="Times New Roman" panose="02020603050405020304" pitchFamily="18" charset="0"/>
                <a:cs typeface="Times New Roman" panose="02020603050405020304" pitchFamily="18" charset="0"/>
              </a:rPr>
              <a:t> in India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240" y="1588887"/>
            <a:ext cx="8848817" cy="2832192"/>
          </a:xfrm>
        </p:spPr>
        <p:txBody>
          <a:bodyPr>
            <a:normAutofit/>
          </a:bodyPr>
          <a:lstStyle/>
          <a:p>
            <a:r>
              <a:rPr sz="8800" dirty="0">
                <a:latin typeface="Times New Roman" panose="02020603050405020304" pitchFamily="18" charset="0"/>
                <a:cs typeface="Times New Roman" panose="02020603050405020304" pitchFamily="18" charset="0"/>
              </a:rPr>
              <a:t>Thank 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TM04033929[[fn=Slate]]</Template>
  <TotalTime>146</TotalTime>
  <Words>314</Words>
  <Application>Microsoft Office PowerPoint</Application>
  <PresentationFormat>On-screen Show (4:3)</PresentationFormat>
  <Paragraphs>48</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Calisto MT</vt:lpstr>
      <vt:lpstr>Times New Roman</vt:lpstr>
      <vt:lpstr>Wingdings 2</vt:lpstr>
      <vt:lpstr>Slate</vt:lpstr>
      <vt:lpstr>Wireframe-Based Pothole Detection and Avoidance System</vt:lpstr>
      <vt:lpstr>Problem Statement</vt:lpstr>
      <vt:lpstr>Something you can expect only to happen in India</vt:lpstr>
      <vt:lpstr>Existing Work in Pothole Detection</vt:lpstr>
      <vt:lpstr>Project Innovations</vt:lpstr>
      <vt:lpstr>PowerPoint Presentation</vt:lpstr>
      <vt:lpstr>PowerPoint Presentation</vt:lpstr>
      <vt:lpstr>PowerPoint Presentation</vt:lpstr>
      <vt:lpstr>Current Status of the Project</vt:lpstr>
      <vt:lpstr>Conclusion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Sirajuddeen Mohamed</cp:lastModifiedBy>
  <cp:revision>5</cp:revision>
  <dcterms:created xsi:type="dcterms:W3CDTF">2013-01-27T09:14:16Z</dcterms:created>
  <dcterms:modified xsi:type="dcterms:W3CDTF">2025-07-20T18:57:42Z</dcterms:modified>
  <cp:category/>
</cp:coreProperties>
</file>