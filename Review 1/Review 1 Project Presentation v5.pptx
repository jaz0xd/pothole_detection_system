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82" r:id="rId13"/>
    <p:sldId id="283" r:id="rId14"/>
    <p:sldId id="276" r:id="rId15"/>
    <p:sldId id="284" r:id="rId16"/>
    <p:sldId id="285" r:id="rId17"/>
    <p:sldId id="272" r:id="rId18"/>
    <p:sldId id="273" r:id="rId19"/>
    <p:sldId id="277" r:id="rId20"/>
    <p:sldId id="278" r:id="rId21"/>
    <p:sldId id="279" r:id="rId22"/>
    <p:sldId id="280" r:id="rId23"/>
    <p:sldId id="281" r:id="rId24"/>
    <p:sldId id="265" r:id="rId25"/>
    <p:sldId id="274" r:id="rId26"/>
    <p:sldId id="275" r:id="rId27"/>
    <p:sldId id="266" r:id="rId28"/>
  </p:sldIdLst>
  <p:sldSz cx="18288000" cy="10287000"/>
  <p:notesSz cx="6858000" cy="9144000"/>
  <p:embeddedFontLst>
    <p:embeddedFont>
      <p:font typeface="RQND Pro UltraWide" panose="020B0604020202020204" charset="0"/>
      <p:regular r:id="rId29"/>
    </p:embeddedFont>
    <p:embeddedFont>
      <p:font typeface="Telegraf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6" d="100"/>
          <a:sy n="76" d="100"/>
        </p:scale>
        <p:origin x="45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1.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948845"/>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5152076"/>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30841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466304"/>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231975"/>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811791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21506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11155306" y="513097"/>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98924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505773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0058401" y="30863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602348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408671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312095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190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26391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39322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2771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9003419"/>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8159756"/>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14596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8909076"/>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18</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793805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17</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6972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21842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125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23866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712844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
        <p:nvSpPr>
          <p:cNvPr id="4" name="Freeform 33">
            <a:extLst>
              <a:ext uri="{FF2B5EF4-FFF2-40B4-BE49-F238E27FC236}">
                <a16:creationId xmlns:a16="http://schemas.microsoft.com/office/drawing/2014/main" id="{47C302A1-1D60-4A29-D2FA-87BF06952467}"/>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359E7EC0-7700-CDA0-3BB0-D83C313DC19D}"/>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4" name="Freeform 33">
            <a:extLst>
              <a:ext uri="{FF2B5EF4-FFF2-40B4-BE49-F238E27FC236}">
                <a16:creationId xmlns:a16="http://schemas.microsoft.com/office/drawing/2014/main" id="{E98E0DE1-3219-59D4-96BE-47E7B8EE8B7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DEE1AF1A-9EDB-4426-84BC-CBBC776D37CE}"/>
              </a:ext>
            </a:extLst>
          </p:cNvPr>
          <p:cNvSpPr txBox="1"/>
          <p:nvPr/>
        </p:nvSpPr>
        <p:spPr>
          <a:xfrm>
            <a:off x="11155306" y="4304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8" name="Freeform 33">
            <a:extLst>
              <a:ext uri="{FF2B5EF4-FFF2-40B4-BE49-F238E27FC236}">
                <a16:creationId xmlns:a16="http://schemas.microsoft.com/office/drawing/2014/main" id="{844B149D-57F3-E8F6-3493-E80AB9D1AE69}"/>
              </a:ext>
            </a:extLst>
          </p:cNvPr>
          <p:cNvSpPr/>
          <p:nvPr/>
        </p:nvSpPr>
        <p:spPr>
          <a:xfrm>
            <a:off x="10058400" y="5092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2E2C85CD-455C-2BD6-0C8D-56D8D5469DE2}"/>
              </a:ext>
            </a:extLst>
          </p:cNvPr>
          <p:cNvSpPr txBox="1"/>
          <p:nvPr/>
        </p:nvSpPr>
        <p:spPr>
          <a:xfrm>
            <a:off x="11155306" y="52948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 ARCHITECTURE</a:t>
            </a:r>
          </a:p>
        </p:txBody>
      </p:sp>
      <p:sp>
        <p:nvSpPr>
          <p:cNvPr id="20" name="Freeform 33">
            <a:extLst>
              <a:ext uri="{FF2B5EF4-FFF2-40B4-BE49-F238E27FC236}">
                <a16:creationId xmlns:a16="http://schemas.microsoft.com/office/drawing/2014/main" id="{ECBF4FB0-8EA6-24C4-FA74-A156C4BA2993}"/>
              </a:ext>
            </a:extLst>
          </p:cNvPr>
          <p:cNvSpPr/>
          <p:nvPr/>
        </p:nvSpPr>
        <p:spPr>
          <a:xfrm>
            <a:off x="10058400" y="6057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ACCC97D3-834A-02F8-F53B-E593237E3141}"/>
              </a:ext>
            </a:extLst>
          </p:cNvPr>
          <p:cNvSpPr txBox="1"/>
          <p:nvPr/>
        </p:nvSpPr>
        <p:spPr>
          <a:xfrm>
            <a:off x="11155306" y="6260291"/>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SYSTEM REQUIREMENT</a:t>
            </a:r>
          </a:p>
        </p:txBody>
      </p:sp>
      <p:sp>
        <p:nvSpPr>
          <p:cNvPr id="22" name="TextBox 21">
            <a:extLst>
              <a:ext uri="{FF2B5EF4-FFF2-40B4-BE49-F238E27FC236}">
                <a16:creationId xmlns:a16="http://schemas.microsoft.com/office/drawing/2014/main" id="{8D7AFBD6-B8F1-05C3-3D13-0D8C2A9889C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
        <p:nvSpPr>
          <p:cNvPr id="3" name="TextBox 2">
            <a:extLst>
              <a:ext uri="{FF2B5EF4-FFF2-40B4-BE49-F238E27FC236}">
                <a16:creationId xmlns:a16="http://schemas.microsoft.com/office/drawing/2014/main" id="{140585FA-7258-00E9-9229-71D3DF8CDE8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
        <p:nvSpPr>
          <p:cNvPr id="6" name="TextBox 5">
            <a:extLst>
              <a:ext uri="{FF2B5EF4-FFF2-40B4-BE49-F238E27FC236}">
                <a16:creationId xmlns:a16="http://schemas.microsoft.com/office/drawing/2014/main" id="{84F1D092-A351-8101-36F5-94515A29DFC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CB423A6-982B-8031-3624-31837A8FF1B9}"/>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
        <p:nvSpPr>
          <p:cNvPr id="3" name="TextBox 2">
            <a:extLst>
              <a:ext uri="{FF2B5EF4-FFF2-40B4-BE49-F238E27FC236}">
                <a16:creationId xmlns:a16="http://schemas.microsoft.com/office/drawing/2014/main" id="{851B2CDA-F0D5-859B-1277-B56BBC8DD9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209800" y="1714500"/>
            <a:ext cx="13792200" cy="7227941"/>
          </a:xfrm>
          <a:prstGeom prst="rect">
            <a:avLst/>
          </a:prstGeom>
        </p:spPr>
        <p:txBody>
          <a:bodyPr wrap="square" lIns="0" tIns="0" rIns="0" bIns="0" rtlCol="0" anchor="t">
            <a:spAutoFit/>
          </a:bodyPr>
          <a:lstStyle/>
          <a:p>
            <a:pPr algn="just">
              <a:lnSpc>
                <a:spcPct val="250000"/>
              </a:lnSpc>
            </a:pPr>
            <a:r>
              <a:rPr lang="en-US" sz="2400" dirty="0">
                <a:solidFill>
                  <a:schemeClr val="bg1"/>
                </a:solidFill>
                <a:latin typeface="Times New Roman" panose="02020603050405020304" pitchFamily="18" charset="0"/>
                <a:cs typeface="Times New Roman" panose="02020603050405020304" pitchFamily="18" charset="0"/>
              </a:rPr>
              <a:t>Although the existing vision–LiDAR integrated pothole detection system demonstrates high accuracy and automation, its practical deployment remains limited due to several constraints. The high cost of LiDAR sensors, the reduced accuracy in wet or reflective conditions, and the requirement for precise sensor calibration and synchronization make the system less feasible for large-scale or real-time use on low-cost platforms. Additionally, the computational demands of fusing LiDAR and deep learning data restrict deployment on resource-constrained embedded devices. Therefore, there is a critical need for a cost-effective, lightweight, and robust pothole detection system capable of maintaining high accuracy using vision-only or minimal-sensor approaches, adaptable to real-world environmental and hardware limitations.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6124754"/>
          </a:xfrm>
          <a:prstGeom prst="rect">
            <a:avLst/>
          </a:prstGeom>
          <a:noFill/>
        </p:spPr>
        <p:txBody>
          <a:bodyPr wrap="square" rtlCol="0">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A </a:t>
            </a:r>
            <a:r>
              <a:rPr lang="en-US" sz="2800" b="1" dirty="0">
                <a:solidFill>
                  <a:schemeClr val="bg1"/>
                </a:solidFill>
                <a:latin typeface="Times New Roman" panose="02020603050405020304" pitchFamily="18" charset="0"/>
                <a:cs typeface="Times New Roman" panose="02020603050405020304" pitchFamily="18" charset="0"/>
              </a:rPr>
              <a:t>vision-only, low-cost real-time perception pipeline</a:t>
            </a:r>
            <a:r>
              <a:rPr lang="en-US" sz="2800" dirty="0">
                <a:solidFill>
                  <a:schemeClr val="bg1"/>
                </a:solidFill>
                <a:latin typeface="Times New Roman" panose="02020603050405020304" pitchFamily="18" charset="0"/>
                <a:cs typeface="Times New Roman" panose="02020603050405020304" pitchFamily="18" charset="0"/>
              </a:rPr>
              <a:t> that generates a </a:t>
            </a:r>
            <a:r>
              <a:rPr lang="en-US" sz="2800" b="1" dirty="0">
                <a:solidFill>
                  <a:schemeClr val="bg1"/>
                </a:solidFill>
                <a:latin typeface="Times New Roman" panose="02020603050405020304" pitchFamily="18" charset="0"/>
                <a:cs typeface="Times New Roman" panose="02020603050405020304" pitchFamily="18" charset="0"/>
              </a:rPr>
              <a:t>3D wireframe/mesh</a:t>
            </a:r>
            <a:r>
              <a:rPr lang="en-US" sz="2800" dirty="0">
                <a:solidFill>
                  <a:schemeClr val="bg1"/>
                </a:solidFill>
                <a:latin typeface="Times New Roman" panose="02020603050405020304" pitchFamily="18" charset="0"/>
                <a:cs typeface="Times New Roman" panose="02020603050405020304" pitchFamily="18" charset="0"/>
              </a:rPr>
              <a:t> of the road surface using a single forward-facing </a:t>
            </a:r>
            <a:r>
              <a:rPr lang="en-US" sz="2800" b="1" dirty="0">
                <a:solidFill>
                  <a:schemeClr val="bg1"/>
                </a:solidFill>
                <a:latin typeface="Times New Roman" panose="02020603050405020304" pitchFamily="18" charset="0"/>
                <a:cs typeface="Times New Roman" panose="02020603050405020304" pitchFamily="18" charset="0"/>
              </a:rPr>
              <a:t>monocular RGB camera</a:t>
            </a:r>
            <a:r>
              <a:rPr lang="en-US" sz="2800" dirty="0">
                <a:solidFill>
                  <a:schemeClr val="bg1"/>
                </a:solidFill>
                <a:latin typeface="Times New Roman" panose="02020603050405020304" pitchFamily="18" charset="0"/>
                <a:cs typeface="Times New Roman" panose="02020603050405020304" pitchFamily="18" charset="0"/>
              </a:rPr>
              <a:t>. The system detects and measures potholes and road anomalies using depth-aware reconstruction.</a:t>
            </a:r>
          </a:p>
          <a:p>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YOLOv8-Seg / YOLOv8n-Seg for real-time surface anomaly detection with pixel-level segmentation.</a:t>
            </a:r>
          </a:p>
          <a:p>
            <a:pPr marL="285750" indent="-285750">
              <a:buFont typeface="Arial" panose="020B0604020202020204" pitchFamily="34" charset="0"/>
              <a:buChar char="•"/>
            </a:pP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monocular depth prediction to convert 2D detections into metric 3D structures.</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Mesh generation using Open3D to create a wireframe representation of the road surface.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Geometry extraction module to compute pothole depth, area, perimeter, and volume.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Decision engine to trigger alerts or safe responses (slow-down, micro-avoidance, logging).</a:t>
            </a:r>
          </a:p>
          <a:p>
            <a:pPr marL="285750" indent="-285750">
              <a:buFont typeface="Arial" panose="020B0604020202020204" pitchFamily="34" charset="0"/>
              <a:buChar char="•"/>
            </a:pP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Provides a cost-effective, real-time, sensor-efficient alternative to LiDAR-based systems with strong deployment potential for AVs and road-mapping applications.</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80146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562100" y="2781300"/>
            <a:ext cx="11672237" cy="5565947"/>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Started deep-dive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Working on refining the design for the proposed system architecture.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upcoming implementation.</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25</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6634958"/>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strong foundation for a real-time wireframe-based pothole detection system by analyzing existing solutions, identifying key limitations, and defining a clear problem statement. Through an extensive literature survey, it highlighted advances in vision-based detection, depth estimation, and 3D reconstruction. The proposed solution, system workflow, and architecture outline a cost-effective, monocular camera pipeline using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and Open3D for accurate anomaly detection and geometry analysis. The defined hardware and software requirements provide a complete blueprint for implementation, enabling a structured and scalable path toward developing the final system.</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26</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27</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1320</TotalTime>
  <Words>3203</Words>
  <Application>Microsoft Office PowerPoint</Application>
  <PresentationFormat>Custom</PresentationFormat>
  <Paragraphs>346</Paragraphs>
  <Slides>27</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Times New Roman</vt:lpstr>
      <vt:lpstr>RQND Pro UltraWide</vt:lpstr>
      <vt:lpstr>Telegraf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45</cp:revision>
  <dcterms:created xsi:type="dcterms:W3CDTF">2006-08-16T00:00:00Z</dcterms:created>
  <dcterms:modified xsi:type="dcterms:W3CDTF">2025-11-19T04:03:23Z</dcterms:modified>
  <dc:identifier>DAG1RaZYIuE</dc:identifier>
</cp:coreProperties>
</file>