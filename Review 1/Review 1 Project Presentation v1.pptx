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64" r:id="rId13"/>
    <p:sldId id="270" r:id="rId14"/>
    <p:sldId id="271" r:id="rId15"/>
    <p:sldId id="272" r:id="rId16"/>
    <p:sldId id="273" r:id="rId17"/>
    <p:sldId id="277" r:id="rId18"/>
    <p:sldId id="278" r:id="rId19"/>
    <p:sldId id="279" r:id="rId20"/>
    <p:sldId id="280" r:id="rId21"/>
    <p:sldId id="265" r:id="rId22"/>
    <p:sldId id="274" r:id="rId23"/>
    <p:sldId id="275" r:id="rId24"/>
    <p:sldId id="266" r:id="rId25"/>
  </p:sldIdLst>
  <p:sldSz cx="18288000" cy="10287000"/>
  <p:notesSz cx="6858000" cy="9144000"/>
  <p:embeddedFontLst>
    <p:embeddedFont>
      <p:font typeface="RQND Pro UltraWide"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3955" autoAdjust="0"/>
  </p:normalViewPr>
  <p:slideViewPr>
    <p:cSldViewPr>
      <p:cViewPr varScale="1">
        <p:scale>
          <a:sx n="76" d="100"/>
          <a:sy n="76" d="100"/>
        </p:scale>
        <p:origin x="47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0.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948845"/>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5152076"/>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30841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466304"/>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231975"/>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811791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21506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9126571"/>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98924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505773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92210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602348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408671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312095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190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26391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39322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2771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14596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2184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125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23866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4304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5092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5294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6057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62602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04900"/>
            <a:ext cx="13411200" cy="9182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372600" y="2014121"/>
            <a:ext cx="82296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b="1" dirty="0">
                <a:solidFill>
                  <a:schemeClr val="bg1"/>
                </a:solidFill>
                <a:latin typeface="Times New Roman" panose="02020603050405020304" pitchFamily="18" charset="0"/>
                <a:cs typeface="Times New Roman" panose="02020603050405020304" pitchFamily="18" charset="0"/>
              </a:rPr>
              <a:t>AI- and vision-based detection systems</a:t>
            </a:r>
            <a:r>
              <a:rPr lang="en-US"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created the </a:t>
            </a:r>
            <a:r>
              <a:rPr lang="en-US" dirty="0" err="1">
                <a:solidFill>
                  <a:schemeClr val="bg1"/>
                </a:solidFill>
                <a:latin typeface="Times New Roman" panose="02020603050405020304" pitchFamily="18" charset="0"/>
                <a:cs typeface="Times New Roman" panose="02020603050405020304" pitchFamily="18" charset="0"/>
              </a:rPr>
              <a:t>PothRGBD</a:t>
            </a:r>
            <a:r>
              <a:rPr lang="en-US"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dirty="0" err="1">
                <a:solidFill>
                  <a:schemeClr val="bg1"/>
                </a:solidFill>
                <a:latin typeface="Times New Roman" panose="02020603050405020304" pitchFamily="18" charset="0"/>
                <a:cs typeface="Times New Roman" panose="02020603050405020304" pitchFamily="18" charset="0"/>
              </a:rPr>
              <a:t>DSConv</a:t>
            </a:r>
            <a:r>
              <a:rPr lang="en-US"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a:t>
            </a:r>
            <a:r>
              <a:rPr lang="en-US" dirty="0" err="1">
                <a:solidFill>
                  <a:schemeClr val="bg1"/>
                </a:solidFill>
                <a:latin typeface="Times New Roman" panose="02020603050405020304" pitchFamily="18" charset="0"/>
                <a:cs typeface="Times New Roman" panose="02020603050405020304" pitchFamily="18" charset="0"/>
              </a:rPr>
              <a:t>potholedetection</a:t>
            </a:r>
            <a:r>
              <a:rPr lang="en-US" dirty="0">
                <a:solidFill>
                  <a:schemeClr val="bg1"/>
                </a:solidFill>
                <a:latin typeface="Times New Roman" panose="02020603050405020304" pitchFamily="18" charset="0"/>
                <a:cs typeface="Times New Roman" panose="02020603050405020304" pitchFamily="18" charset="0"/>
              </a:rPr>
              <a:t> project to get precise segmentation masks and direct depth/perimeter estimates.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 – </a:t>
            </a:r>
            <a:r>
              <a:rPr lang="en-US" sz="2450" b="1" spc="300" dirty="0">
                <a:solidFill>
                  <a:srgbClr val="DEF0FF"/>
                </a:solidFill>
                <a:latin typeface="RQND Pro UltraWide"/>
                <a:ea typeface="RQND Pro UltraWide"/>
                <a:cs typeface="RQND Pro UltraWide"/>
                <a:sym typeface="RQND Pro UltraWide"/>
              </a:rPr>
              <a:t>BASE PAPER</a:t>
            </a:r>
          </a:p>
        </p:txBody>
      </p:sp>
      <p:sp>
        <p:nvSpPr>
          <p:cNvPr id="39" name="TextBox 15">
            <a:extLst>
              <a:ext uri="{FF2B5EF4-FFF2-40B4-BE49-F238E27FC236}">
                <a16:creationId xmlns:a16="http://schemas.microsoft.com/office/drawing/2014/main" id="{C1947604-F3E2-B3E8-C2C5-B8E751646106}"/>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sp>
        <p:nvSpPr>
          <p:cNvPr id="40" name="TextBox 18">
            <a:extLst>
              <a:ext uri="{FF2B5EF4-FFF2-40B4-BE49-F238E27FC236}">
                <a16:creationId xmlns:a16="http://schemas.microsoft.com/office/drawing/2014/main" id="{3C53289E-D904-C14F-6967-F93BD5D3C011}"/>
              </a:ext>
            </a:extLst>
          </p:cNvPr>
          <p:cNvSpPr txBox="1"/>
          <p:nvPr/>
        </p:nvSpPr>
        <p:spPr>
          <a:xfrm>
            <a:off x="609600" y="2019300"/>
            <a:ext cx="8229600" cy="6647974"/>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Deep Learning Enhanced Feature Extraction of Potholes Using Vision and LiDAR Data for Road Maintenance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Road infrastructure is vital for mobility, and potholes significantly impact safety, comfort, and transport efficiency, causing accidents and vehicle damage. Pothole detection methods include vibration-based, vision-based, and depth-based approaches, each with unique advantages and limitations. Vision and LiDAR systems, often combined with deep learning models like YOLO and Mask R-CNN, enable accurate detection, 3D reconstruction, and geo-positioning for maintenance planning. Automated inspection using cameras, LiDAR, and GNSS improves efficiency, reduces costs, and allows precise volume and area estimation. Our system integrates a calibrated camera-LiDAR setup on a fixed mount for consistent, adaptable road inspections.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paper describes how the automatic pothole inspection methods provide an effective approach for monitoring the health of road networks in real time while minimizing labor requirements. They proposed a system, combining the YOLOv5 object detection architecture with LiDAR data. They fused the 2D and 3D data with geo-positioning information enabling a comprehensive analysis and visualization of road defects. I could conclude from this paper that while the integration of vision and LiDAR data improves detection accuracy and reconstruction, limitations such as sensitivity to lighting conditions, sensor noise, and real-time processing constraints remain. </a:t>
            </a:r>
          </a:p>
          <a:p>
            <a:pPr algn="just"/>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609601" y="2014121"/>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b="1" dirty="0">
                <a:solidFill>
                  <a:schemeClr val="bg1"/>
                </a:solidFill>
                <a:latin typeface="Times New Roman" panose="02020603050405020304" pitchFamily="18" charset="0"/>
                <a:cs typeface="Times New Roman" panose="02020603050405020304" pitchFamily="18" charset="0"/>
              </a:rPr>
              <a:t>robust vision-based framework</a:t>
            </a:r>
            <a:r>
              <a:rPr lang="en-US" dirty="0">
                <a:solidFill>
                  <a:schemeClr val="bg1"/>
                </a:solidFill>
                <a:latin typeface="Times New Roman" panose="02020603050405020304" pitchFamily="18" charset="0"/>
                <a:cs typeface="Times New Roman" panose="02020603050405020304" pitchFamily="18" charset="0"/>
              </a:rPr>
              <a:t> is proposed using </a:t>
            </a:r>
            <a:r>
              <a:rPr lang="en-US" b="1" dirty="0">
                <a:solidFill>
                  <a:schemeClr val="bg1"/>
                </a:solidFill>
                <a:latin typeface="Times New Roman" panose="02020603050405020304" pitchFamily="18" charset="0"/>
                <a:cs typeface="Times New Roman" panose="02020603050405020304" pitchFamily="18" charset="0"/>
              </a:rPr>
              <a:t>ACSH-YOLOv8</a:t>
            </a:r>
            <a:r>
              <a:rPr lang="en-US" dirty="0">
                <a:solidFill>
                  <a:schemeClr val="bg1"/>
                </a:solidFill>
                <a:latin typeface="Times New Roman" panose="02020603050405020304" pitchFamily="18" charset="0"/>
                <a:cs typeface="Times New Roman" panose="02020603050405020304" pitchFamily="18" charset="0"/>
              </a:rPr>
              <a:t> for detection, </a:t>
            </a:r>
            <a:r>
              <a:rPr lang="en-US" b="1" dirty="0" err="1">
                <a:solidFill>
                  <a:schemeClr val="bg1"/>
                </a:solidFill>
                <a:latin typeface="Times New Roman" panose="02020603050405020304" pitchFamily="18" charset="0"/>
                <a:cs typeface="Times New Roman" panose="02020603050405020304" pitchFamily="18" charset="0"/>
              </a:rPr>
              <a:t>DepthAnything</a:t>
            </a:r>
            <a:r>
              <a:rPr lang="en-US" b="1" dirty="0">
                <a:solidFill>
                  <a:schemeClr val="bg1"/>
                </a:solidFill>
                <a:latin typeface="Times New Roman" panose="02020603050405020304" pitchFamily="18" charset="0"/>
                <a:cs typeface="Times New Roman" panose="02020603050405020304" pitchFamily="18" charset="0"/>
              </a:rPr>
              <a:t> V2</a:t>
            </a:r>
            <a:r>
              <a:rPr lang="en-US" dirty="0">
                <a:solidFill>
                  <a:schemeClr val="bg1"/>
                </a:solidFill>
                <a:latin typeface="Times New Roman" panose="02020603050405020304" pitchFamily="18" charset="0"/>
                <a:cs typeface="Times New Roman" panose="02020603050405020304" pitchFamily="18" charset="0"/>
              </a:rPr>
              <a:t> for depth estimation, and a </a:t>
            </a:r>
            <a:r>
              <a:rPr lang="en-US"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dirty="0">
                <a:solidFill>
                  <a:schemeClr val="bg1"/>
                </a:solidFill>
                <a:latin typeface="Times New Roman" panose="02020603050405020304" pitchFamily="18" charset="0"/>
                <a:cs typeface="Times New Roman" panose="02020603050405020304" pitchFamily="18" charset="0"/>
              </a:rPr>
              <a:t> method for accurate area measurement. A </a:t>
            </a:r>
            <a:r>
              <a:rPr lang="en-US" b="1" dirty="0">
                <a:solidFill>
                  <a:schemeClr val="bg1"/>
                </a:solidFill>
                <a:latin typeface="Times New Roman" panose="02020603050405020304" pitchFamily="18" charset="0"/>
                <a:cs typeface="Times New Roman" panose="02020603050405020304" pitchFamily="18" charset="0"/>
              </a:rPr>
              <a:t>CDKF-based Kalman Filter</a:t>
            </a:r>
            <a:r>
              <a:rPr lang="en-US"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3" name="TextBox 18">
            <a:extLst>
              <a:ext uri="{FF2B5EF4-FFF2-40B4-BE49-F238E27FC236}">
                <a16:creationId xmlns:a16="http://schemas.microsoft.com/office/drawing/2014/main" id="{28F9B563-D241-0028-8611-82952A615981}"/>
              </a:ext>
            </a:extLst>
          </p:cNvPr>
          <p:cNvSpPr txBox="1"/>
          <p:nvPr/>
        </p:nvSpPr>
        <p:spPr>
          <a:xfrm>
            <a:off x="9372600" y="2019300"/>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dirty="0" err="1">
                <a:solidFill>
                  <a:schemeClr val="bg1"/>
                </a:solidFill>
                <a:latin typeface="Times New Roman" panose="02020603050405020304" pitchFamily="18" charset="0"/>
                <a:cs typeface="Times New Roman" panose="02020603050405020304" pitchFamily="18" charset="0"/>
              </a:rPr>
              <a:t>KinectFusion</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BundleFusion</a:t>
            </a:r>
            <a:r>
              <a:rPr lang="en-US" dirty="0">
                <a:solidFill>
                  <a:schemeClr val="bg1"/>
                </a:solidFill>
                <a:latin typeface="Times New Roman" panose="02020603050405020304" pitchFamily="18" charset="0"/>
                <a:cs typeface="Times New Roman" panose="02020603050405020304" pitchFamily="18" charset="0"/>
              </a:rPr>
              <a:t> depend on RGB-D cameras and high computational power, making them unsuitable for mid-range mobile devices. To address this, the </a:t>
            </a:r>
            <a:r>
              <a:rPr lang="en-US" b="1" dirty="0">
                <a:solidFill>
                  <a:schemeClr val="bg1"/>
                </a:solidFill>
                <a:latin typeface="Times New Roman" panose="02020603050405020304" pitchFamily="18" charset="0"/>
                <a:cs typeface="Times New Roman" panose="02020603050405020304" pitchFamily="18" charset="0"/>
              </a:rPr>
              <a:t>Mobile3DRecon</a:t>
            </a:r>
            <a:r>
              <a:rPr lang="en-US" dirty="0">
                <a:solidFill>
                  <a:schemeClr val="bg1"/>
                </a:solidFill>
                <a:latin typeface="Times New Roman" panose="02020603050405020304" pitchFamily="18" charset="0"/>
                <a:cs typeface="Times New Roman" panose="02020603050405020304" pitchFamily="18" charset="0"/>
              </a:rPr>
              <a:t> system enables </a:t>
            </a:r>
            <a:r>
              <a:rPr lang="en-US"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dirty="0">
                <a:solidFill>
                  <a:schemeClr val="bg1"/>
                </a:solidFill>
                <a:latin typeface="Times New Roman" panose="02020603050405020304" pitchFamily="18" charset="0"/>
                <a:cs typeface="Times New Roman" panose="02020603050405020304" pitchFamily="18" charset="0"/>
              </a:rPr>
              <a:t> using only a </a:t>
            </a:r>
            <a:r>
              <a:rPr lang="en-US" b="1" dirty="0">
                <a:solidFill>
                  <a:schemeClr val="bg1"/>
                </a:solidFill>
                <a:latin typeface="Times New Roman" panose="02020603050405020304" pitchFamily="18" charset="0"/>
                <a:cs typeface="Times New Roman" panose="02020603050405020304" pitchFamily="18" charset="0"/>
              </a:rPr>
              <a:t>monocular camera</a:t>
            </a:r>
            <a:r>
              <a:rPr lang="en-US" dirty="0">
                <a:solidFill>
                  <a:schemeClr val="bg1"/>
                </a:solidFill>
                <a:latin typeface="Times New Roman" panose="02020603050405020304" pitchFamily="18" charset="0"/>
                <a:cs typeface="Times New Roman" panose="02020603050405020304" pitchFamily="18" charset="0"/>
              </a:rPr>
              <a:t>, without extra sensors. It introduces </a:t>
            </a:r>
            <a:r>
              <a:rPr lang="en-US" b="1" dirty="0">
                <a:solidFill>
                  <a:schemeClr val="bg1"/>
                </a:solidFill>
                <a:latin typeface="Times New Roman" panose="02020603050405020304" pitchFamily="18" charset="0"/>
                <a:cs typeface="Times New Roman" panose="02020603050405020304" pitchFamily="18" charset="0"/>
              </a:rPr>
              <a:t>multi-view depth estimation</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incremental mesh generation</a:t>
            </a:r>
            <a:r>
              <a:rPr lang="en-US"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presented a mobile system capable of generating dense, </a:t>
            </a:r>
            <a:r>
              <a:rPr lang="en-US" dirty="0" err="1">
                <a:solidFill>
                  <a:schemeClr val="bg1"/>
                </a:solidFill>
                <a:latin typeface="Times New Roman" panose="02020603050405020304" pitchFamily="18" charset="0"/>
                <a:cs typeface="Times New Roman" panose="02020603050405020304" pitchFamily="18" charset="0"/>
              </a:rPr>
              <a:t>realtime</a:t>
            </a:r>
            <a:r>
              <a:rPr lang="en-US" dirty="0">
                <a:solidFill>
                  <a:schemeClr val="bg1"/>
                </a:solidFill>
                <a:latin typeface="Times New Roman" panose="02020603050405020304" pitchFamily="18" charset="0"/>
                <a:cs typeface="Times New Roman" panose="02020603050405020304" pitchFamily="18" charset="0"/>
              </a:rPr>
              <a:t> 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sp>
        <p:nvSpPr>
          <p:cNvPr id="5" name="TextBox 15">
            <a:extLst>
              <a:ext uri="{FF2B5EF4-FFF2-40B4-BE49-F238E27FC236}">
                <a16:creationId xmlns:a16="http://schemas.microsoft.com/office/drawing/2014/main" id="{63C9BAEE-25B7-F9D4-C253-A8BE82E73943}"/>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spTree>
    <p:extLst>
      <p:ext uri="{BB962C8B-B14F-4D97-AF65-F5344CB8AC3E}">
        <p14:creationId xmlns:p14="http://schemas.microsoft.com/office/powerpoint/2010/main" val="262317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8305800" cy="4985980"/>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b="1" dirty="0">
                <a:solidFill>
                  <a:schemeClr val="bg1"/>
                </a:solidFill>
                <a:latin typeface="Times New Roman" panose="02020603050405020304" pitchFamily="18" charset="0"/>
                <a:cs typeface="Times New Roman" panose="02020603050405020304" pitchFamily="18" charset="0"/>
              </a:rPr>
              <a:t>pothole detection</a:t>
            </a:r>
            <a:r>
              <a:rPr lang="en-US"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dirty="0">
                <a:solidFill>
                  <a:schemeClr val="bg1"/>
                </a:solidFill>
                <a:latin typeface="Times New Roman" panose="02020603050405020304" pitchFamily="18" charset="0"/>
                <a:cs typeface="Times New Roman" panose="02020603050405020304" pitchFamily="18" charset="0"/>
              </a:rPr>
              <a:t> using a </a:t>
            </a:r>
            <a:r>
              <a:rPr lang="en-US" b="1" dirty="0">
                <a:solidFill>
                  <a:schemeClr val="bg1"/>
                </a:solidFill>
                <a:latin typeface="Times New Roman" panose="02020603050405020304" pitchFamily="18" charset="0"/>
                <a:cs typeface="Times New Roman" panose="02020603050405020304" pitchFamily="18" charset="0"/>
              </a:rPr>
              <a:t>convolutional neural network (CNN)</a:t>
            </a:r>
            <a:r>
              <a:rPr lang="en-US" dirty="0">
                <a:solidFill>
                  <a:schemeClr val="bg1"/>
                </a:solidFill>
                <a:latin typeface="Times New Roman" panose="02020603050405020304" pitchFamily="18" charset="0"/>
                <a:cs typeface="Times New Roman" panose="02020603050405020304" pitchFamily="18" charset="0"/>
              </a:rPr>
              <a:t> for feature extraction and a </a:t>
            </a:r>
            <a:r>
              <a:rPr lang="en-US" b="1" dirty="0">
                <a:solidFill>
                  <a:schemeClr val="bg1"/>
                </a:solidFill>
                <a:latin typeface="Times New Roman" panose="02020603050405020304" pitchFamily="18" charset="0"/>
                <a:cs typeface="Times New Roman" panose="02020603050405020304" pitchFamily="18" charset="0"/>
              </a:rPr>
              <a:t>Random Forest classifier</a:t>
            </a:r>
            <a:r>
              <a:rPr lang="en-US" dirty="0">
                <a:solidFill>
                  <a:schemeClr val="bg1"/>
                </a:solidFill>
                <a:latin typeface="Times New Roman" panose="02020603050405020304" pitchFamily="18" charset="0"/>
                <a:cs typeface="Times New Roman" panose="02020603050405020304" pitchFamily="18" charset="0"/>
              </a:rPr>
              <a:t> optimized through </a:t>
            </a:r>
            <a:r>
              <a:rPr lang="en-US"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3" name="TextBox 18">
            <a:extLst>
              <a:ext uri="{FF2B5EF4-FFF2-40B4-BE49-F238E27FC236}">
                <a16:creationId xmlns:a16="http://schemas.microsoft.com/office/drawing/2014/main" id="{A3EA4A4E-74B0-A10B-0B65-A869BF2B52E8}"/>
              </a:ext>
            </a:extLst>
          </p:cNvPr>
          <p:cNvSpPr txBox="1"/>
          <p:nvPr/>
        </p:nvSpPr>
        <p:spPr>
          <a:xfrm>
            <a:off x="9372600" y="2019300"/>
            <a:ext cx="8305800" cy="5816977"/>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a:t>
            </a:r>
            <a:r>
              <a:rPr lang="en-US" dirty="0" err="1">
                <a:solidFill>
                  <a:schemeClr val="bg1"/>
                </a:solidFill>
                <a:latin typeface="Times New Roman" panose="02020603050405020304" pitchFamily="18" charset="0"/>
                <a:cs typeface="Times New Roman" panose="02020603050405020304" pitchFamily="18" charset="0"/>
              </a:rPr>
              <a:t>CPUbased</a:t>
            </a:r>
            <a:r>
              <a:rPr lang="en-US" dirty="0">
                <a:solidFill>
                  <a:schemeClr val="bg1"/>
                </a:solidFill>
                <a:latin typeface="Times New Roman" panose="02020603050405020304" pitchFamily="18" charset="0"/>
                <a:cs typeface="Times New Roman" panose="02020603050405020304" pitchFamily="18" charset="0"/>
              </a:rPr>
              <a:t> methods. I can conclude that their </a:t>
            </a:r>
            <a:r>
              <a:rPr lang="en-US" dirty="0" err="1">
                <a:solidFill>
                  <a:schemeClr val="bg1"/>
                </a:solidFill>
                <a:latin typeface="Times New Roman" panose="02020603050405020304" pitchFamily="18" charset="0"/>
                <a:cs typeface="Times New Roman" panose="02020603050405020304" pitchFamily="18" charset="0"/>
              </a:rPr>
              <a:t>GPUparallel</a:t>
            </a:r>
            <a:r>
              <a:rPr lang="en-US" dirty="0">
                <a:solidFill>
                  <a:schemeClr val="bg1"/>
                </a:solidFill>
                <a:latin typeface="Times New Roman" panose="02020603050405020304" pitchFamily="18" charset="0"/>
                <a:cs typeface="Times New Roman" panose="02020603050405020304" pitchFamily="18" charset="0"/>
              </a:rPr>
              <a:t> mesh approach, especially the MLS point cloud smoothing and mesh merging, gives insight into achieving fast, reliable surface modeling— knowledge that is valuable for enhancing the efficiency of mesh processing in pothole detection systems.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sp>
        <p:nvSpPr>
          <p:cNvPr id="5" name="TextBox 15">
            <a:extLst>
              <a:ext uri="{FF2B5EF4-FFF2-40B4-BE49-F238E27FC236}">
                <a16:creationId xmlns:a16="http://schemas.microsoft.com/office/drawing/2014/main" id="{D2F68B09-29CC-105B-A2AB-06F746EBDCBF}"/>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6</a:t>
            </a:r>
          </a:p>
        </p:txBody>
      </p:sp>
    </p:spTree>
    <p:extLst>
      <p:ext uri="{BB962C8B-B14F-4D97-AF65-F5344CB8AC3E}">
        <p14:creationId xmlns:p14="http://schemas.microsoft.com/office/powerpoint/2010/main" val="44376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Tree>
    <p:extLst>
      <p:ext uri="{BB962C8B-B14F-4D97-AF65-F5344CB8AC3E}">
        <p14:creationId xmlns:p14="http://schemas.microsoft.com/office/powerpoint/2010/main" val="2034256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Tree>
    <p:extLst>
      <p:ext uri="{BB962C8B-B14F-4D97-AF65-F5344CB8AC3E}">
        <p14:creationId xmlns:p14="http://schemas.microsoft.com/office/powerpoint/2010/main" val="698333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3733800"/>
          </a:xfrm>
          <a:prstGeom prst="rect">
            <a:avLst/>
          </a:prstGeom>
          <a:noFill/>
        </p:spPr>
        <p:txBody>
          <a:bodyPr wrap="square" rtlCol="0">
            <a:spAutoFit/>
          </a:bodyPr>
          <a:lstStyle/>
          <a:p>
            <a:pPr algn="just"/>
            <a:r>
              <a:rPr lang="en-US" dirty="0">
                <a:solidFill>
                  <a:schemeClr val="bg1"/>
                </a:solidFill>
                <a:latin typeface="Times New Roman" panose="02020603050405020304" pitchFamily="18" charset="0"/>
                <a:cs typeface="Times New Roman" panose="02020603050405020304" pitchFamily="18" charset="0"/>
              </a:rPr>
              <a:t>Vision-only, low-cost real-time pipeline that produces a 3D wireframe/mesh of the road surface from a single forward-facing monocular RGB camera and uses that wireframe to detect, measure (depth, area, volume) and classify surface anomalies (potholes, cracks, speed-bumps).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Combine a fast segmentation-capable detector (YOLOv8-seg/YOLOv8n-seg) for pixel-level pothole masks with a monocular depth estimator (</a:t>
            </a: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or other SOTA monocular depth network) to lift 2D masks into metric 3D.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Convert depth + mask into a local point-cloud, clean with temporal smoothing and filtering, then generate a mesh/wireframe (Open3D) and extract geometry (max depth, mean depth, perimeter, area, volume).</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Run a lightweight decision engine that fuses geometry + ego-kinematics (speed, steering) to propose immediate actions (slow down, steering nudge, lane change request) and log events with GNSS timestamps for backend mapping/maintenance.</a:t>
            </a:r>
          </a:p>
          <a:p>
            <a:endParaRPr lang="en-US" dirty="0">
              <a:solidFill>
                <a:schemeClr val="bg1"/>
              </a:solidFill>
            </a:endParaRPr>
          </a:p>
          <a:p>
            <a:endParaRPr lang="en-US" dirty="0"/>
          </a:p>
        </p:txBody>
      </p:sp>
    </p:spTree>
    <p:extLst>
      <p:ext uri="{BB962C8B-B14F-4D97-AF65-F5344CB8AC3E}">
        <p14:creationId xmlns:p14="http://schemas.microsoft.com/office/powerpoint/2010/main" val="177002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Tree>
    <p:extLst>
      <p:ext uri="{BB962C8B-B14F-4D97-AF65-F5344CB8AC3E}">
        <p14:creationId xmlns:p14="http://schemas.microsoft.com/office/powerpoint/2010/main" val="2667057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Tree>
    <p:extLst>
      <p:ext uri="{BB962C8B-B14F-4D97-AF65-F5344CB8AC3E}">
        <p14:creationId xmlns:p14="http://schemas.microsoft.com/office/powerpoint/2010/main" val="172567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6210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Tree>
    <p:extLst>
      <p:ext uri="{BB962C8B-B14F-4D97-AF65-F5344CB8AC3E}">
        <p14:creationId xmlns:p14="http://schemas.microsoft.com/office/powerpoint/2010/main" val="926379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696200"/>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861160" y="2171700"/>
            <a:ext cx="9187840" cy="7124514"/>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Selected The Base Paper</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Analyzed The Existing System</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Identified The Problem Statement</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Completed Literature Survey</a:t>
            </a:r>
          </a:p>
          <a:p>
            <a:pPr>
              <a:lnSpc>
                <a:spcPct val="150000"/>
              </a:lnSpc>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Identified The Technology Used</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Researching The Technology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772400"/>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6210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095500"/>
            <a:ext cx="10668000" cy="7366440"/>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clear foundation for a real time pothole detection system by selecting a rigorous base paper, analyzing existing architectures, and formulating a focused problem statement grounded in practical constraints and deployment realities. Through a comprehensive literature survey, it synthesized state-of-the-art advances in vision-based detection, monocular depth estimation, and 3D surface modeling, while benchmarking hybrid sensor approaches to surface anomaly analysis. The review also mapped the technical landscape to a targeted technology set—YOLOv8 for perception,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for depth, and wireframe or mesh reconstruction with Open3D—clarifying their relevance to cost-effective, real-time road understanding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83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6210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81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6210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1201</TotalTime>
  <Words>3052</Words>
  <Application>Microsoft Office PowerPoint</Application>
  <PresentationFormat>Custom</PresentationFormat>
  <Paragraphs>269</Paragraphs>
  <Slides>24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Times New Roman</vt:lpstr>
      <vt:lpstr>RQND Pro UltraWide</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cp:lastModifiedBy>Sirajuddeen Mohamed</cp:lastModifiedBy>
  <cp:revision>32</cp:revision>
  <dcterms:created xsi:type="dcterms:W3CDTF">2006-08-16T00:00:00Z</dcterms:created>
  <dcterms:modified xsi:type="dcterms:W3CDTF">2025-11-17T15:11:37Z</dcterms:modified>
  <dc:identifier>DAG1RaZYIuE</dc:identifier>
</cp:coreProperties>
</file>