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64" r:id="rId13"/>
    <p:sldId id="270" r:id="rId14"/>
    <p:sldId id="271" r:id="rId15"/>
    <p:sldId id="272" r:id="rId16"/>
    <p:sldId id="273" r:id="rId17"/>
    <p:sldId id="277" r:id="rId18"/>
    <p:sldId id="278" r:id="rId19"/>
    <p:sldId id="279" r:id="rId20"/>
    <p:sldId id="280" r:id="rId21"/>
    <p:sldId id="265" r:id="rId22"/>
    <p:sldId id="274" r:id="rId23"/>
    <p:sldId id="275" r:id="rId24"/>
    <p:sldId id="266" r:id="rId25"/>
  </p:sldIdLst>
  <p:sldSz cx="18288000" cy="10287000"/>
  <p:notesSz cx="6858000" cy="9144000"/>
  <p:embeddedFontLst>
    <p:embeddedFont>
      <p:font typeface="RQND Pro UltraWide" panose="020B0604020202020204" charset="0"/>
      <p:regular r:id="rId26"/>
    </p:embeddedFont>
    <p:embeddedFont>
      <p:font typeface="Telegraf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6" d="100"/>
          <a:sy n="76" d="100"/>
        </p:scale>
        <p:origin x="45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1.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948845"/>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5152076"/>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30841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466304"/>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231975"/>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811791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21506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2392306" y="9126571"/>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98924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505773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295401" y="892210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602348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408671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312095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190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26391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39322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2771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9003419"/>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8159756"/>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14596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8909076"/>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18</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793805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17</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6972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21842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125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23866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712844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
        <p:nvSpPr>
          <p:cNvPr id="4" name="Freeform 33">
            <a:extLst>
              <a:ext uri="{FF2B5EF4-FFF2-40B4-BE49-F238E27FC236}">
                <a16:creationId xmlns:a16="http://schemas.microsoft.com/office/drawing/2014/main" id="{47C302A1-1D60-4A29-D2FA-87BF06952467}"/>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359E7EC0-7700-CDA0-3BB0-D83C313DC19D}"/>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4" name="Freeform 33">
            <a:extLst>
              <a:ext uri="{FF2B5EF4-FFF2-40B4-BE49-F238E27FC236}">
                <a16:creationId xmlns:a16="http://schemas.microsoft.com/office/drawing/2014/main" id="{E98E0DE1-3219-59D4-96BE-47E7B8EE8B7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DEE1AF1A-9EDB-4426-84BC-CBBC776D37CE}"/>
              </a:ext>
            </a:extLst>
          </p:cNvPr>
          <p:cNvSpPr txBox="1"/>
          <p:nvPr/>
        </p:nvSpPr>
        <p:spPr>
          <a:xfrm>
            <a:off x="11155306" y="4304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8" name="Freeform 33">
            <a:extLst>
              <a:ext uri="{FF2B5EF4-FFF2-40B4-BE49-F238E27FC236}">
                <a16:creationId xmlns:a16="http://schemas.microsoft.com/office/drawing/2014/main" id="{844B149D-57F3-E8F6-3493-E80AB9D1AE69}"/>
              </a:ext>
            </a:extLst>
          </p:cNvPr>
          <p:cNvSpPr/>
          <p:nvPr/>
        </p:nvSpPr>
        <p:spPr>
          <a:xfrm>
            <a:off x="10058400" y="5092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2E2C85CD-455C-2BD6-0C8D-56D8D5469DE2}"/>
              </a:ext>
            </a:extLst>
          </p:cNvPr>
          <p:cNvSpPr txBox="1"/>
          <p:nvPr/>
        </p:nvSpPr>
        <p:spPr>
          <a:xfrm>
            <a:off x="11155306" y="52948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 ARCHITECTURE</a:t>
            </a:r>
          </a:p>
        </p:txBody>
      </p:sp>
      <p:sp>
        <p:nvSpPr>
          <p:cNvPr id="20" name="Freeform 33">
            <a:extLst>
              <a:ext uri="{FF2B5EF4-FFF2-40B4-BE49-F238E27FC236}">
                <a16:creationId xmlns:a16="http://schemas.microsoft.com/office/drawing/2014/main" id="{ECBF4FB0-8EA6-24C4-FA74-A156C4BA2993}"/>
              </a:ext>
            </a:extLst>
          </p:cNvPr>
          <p:cNvSpPr/>
          <p:nvPr/>
        </p:nvSpPr>
        <p:spPr>
          <a:xfrm>
            <a:off x="10058400" y="6057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ACCC97D3-834A-02F8-F53B-E593237E3141}"/>
              </a:ext>
            </a:extLst>
          </p:cNvPr>
          <p:cNvSpPr txBox="1"/>
          <p:nvPr/>
        </p:nvSpPr>
        <p:spPr>
          <a:xfrm>
            <a:off x="11155306" y="6260291"/>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SYSTEM REQUIREMENT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209800" y="1714500"/>
            <a:ext cx="13792200" cy="7227941"/>
          </a:xfrm>
          <a:prstGeom prst="rect">
            <a:avLst/>
          </a:prstGeom>
        </p:spPr>
        <p:txBody>
          <a:bodyPr wrap="square" lIns="0" tIns="0" rIns="0" bIns="0" rtlCol="0" anchor="t">
            <a:spAutoFit/>
          </a:bodyPr>
          <a:lstStyle/>
          <a:p>
            <a:pPr algn="just">
              <a:lnSpc>
                <a:spcPct val="250000"/>
              </a:lnSpc>
            </a:pPr>
            <a:r>
              <a:rPr lang="en-US" sz="2400" dirty="0">
                <a:solidFill>
                  <a:schemeClr val="bg1"/>
                </a:solidFill>
                <a:latin typeface="Times New Roman" panose="02020603050405020304" pitchFamily="18" charset="0"/>
                <a:cs typeface="Times New Roman" panose="02020603050405020304" pitchFamily="18" charset="0"/>
              </a:rPr>
              <a:t>Although the existing vision–LiDAR integrated pothole detection system demonstrates high accuracy and automation, its practical deployment remains limited due to several constraints. The high cost of LiDAR sensors, the reduced accuracy in wet or reflective conditions, and the requirement for precise sensor calibration and synchronization make the system less feasible for large-scale or real-time use on low-cost platforms. Additionally, the computational demands of fusing LiDAR and deep learning data restrict deployment on resource-constrained embedded devices. Therefore, there is a critical need for a cost-effective, lightweight, and robust pothole detection system capable of maintaining high accuracy using vision-only or minimal-sensor approaches, adaptable to real-world environmental and hardware limitations.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372600" y="2014121"/>
            <a:ext cx="82296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b="1" dirty="0">
                <a:solidFill>
                  <a:schemeClr val="bg1"/>
                </a:solidFill>
                <a:latin typeface="Times New Roman" panose="02020603050405020304" pitchFamily="18" charset="0"/>
                <a:cs typeface="Times New Roman" panose="02020603050405020304" pitchFamily="18" charset="0"/>
              </a:rPr>
              <a:t>AI- and vision-based detection systems</a:t>
            </a:r>
            <a:r>
              <a:rPr lang="en-US"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created the </a:t>
            </a:r>
            <a:r>
              <a:rPr lang="en-US" dirty="0" err="1">
                <a:solidFill>
                  <a:schemeClr val="bg1"/>
                </a:solidFill>
                <a:latin typeface="Times New Roman" panose="02020603050405020304" pitchFamily="18" charset="0"/>
                <a:cs typeface="Times New Roman" panose="02020603050405020304" pitchFamily="18" charset="0"/>
              </a:rPr>
              <a:t>PothRGBD</a:t>
            </a:r>
            <a:r>
              <a:rPr lang="en-US"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dirty="0" err="1">
                <a:solidFill>
                  <a:schemeClr val="bg1"/>
                </a:solidFill>
                <a:latin typeface="Times New Roman" panose="02020603050405020304" pitchFamily="18" charset="0"/>
                <a:cs typeface="Times New Roman" panose="02020603050405020304" pitchFamily="18" charset="0"/>
              </a:rPr>
              <a:t>DSConv</a:t>
            </a:r>
            <a:r>
              <a:rPr lang="en-US"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a:t>
            </a:r>
            <a:r>
              <a:rPr lang="en-US" dirty="0" err="1">
                <a:solidFill>
                  <a:schemeClr val="bg1"/>
                </a:solidFill>
                <a:latin typeface="Times New Roman" panose="02020603050405020304" pitchFamily="18" charset="0"/>
                <a:cs typeface="Times New Roman" panose="02020603050405020304" pitchFamily="18" charset="0"/>
              </a:rPr>
              <a:t>potholedetection</a:t>
            </a:r>
            <a:r>
              <a:rPr lang="en-US" dirty="0">
                <a:solidFill>
                  <a:schemeClr val="bg1"/>
                </a:solidFill>
                <a:latin typeface="Times New Roman" panose="02020603050405020304" pitchFamily="18" charset="0"/>
                <a:cs typeface="Times New Roman" panose="02020603050405020304" pitchFamily="18" charset="0"/>
              </a:rPr>
              <a:t> project to get precise segmentation masks and direct depth/perimeter estimates.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 – </a:t>
            </a:r>
            <a:r>
              <a:rPr lang="en-US" sz="2450" b="1" spc="300" dirty="0">
                <a:solidFill>
                  <a:srgbClr val="DEF0FF"/>
                </a:solidFill>
                <a:latin typeface="RQND Pro UltraWide"/>
                <a:ea typeface="RQND Pro UltraWide"/>
                <a:cs typeface="RQND Pro UltraWide"/>
                <a:sym typeface="RQND Pro UltraWide"/>
              </a:rPr>
              <a:t>BASE PAPER</a:t>
            </a:r>
          </a:p>
        </p:txBody>
      </p:sp>
      <p:sp>
        <p:nvSpPr>
          <p:cNvPr id="39" name="TextBox 15">
            <a:extLst>
              <a:ext uri="{FF2B5EF4-FFF2-40B4-BE49-F238E27FC236}">
                <a16:creationId xmlns:a16="http://schemas.microsoft.com/office/drawing/2014/main" id="{C1947604-F3E2-B3E8-C2C5-B8E751646106}"/>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sp>
        <p:nvSpPr>
          <p:cNvPr id="40" name="TextBox 18">
            <a:extLst>
              <a:ext uri="{FF2B5EF4-FFF2-40B4-BE49-F238E27FC236}">
                <a16:creationId xmlns:a16="http://schemas.microsoft.com/office/drawing/2014/main" id="{3C53289E-D904-C14F-6967-F93BD5D3C011}"/>
              </a:ext>
            </a:extLst>
          </p:cNvPr>
          <p:cNvSpPr txBox="1"/>
          <p:nvPr/>
        </p:nvSpPr>
        <p:spPr>
          <a:xfrm>
            <a:off x="609600" y="2019300"/>
            <a:ext cx="8229600" cy="6647974"/>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Deep Learning Enhanced Feature Extraction of Potholes Using Vision and LiDAR Data for Road Maintenance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Road infrastructure is vital for mobility, and potholes significantly impact safety, comfort, and transport efficiency, causing accidents and vehicle damage. Pothole detection methods include vibration-based, vision-based, and depth-based approaches, each with unique advantages and limitations. Vision and LiDAR systems, often combined with deep learning models like YOLO and Mask R-CNN, enable accurate detection, 3D reconstruction, and geo-positioning for maintenance planning. Automated inspection using cameras, LiDAR, and GNSS improves efficiency, reduces costs, and allows precise volume and area estimation. Our system integrates a calibrated camera-LiDAR setup on a fixed mount for consistent, adaptable road inspections.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paper describes how the automatic pothole inspection methods provide an effective approach for monitoring the health of road networks in real time while minimizing labor requirements. They proposed a system, combining the YOLOv5 object detection architecture with LiDAR data. They fused the 2D and 3D data with geo-positioning information enabling a comprehensive analysis and visualization of road defects. I could conclude from this paper that while the integration of vision and LiDAR data improves detection accuracy and reconstruction, limitations such as sensitivity to lighting conditions, sensor noise, and real-time processing constraints remain. </a:t>
            </a:r>
          </a:p>
          <a:p>
            <a:pPr algn="just"/>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609601" y="2014121"/>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b="1" dirty="0">
                <a:solidFill>
                  <a:schemeClr val="bg1"/>
                </a:solidFill>
                <a:latin typeface="Times New Roman" panose="02020603050405020304" pitchFamily="18" charset="0"/>
                <a:cs typeface="Times New Roman" panose="02020603050405020304" pitchFamily="18" charset="0"/>
              </a:rPr>
              <a:t>robust vision-based framework</a:t>
            </a:r>
            <a:r>
              <a:rPr lang="en-US" dirty="0">
                <a:solidFill>
                  <a:schemeClr val="bg1"/>
                </a:solidFill>
                <a:latin typeface="Times New Roman" panose="02020603050405020304" pitchFamily="18" charset="0"/>
                <a:cs typeface="Times New Roman" panose="02020603050405020304" pitchFamily="18" charset="0"/>
              </a:rPr>
              <a:t> is proposed using </a:t>
            </a:r>
            <a:r>
              <a:rPr lang="en-US" b="1" dirty="0">
                <a:solidFill>
                  <a:schemeClr val="bg1"/>
                </a:solidFill>
                <a:latin typeface="Times New Roman" panose="02020603050405020304" pitchFamily="18" charset="0"/>
                <a:cs typeface="Times New Roman" panose="02020603050405020304" pitchFamily="18" charset="0"/>
              </a:rPr>
              <a:t>ACSH-YOLOv8</a:t>
            </a:r>
            <a:r>
              <a:rPr lang="en-US" dirty="0">
                <a:solidFill>
                  <a:schemeClr val="bg1"/>
                </a:solidFill>
                <a:latin typeface="Times New Roman" panose="02020603050405020304" pitchFamily="18" charset="0"/>
                <a:cs typeface="Times New Roman" panose="02020603050405020304" pitchFamily="18" charset="0"/>
              </a:rPr>
              <a:t> for detection, </a:t>
            </a:r>
            <a:r>
              <a:rPr lang="en-US" b="1" dirty="0" err="1">
                <a:solidFill>
                  <a:schemeClr val="bg1"/>
                </a:solidFill>
                <a:latin typeface="Times New Roman" panose="02020603050405020304" pitchFamily="18" charset="0"/>
                <a:cs typeface="Times New Roman" panose="02020603050405020304" pitchFamily="18" charset="0"/>
              </a:rPr>
              <a:t>DepthAnything</a:t>
            </a:r>
            <a:r>
              <a:rPr lang="en-US" b="1" dirty="0">
                <a:solidFill>
                  <a:schemeClr val="bg1"/>
                </a:solidFill>
                <a:latin typeface="Times New Roman" panose="02020603050405020304" pitchFamily="18" charset="0"/>
                <a:cs typeface="Times New Roman" panose="02020603050405020304" pitchFamily="18" charset="0"/>
              </a:rPr>
              <a:t> V2</a:t>
            </a:r>
            <a:r>
              <a:rPr lang="en-US" dirty="0">
                <a:solidFill>
                  <a:schemeClr val="bg1"/>
                </a:solidFill>
                <a:latin typeface="Times New Roman" panose="02020603050405020304" pitchFamily="18" charset="0"/>
                <a:cs typeface="Times New Roman" panose="02020603050405020304" pitchFamily="18" charset="0"/>
              </a:rPr>
              <a:t> for depth estimation, and a </a:t>
            </a:r>
            <a:r>
              <a:rPr lang="en-US"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dirty="0">
                <a:solidFill>
                  <a:schemeClr val="bg1"/>
                </a:solidFill>
                <a:latin typeface="Times New Roman" panose="02020603050405020304" pitchFamily="18" charset="0"/>
                <a:cs typeface="Times New Roman" panose="02020603050405020304" pitchFamily="18" charset="0"/>
              </a:rPr>
              <a:t> method for accurate area measurement. A </a:t>
            </a:r>
            <a:r>
              <a:rPr lang="en-US" b="1" dirty="0">
                <a:solidFill>
                  <a:schemeClr val="bg1"/>
                </a:solidFill>
                <a:latin typeface="Times New Roman" panose="02020603050405020304" pitchFamily="18" charset="0"/>
                <a:cs typeface="Times New Roman" panose="02020603050405020304" pitchFamily="18" charset="0"/>
              </a:rPr>
              <a:t>CDKF-based Kalman Filter</a:t>
            </a:r>
            <a:r>
              <a:rPr lang="en-US"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3" name="TextBox 18">
            <a:extLst>
              <a:ext uri="{FF2B5EF4-FFF2-40B4-BE49-F238E27FC236}">
                <a16:creationId xmlns:a16="http://schemas.microsoft.com/office/drawing/2014/main" id="{28F9B563-D241-0028-8611-82952A615981}"/>
              </a:ext>
            </a:extLst>
          </p:cNvPr>
          <p:cNvSpPr txBox="1"/>
          <p:nvPr/>
        </p:nvSpPr>
        <p:spPr>
          <a:xfrm>
            <a:off x="9372600" y="2019300"/>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dirty="0" err="1">
                <a:solidFill>
                  <a:schemeClr val="bg1"/>
                </a:solidFill>
                <a:latin typeface="Times New Roman" panose="02020603050405020304" pitchFamily="18" charset="0"/>
                <a:cs typeface="Times New Roman" panose="02020603050405020304" pitchFamily="18" charset="0"/>
              </a:rPr>
              <a:t>KinectFusion</a:t>
            </a:r>
            <a:r>
              <a:rPr lang="en-US" dirty="0">
                <a:solidFill>
                  <a:schemeClr val="bg1"/>
                </a:solidFill>
                <a:latin typeface="Times New Roman" panose="02020603050405020304" pitchFamily="18" charset="0"/>
                <a:cs typeface="Times New Roman" panose="02020603050405020304" pitchFamily="18" charset="0"/>
              </a:rPr>
              <a:t> and </a:t>
            </a:r>
            <a:r>
              <a:rPr lang="en-US" dirty="0" err="1">
                <a:solidFill>
                  <a:schemeClr val="bg1"/>
                </a:solidFill>
                <a:latin typeface="Times New Roman" panose="02020603050405020304" pitchFamily="18" charset="0"/>
                <a:cs typeface="Times New Roman" panose="02020603050405020304" pitchFamily="18" charset="0"/>
              </a:rPr>
              <a:t>BundleFusion</a:t>
            </a:r>
            <a:r>
              <a:rPr lang="en-US" dirty="0">
                <a:solidFill>
                  <a:schemeClr val="bg1"/>
                </a:solidFill>
                <a:latin typeface="Times New Roman" panose="02020603050405020304" pitchFamily="18" charset="0"/>
                <a:cs typeface="Times New Roman" panose="02020603050405020304" pitchFamily="18" charset="0"/>
              </a:rPr>
              <a:t> depend on RGB-D cameras and high computational power, making them unsuitable for mid-range mobile devices. To address this, the </a:t>
            </a:r>
            <a:r>
              <a:rPr lang="en-US" b="1" dirty="0">
                <a:solidFill>
                  <a:schemeClr val="bg1"/>
                </a:solidFill>
                <a:latin typeface="Times New Roman" panose="02020603050405020304" pitchFamily="18" charset="0"/>
                <a:cs typeface="Times New Roman" panose="02020603050405020304" pitchFamily="18" charset="0"/>
              </a:rPr>
              <a:t>Mobile3DRecon</a:t>
            </a:r>
            <a:r>
              <a:rPr lang="en-US" dirty="0">
                <a:solidFill>
                  <a:schemeClr val="bg1"/>
                </a:solidFill>
                <a:latin typeface="Times New Roman" panose="02020603050405020304" pitchFamily="18" charset="0"/>
                <a:cs typeface="Times New Roman" panose="02020603050405020304" pitchFamily="18" charset="0"/>
              </a:rPr>
              <a:t> system enables </a:t>
            </a:r>
            <a:r>
              <a:rPr lang="en-US"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dirty="0">
                <a:solidFill>
                  <a:schemeClr val="bg1"/>
                </a:solidFill>
                <a:latin typeface="Times New Roman" panose="02020603050405020304" pitchFamily="18" charset="0"/>
                <a:cs typeface="Times New Roman" panose="02020603050405020304" pitchFamily="18" charset="0"/>
              </a:rPr>
              <a:t> using only a </a:t>
            </a:r>
            <a:r>
              <a:rPr lang="en-US" b="1" dirty="0">
                <a:solidFill>
                  <a:schemeClr val="bg1"/>
                </a:solidFill>
                <a:latin typeface="Times New Roman" panose="02020603050405020304" pitchFamily="18" charset="0"/>
                <a:cs typeface="Times New Roman" panose="02020603050405020304" pitchFamily="18" charset="0"/>
              </a:rPr>
              <a:t>monocular camera</a:t>
            </a:r>
            <a:r>
              <a:rPr lang="en-US" dirty="0">
                <a:solidFill>
                  <a:schemeClr val="bg1"/>
                </a:solidFill>
                <a:latin typeface="Times New Roman" panose="02020603050405020304" pitchFamily="18" charset="0"/>
                <a:cs typeface="Times New Roman" panose="02020603050405020304" pitchFamily="18" charset="0"/>
              </a:rPr>
              <a:t>, without extra sensors. It introduces </a:t>
            </a:r>
            <a:r>
              <a:rPr lang="en-US" b="1" dirty="0">
                <a:solidFill>
                  <a:schemeClr val="bg1"/>
                </a:solidFill>
                <a:latin typeface="Times New Roman" panose="02020603050405020304" pitchFamily="18" charset="0"/>
                <a:cs typeface="Times New Roman" panose="02020603050405020304" pitchFamily="18" charset="0"/>
              </a:rPr>
              <a:t>multi-view depth estimation</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incremental mesh generation</a:t>
            </a:r>
            <a:r>
              <a:rPr lang="en-US"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presented a mobile system capable of generating dense, </a:t>
            </a:r>
            <a:r>
              <a:rPr lang="en-US" dirty="0" err="1">
                <a:solidFill>
                  <a:schemeClr val="bg1"/>
                </a:solidFill>
                <a:latin typeface="Times New Roman" panose="02020603050405020304" pitchFamily="18" charset="0"/>
                <a:cs typeface="Times New Roman" panose="02020603050405020304" pitchFamily="18" charset="0"/>
              </a:rPr>
              <a:t>realtime</a:t>
            </a:r>
            <a:r>
              <a:rPr lang="en-US" dirty="0">
                <a:solidFill>
                  <a:schemeClr val="bg1"/>
                </a:solidFill>
                <a:latin typeface="Times New Roman" panose="02020603050405020304" pitchFamily="18" charset="0"/>
                <a:cs typeface="Times New Roman" panose="02020603050405020304" pitchFamily="18" charset="0"/>
              </a:rPr>
              <a:t> 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sp>
        <p:nvSpPr>
          <p:cNvPr id="5" name="TextBox 15">
            <a:extLst>
              <a:ext uri="{FF2B5EF4-FFF2-40B4-BE49-F238E27FC236}">
                <a16:creationId xmlns:a16="http://schemas.microsoft.com/office/drawing/2014/main" id="{63C9BAEE-25B7-F9D4-C253-A8BE82E73943}"/>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spTree>
    <p:extLst>
      <p:ext uri="{BB962C8B-B14F-4D97-AF65-F5344CB8AC3E}">
        <p14:creationId xmlns:p14="http://schemas.microsoft.com/office/powerpoint/2010/main" val="262317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8305800" cy="4985980"/>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b="1" dirty="0">
                <a:solidFill>
                  <a:schemeClr val="bg1"/>
                </a:solidFill>
                <a:latin typeface="Times New Roman" panose="02020603050405020304" pitchFamily="18" charset="0"/>
                <a:cs typeface="Times New Roman" panose="02020603050405020304" pitchFamily="18" charset="0"/>
              </a:rPr>
              <a:t>pothole detection</a:t>
            </a:r>
            <a:r>
              <a:rPr lang="en-US"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dirty="0">
                <a:solidFill>
                  <a:schemeClr val="bg1"/>
                </a:solidFill>
                <a:latin typeface="Times New Roman" panose="02020603050405020304" pitchFamily="18" charset="0"/>
                <a:cs typeface="Times New Roman" panose="02020603050405020304" pitchFamily="18" charset="0"/>
              </a:rPr>
              <a:t> using a </a:t>
            </a:r>
            <a:r>
              <a:rPr lang="en-US" b="1" dirty="0">
                <a:solidFill>
                  <a:schemeClr val="bg1"/>
                </a:solidFill>
                <a:latin typeface="Times New Roman" panose="02020603050405020304" pitchFamily="18" charset="0"/>
                <a:cs typeface="Times New Roman" panose="02020603050405020304" pitchFamily="18" charset="0"/>
              </a:rPr>
              <a:t>convolutional neural network (CNN)</a:t>
            </a:r>
            <a:r>
              <a:rPr lang="en-US" dirty="0">
                <a:solidFill>
                  <a:schemeClr val="bg1"/>
                </a:solidFill>
                <a:latin typeface="Times New Roman" panose="02020603050405020304" pitchFamily="18" charset="0"/>
                <a:cs typeface="Times New Roman" panose="02020603050405020304" pitchFamily="18" charset="0"/>
              </a:rPr>
              <a:t> for feature extraction and a </a:t>
            </a:r>
            <a:r>
              <a:rPr lang="en-US" b="1" dirty="0">
                <a:solidFill>
                  <a:schemeClr val="bg1"/>
                </a:solidFill>
                <a:latin typeface="Times New Roman" panose="02020603050405020304" pitchFamily="18" charset="0"/>
                <a:cs typeface="Times New Roman" panose="02020603050405020304" pitchFamily="18" charset="0"/>
              </a:rPr>
              <a:t>Random Forest classifier</a:t>
            </a:r>
            <a:r>
              <a:rPr lang="en-US" dirty="0">
                <a:solidFill>
                  <a:schemeClr val="bg1"/>
                </a:solidFill>
                <a:latin typeface="Times New Roman" panose="02020603050405020304" pitchFamily="18" charset="0"/>
                <a:cs typeface="Times New Roman" panose="02020603050405020304" pitchFamily="18" charset="0"/>
              </a:rPr>
              <a:t> optimized through </a:t>
            </a:r>
            <a:r>
              <a:rPr lang="en-US"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3" name="TextBox 18">
            <a:extLst>
              <a:ext uri="{FF2B5EF4-FFF2-40B4-BE49-F238E27FC236}">
                <a16:creationId xmlns:a16="http://schemas.microsoft.com/office/drawing/2014/main" id="{A3EA4A4E-74B0-A10B-0B65-A869BF2B52E8}"/>
              </a:ext>
            </a:extLst>
          </p:cNvPr>
          <p:cNvSpPr txBox="1"/>
          <p:nvPr/>
        </p:nvSpPr>
        <p:spPr>
          <a:xfrm>
            <a:off x="9372600" y="2019300"/>
            <a:ext cx="8305800" cy="5816977"/>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b="1"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a:t>
            </a:r>
            <a:r>
              <a:rPr lang="en-US" dirty="0" err="1">
                <a:solidFill>
                  <a:schemeClr val="bg1"/>
                </a:solidFill>
                <a:latin typeface="Times New Roman" panose="02020603050405020304" pitchFamily="18" charset="0"/>
                <a:cs typeface="Times New Roman" panose="02020603050405020304" pitchFamily="18" charset="0"/>
              </a:rPr>
              <a:t>CPUbased</a:t>
            </a:r>
            <a:r>
              <a:rPr lang="en-US" dirty="0">
                <a:solidFill>
                  <a:schemeClr val="bg1"/>
                </a:solidFill>
                <a:latin typeface="Times New Roman" panose="02020603050405020304" pitchFamily="18" charset="0"/>
                <a:cs typeface="Times New Roman" panose="02020603050405020304" pitchFamily="18" charset="0"/>
              </a:rPr>
              <a:t> methods. I can conclude that their </a:t>
            </a:r>
            <a:r>
              <a:rPr lang="en-US" dirty="0" err="1">
                <a:solidFill>
                  <a:schemeClr val="bg1"/>
                </a:solidFill>
                <a:latin typeface="Times New Roman" panose="02020603050405020304" pitchFamily="18" charset="0"/>
                <a:cs typeface="Times New Roman" panose="02020603050405020304" pitchFamily="18" charset="0"/>
              </a:rPr>
              <a:t>GPUparallel</a:t>
            </a:r>
            <a:r>
              <a:rPr lang="en-US" dirty="0">
                <a:solidFill>
                  <a:schemeClr val="bg1"/>
                </a:solidFill>
                <a:latin typeface="Times New Roman" panose="02020603050405020304" pitchFamily="18" charset="0"/>
                <a:cs typeface="Times New Roman" panose="02020603050405020304" pitchFamily="18" charset="0"/>
              </a:rPr>
              <a:t> mesh approach, especially the MLS point cloud smoothing and mesh merging, gives insight into achieving fast, reliable surface modeling— knowledge that is valuable for enhancing the efficiency of mesh processing in pothole detection systems.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sp>
        <p:nvSpPr>
          <p:cNvPr id="5" name="TextBox 15">
            <a:extLst>
              <a:ext uri="{FF2B5EF4-FFF2-40B4-BE49-F238E27FC236}">
                <a16:creationId xmlns:a16="http://schemas.microsoft.com/office/drawing/2014/main" id="{D2F68B09-29CC-105B-A2AB-06F746EBDCBF}"/>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6</a:t>
            </a:r>
          </a:p>
        </p:txBody>
      </p:sp>
    </p:spTree>
    <p:extLst>
      <p:ext uri="{BB962C8B-B14F-4D97-AF65-F5344CB8AC3E}">
        <p14:creationId xmlns:p14="http://schemas.microsoft.com/office/powerpoint/2010/main" val="44376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Tree>
    <p:extLst>
      <p:ext uri="{BB962C8B-B14F-4D97-AF65-F5344CB8AC3E}">
        <p14:creationId xmlns:p14="http://schemas.microsoft.com/office/powerpoint/2010/main" val="2034256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Tree>
    <p:extLst>
      <p:ext uri="{BB962C8B-B14F-4D97-AF65-F5344CB8AC3E}">
        <p14:creationId xmlns:p14="http://schemas.microsoft.com/office/powerpoint/2010/main" val="698333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6124754"/>
          </a:xfrm>
          <a:prstGeom prst="rect">
            <a:avLst/>
          </a:prstGeom>
          <a:noFill/>
        </p:spPr>
        <p:txBody>
          <a:bodyPr wrap="square" rtlCol="0">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A </a:t>
            </a:r>
            <a:r>
              <a:rPr lang="en-US" sz="2800" b="1" dirty="0">
                <a:solidFill>
                  <a:schemeClr val="bg1"/>
                </a:solidFill>
                <a:latin typeface="Times New Roman" panose="02020603050405020304" pitchFamily="18" charset="0"/>
                <a:cs typeface="Times New Roman" panose="02020603050405020304" pitchFamily="18" charset="0"/>
              </a:rPr>
              <a:t>vision-only, low-cost real-time perception pipeline</a:t>
            </a:r>
            <a:r>
              <a:rPr lang="en-US" sz="2800" dirty="0">
                <a:solidFill>
                  <a:schemeClr val="bg1"/>
                </a:solidFill>
                <a:latin typeface="Times New Roman" panose="02020603050405020304" pitchFamily="18" charset="0"/>
                <a:cs typeface="Times New Roman" panose="02020603050405020304" pitchFamily="18" charset="0"/>
              </a:rPr>
              <a:t> that generates a </a:t>
            </a:r>
            <a:r>
              <a:rPr lang="en-US" sz="2800" b="1" dirty="0">
                <a:solidFill>
                  <a:schemeClr val="bg1"/>
                </a:solidFill>
                <a:latin typeface="Times New Roman" panose="02020603050405020304" pitchFamily="18" charset="0"/>
                <a:cs typeface="Times New Roman" panose="02020603050405020304" pitchFamily="18" charset="0"/>
              </a:rPr>
              <a:t>3D wireframe/mesh</a:t>
            </a:r>
            <a:r>
              <a:rPr lang="en-US" sz="2800" dirty="0">
                <a:solidFill>
                  <a:schemeClr val="bg1"/>
                </a:solidFill>
                <a:latin typeface="Times New Roman" panose="02020603050405020304" pitchFamily="18" charset="0"/>
                <a:cs typeface="Times New Roman" panose="02020603050405020304" pitchFamily="18" charset="0"/>
              </a:rPr>
              <a:t> of the road surface using a single forward-facing </a:t>
            </a:r>
            <a:r>
              <a:rPr lang="en-US" sz="2800" b="1" dirty="0">
                <a:solidFill>
                  <a:schemeClr val="bg1"/>
                </a:solidFill>
                <a:latin typeface="Times New Roman" panose="02020603050405020304" pitchFamily="18" charset="0"/>
                <a:cs typeface="Times New Roman" panose="02020603050405020304" pitchFamily="18" charset="0"/>
              </a:rPr>
              <a:t>monocular RGB camera</a:t>
            </a:r>
            <a:r>
              <a:rPr lang="en-US" sz="2800" dirty="0">
                <a:solidFill>
                  <a:schemeClr val="bg1"/>
                </a:solidFill>
                <a:latin typeface="Times New Roman" panose="02020603050405020304" pitchFamily="18" charset="0"/>
                <a:cs typeface="Times New Roman" panose="02020603050405020304" pitchFamily="18" charset="0"/>
              </a:rPr>
              <a:t>. The system detects and measures potholes and road anomalies using depth-aware reconstruction.</a:t>
            </a:r>
          </a:p>
          <a:p>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YOLOv8-Seg / YOLOv8n-Seg for real-time surface anomaly detection with pixel-level segmentation.</a:t>
            </a:r>
          </a:p>
          <a:p>
            <a:pPr marL="285750" indent="-285750">
              <a:buFont typeface="Arial" panose="020B0604020202020204" pitchFamily="34" charset="0"/>
              <a:buChar char="•"/>
            </a:pP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monocular depth prediction to convert 2D detections into metric 3D structures.</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Mesh generation using Open3D to create a wireframe representation of the road surface.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Geometry extraction module to compute pothole depth, area, perimeter, and volume.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Decision engine to trigger alerts or safe responses (slow-down, micro-avoidance, logging).</a:t>
            </a:r>
          </a:p>
          <a:p>
            <a:pPr marL="285750" indent="-285750">
              <a:buFont typeface="Arial" panose="020B0604020202020204" pitchFamily="34" charset="0"/>
              <a:buChar char="•"/>
            </a:pP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Provides a cost-effective, real-time, sensor-efficient alternative to LiDAR-based systems with strong deployment potential for AVs and road-mapping applications.</a:t>
            </a:r>
          </a:p>
        </p:txBody>
      </p:sp>
    </p:spTree>
    <p:extLst>
      <p:ext uri="{BB962C8B-B14F-4D97-AF65-F5344CB8AC3E}">
        <p14:creationId xmlns:p14="http://schemas.microsoft.com/office/powerpoint/2010/main" val="177002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Tree>
    <p:extLst>
      <p:ext uri="{BB962C8B-B14F-4D97-AF65-F5344CB8AC3E}">
        <p14:creationId xmlns:p14="http://schemas.microsoft.com/office/powerpoint/2010/main" val="2667057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Tree>
    <p:extLst>
      <p:ext uri="{BB962C8B-B14F-4D97-AF65-F5344CB8AC3E}">
        <p14:creationId xmlns:p14="http://schemas.microsoft.com/office/powerpoint/2010/main" val="1725673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Tree>
    <p:extLst>
      <p:ext uri="{BB962C8B-B14F-4D97-AF65-F5344CB8AC3E}">
        <p14:creationId xmlns:p14="http://schemas.microsoft.com/office/powerpoint/2010/main" val="926379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696200"/>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562100" y="2781300"/>
            <a:ext cx="11672237" cy="5565947"/>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Started deep-dive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Working on refining the design for the proposed system architecture.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upcoming implementation.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772400"/>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095500"/>
            <a:ext cx="10668000" cy="7366440"/>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clear foundation for a real time pothole detection system by selecting a rigorous base paper, analyzing existing architectures, and formulating a focused problem statement grounded in practical constraints and deployment realities. Through a comprehensive literature survey, it synthesized state-of-the-art advances in vision-based detection, monocular depth estimation, and 3D surface modeling, while benchmarking hybrid sensor approaches to surface anomaly analysis. The review also mapped the technical landscape to a targeted technology set—YOLOv8 for perception,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for depth, and wireframe or mesh reconstruction with Open3D—clarifying their relevance to cost-effective, real-time road understanding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836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818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1269</TotalTime>
  <Words>3365</Words>
  <Application>Microsoft Office PowerPoint</Application>
  <PresentationFormat>Custom</PresentationFormat>
  <Paragraphs>316</Paragraphs>
  <Slides>24</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Wingdings</vt:lpstr>
      <vt:lpstr>Arial</vt:lpstr>
      <vt:lpstr>Calibri</vt:lpstr>
      <vt:lpstr>RQND Pro UltraWide</vt:lpstr>
      <vt:lpstr>Times New Roman</vt:lpstr>
      <vt:lpstr>Telegraf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38</cp:revision>
  <dcterms:created xsi:type="dcterms:W3CDTF">2006-08-16T00:00:00Z</dcterms:created>
  <dcterms:modified xsi:type="dcterms:W3CDTF">2025-11-18T16:31:11Z</dcterms:modified>
  <dc:identifier>DAG1RaZYIuE</dc:identifier>
</cp:coreProperties>
</file>