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7" r:id="rId4"/>
    <p:sldId id="269" r:id="rId5"/>
    <p:sldId id="257" r:id="rId6"/>
    <p:sldId id="268" r:id="rId7"/>
    <p:sldId id="259" r:id="rId8"/>
    <p:sldId id="260" r:id="rId9"/>
    <p:sldId id="261" r:id="rId10"/>
    <p:sldId id="262" r:id="rId11"/>
    <p:sldId id="263" r:id="rId12"/>
    <p:sldId id="282" r:id="rId13"/>
    <p:sldId id="283" r:id="rId14"/>
    <p:sldId id="276" r:id="rId15"/>
    <p:sldId id="284" r:id="rId16"/>
    <p:sldId id="285" r:id="rId17"/>
    <p:sldId id="272" r:id="rId18"/>
    <p:sldId id="273" r:id="rId19"/>
    <p:sldId id="277" r:id="rId20"/>
    <p:sldId id="278" r:id="rId21"/>
    <p:sldId id="279" r:id="rId22"/>
    <p:sldId id="280" r:id="rId23"/>
    <p:sldId id="281" r:id="rId24"/>
    <p:sldId id="265" r:id="rId25"/>
    <p:sldId id="274" r:id="rId26"/>
    <p:sldId id="275" r:id="rId27"/>
    <p:sldId id="266" r:id="rId28"/>
  </p:sldIdLst>
  <p:sldSz cx="18288000" cy="10287000"/>
  <p:notesSz cx="6858000" cy="9144000"/>
  <p:embeddedFontLst>
    <p:embeddedFont>
      <p:font typeface="RQND Pro UltraWide" panose="020B0604020202020204" charset="0"/>
      <p:regular r:id="rId29"/>
    </p:embeddedFont>
    <p:embeddedFont>
      <p:font typeface="Telegraf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955" autoAdjust="0"/>
  </p:normalViewPr>
  <p:slideViewPr>
    <p:cSldViewPr>
      <p:cViewPr varScale="1">
        <p:scale>
          <a:sx n="76" d="100"/>
          <a:sy n="76" d="100"/>
        </p:scale>
        <p:origin x="45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ideo" Target="https://www.youtube.com/embed/WSHUezvgM5w?feature=oembed" TargetMode="Externa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2.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
        <p:nvSpPr>
          <p:cNvPr id="3" name="TextBox 2">
            <a:extLst>
              <a:ext uri="{FF2B5EF4-FFF2-40B4-BE49-F238E27FC236}">
                <a16:creationId xmlns:a16="http://schemas.microsoft.com/office/drawing/2014/main" id="{0406F2B0-D9C5-C1CF-A510-11E5A44206D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271E05-7182-1B63-237C-C642418F98F6}"/>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p:cNvSpPr/>
          <p:nvPr/>
        </p:nvSpPr>
        <p:spPr>
          <a:xfrm>
            <a:off x="1295401" y="7789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p:cNvSpPr txBox="1"/>
          <p:nvPr/>
        </p:nvSpPr>
        <p:spPr>
          <a:xfrm>
            <a:off x="2392307" y="4993063"/>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INTRODUCTION</a:t>
            </a:r>
          </a:p>
        </p:txBody>
      </p:sp>
      <p:sp>
        <p:nvSpPr>
          <p:cNvPr id="49" name="TextBox 49"/>
          <p:cNvSpPr txBox="1"/>
          <p:nvPr/>
        </p:nvSpPr>
        <p:spPr>
          <a:xfrm>
            <a:off x="2392307" y="414940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OBJECTIVE</a:t>
            </a:r>
          </a:p>
        </p:txBody>
      </p:sp>
      <p:sp>
        <p:nvSpPr>
          <p:cNvPr id="50" name="TextBox 50"/>
          <p:cNvSpPr txBox="1"/>
          <p:nvPr/>
        </p:nvSpPr>
        <p:spPr>
          <a:xfrm>
            <a:off x="2392307" y="130729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02" name="TextBox 48">
            <a:extLst>
              <a:ext uri="{FF2B5EF4-FFF2-40B4-BE49-F238E27FC236}">
                <a16:creationId xmlns:a16="http://schemas.microsoft.com/office/drawing/2014/main" id="{384E7366-CF6E-8505-1680-7AF0C3787EC4}"/>
              </a:ext>
            </a:extLst>
          </p:cNvPr>
          <p:cNvSpPr txBox="1"/>
          <p:nvPr/>
        </p:nvSpPr>
        <p:spPr>
          <a:xfrm>
            <a:off x="2392306" y="6072962"/>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SYSTEM</a:t>
            </a:r>
          </a:p>
        </p:txBody>
      </p:sp>
      <p:sp>
        <p:nvSpPr>
          <p:cNvPr id="105" name="TextBox 49">
            <a:extLst>
              <a:ext uri="{FF2B5EF4-FFF2-40B4-BE49-F238E27FC236}">
                <a16:creationId xmlns:a16="http://schemas.microsoft.com/office/drawing/2014/main" id="{F8D0C3BE-9728-E9B0-CFFD-E2A428F46293}"/>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214F33FC-43F0-EFA8-72E9-182B6E77C4B1}"/>
              </a:ext>
            </a:extLst>
          </p:cNvPr>
          <p:cNvSpPr txBox="1"/>
          <p:nvPr/>
        </p:nvSpPr>
        <p:spPr>
          <a:xfrm>
            <a:off x="2392306" y="795889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ADVANTAGES &amp; DISADVANTAGES</a:t>
            </a:r>
          </a:p>
        </p:txBody>
      </p:sp>
      <p:sp>
        <p:nvSpPr>
          <p:cNvPr id="108" name="TextBox 48">
            <a:extLst>
              <a:ext uri="{FF2B5EF4-FFF2-40B4-BE49-F238E27FC236}">
                <a16:creationId xmlns:a16="http://schemas.microsoft.com/office/drawing/2014/main" id="{F826DB5F-ACAD-E691-7C59-EE5577F9C526}"/>
              </a:ext>
            </a:extLst>
          </p:cNvPr>
          <p:cNvSpPr txBox="1"/>
          <p:nvPr/>
        </p:nvSpPr>
        <p:spPr>
          <a:xfrm>
            <a:off x="2393349" y="705604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109" name="TextBox 50">
            <a:extLst>
              <a:ext uri="{FF2B5EF4-FFF2-40B4-BE49-F238E27FC236}">
                <a16:creationId xmlns:a16="http://schemas.microsoft.com/office/drawing/2014/main" id="{7654095F-C6E4-33F0-04E9-E5E7CB1BAC31}"/>
              </a:ext>
            </a:extLst>
          </p:cNvPr>
          <p:cNvSpPr txBox="1"/>
          <p:nvPr/>
        </p:nvSpPr>
        <p:spPr>
          <a:xfrm>
            <a:off x="2392306" y="8920373"/>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114" name="TextBox 113">
            <a:extLst>
              <a:ext uri="{FF2B5EF4-FFF2-40B4-BE49-F238E27FC236}">
                <a16:creationId xmlns:a16="http://schemas.microsoft.com/office/drawing/2014/main" id="{20A17950-74E0-E126-82F4-A2E80EB7F916}"/>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A83AB24B-B306-9BA1-CF83-1A5F18759DCB}"/>
              </a:ext>
            </a:extLst>
          </p:cNvPr>
          <p:cNvSpPr/>
          <p:nvPr/>
        </p:nvSpPr>
        <p:spPr>
          <a:xfrm>
            <a:off x="1296445" y="683022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6580204A-769D-EE6B-604C-1804188740F2}"/>
              </a:ext>
            </a:extLst>
          </p:cNvPr>
          <p:cNvSpPr/>
          <p:nvPr/>
        </p:nvSpPr>
        <p:spPr>
          <a:xfrm>
            <a:off x="1295401" y="489872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FA42031A-A238-0EFA-CC72-EC6A20C5FE7A}"/>
              </a:ext>
            </a:extLst>
          </p:cNvPr>
          <p:cNvSpPr/>
          <p:nvPr/>
        </p:nvSpPr>
        <p:spPr>
          <a:xfrm>
            <a:off x="1295401" y="871591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D64EDEA9-B0E2-C710-FE9D-158F5E998D41}"/>
              </a:ext>
            </a:extLst>
          </p:cNvPr>
          <p:cNvSpPr/>
          <p:nvPr/>
        </p:nvSpPr>
        <p:spPr>
          <a:xfrm>
            <a:off x="1295401" y="586447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C0921A83-0873-5F37-C2E5-7FB0B30B8505}"/>
              </a:ext>
            </a:extLst>
          </p:cNvPr>
          <p:cNvSpPr/>
          <p:nvPr/>
        </p:nvSpPr>
        <p:spPr>
          <a:xfrm>
            <a:off x="1287051" y="392769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772CE7FD-0DB1-C448-7B6B-99C51ECC833B}"/>
              </a:ext>
            </a:extLst>
          </p:cNvPr>
          <p:cNvSpPr/>
          <p:nvPr/>
        </p:nvSpPr>
        <p:spPr>
          <a:xfrm>
            <a:off x="1287051" y="296194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0F17003-FBE6-445D-D4D4-AF15EE34C149}"/>
              </a:ext>
            </a:extLst>
          </p:cNvPr>
          <p:cNvSpPr/>
          <p:nvPr/>
        </p:nvSpPr>
        <p:spPr>
          <a:xfrm>
            <a:off x="1295401" y="20318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42D0303-D4C1-A2A7-214F-A16B16F16C3B}"/>
              </a:ext>
            </a:extLst>
          </p:cNvPr>
          <p:cNvSpPr/>
          <p:nvPr/>
        </p:nvSpPr>
        <p:spPr>
          <a:xfrm>
            <a:off x="1295401" y="1104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36A051A9-FD2D-E927-48F6-B1B7EB9F4F3B}"/>
              </a:ext>
            </a:extLst>
          </p:cNvPr>
          <p:cNvSpPr txBox="1"/>
          <p:nvPr/>
        </p:nvSpPr>
        <p:spPr>
          <a:xfrm>
            <a:off x="2392307" y="223421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SHORT VIDEO</a:t>
            </a:r>
          </a:p>
        </p:txBody>
      </p:sp>
      <p:sp>
        <p:nvSpPr>
          <p:cNvPr id="16" name="TextBox 49">
            <a:extLst>
              <a:ext uri="{FF2B5EF4-FFF2-40B4-BE49-F238E27FC236}">
                <a16:creationId xmlns:a16="http://schemas.microsoft.com/office/drawing/2014/main" id="{682F4878-F0CE-1FB0-3F02-A9AEDCB41639}"/>
              </a:ext>
            </a:extLst>
          </p:cNvPr>
          <p:cNvSpPr txBox="1"/>
          <p:nvPr/>
        </p:nvSpPr>
        <p:spPr>
          <a:xfrm>
            <a:off x="2392307" y="3118087"/>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43" name="TextBox 48">
            <a:extLst>
              <a:ext uri="{FF2B5EF4-FFF2-40B4-BE49-F238E27FC236}">
                <a16:creationId xmlns:a16="http://schemas.microsoft.com/office/drawing/2014/main" id="{C52C7EFD-3CC1-2126-5F37-7600AF8DAA8B}"/>
              </a:ext>
            </a:extLst>
          </p:cNvPr>
          <p:cNvSpPr txBox="1"/>
          <p:nvPr/>
        </p:nvSpPr>
        <p:spPr>
          <a:xfrm>
            <a:off x="11155307" y="9003419"/>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
        <p:nvSpPr>
          <p:cNvPr id="44" name="TextBox 49">
            <a:extLst>
              <a:ext uri="{FF2B5EF4-FFF2-40B4-BE49-F238E27FC236}">
                <a16:creationId xmlns:a16="http://schemas.microsoft.com/office/drawing/2014/main" id="{6143B2AC-6792-AF1E-473D-54F60014AF61}"/>
              </a:ext>
            </a:extLst>
          </p:cNvPr>
          <p:cNvSpPr txBox="1"/>
          <p:nvPr/>
        </p:nvSpPr>
        <p:spPr>
          <a:xfrm>
            <a:off x="11155307" y="8159756"/>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a:t>
            </a:r>
          </a:p>
        </p:txBody>
      </p:sp>
      <p:sp>
        <p:nvSpPr>
          <p:cNvPr id="45" name="TextBox 50">
            <a:extLst>
              <a:ext uri="{FF2B5EF4-FFF2-40B4-BE49-F238E27FC236}">
                <a16:creationId xmlns:a16="http://schemas.microsoft.com/office/drawing/2014/main" id="{0E84BF6C-CC97-6B83-1C0B-BF19E152F64F}"/>
              </a:ext>
            </a:extLst>
          </p:cNvPr>
          <p:cNvSpPr txBox="1"/>
          <p:nvPr/>
        </p:nvSpPr>
        <p:spPr>
          <a:xfrm>
            <a:off x="11155307" y="469091"/>
            <a:ext cx="37798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46" name="Freeform 33">
            <a:extLst>
              <a:ext uri="{FF2B5EF4-FFF2-40B4-BE49-F238E27FC236}">
                <a16:creationId xmlns:a16="http://schemas.microsoft.com/office/drawing/2014/main" id="{69B6ACA5-E189-65DE-43CC-44F02D5F7A81}"/>
              </a:ext>
            </a:extLst>
          </p:cNvPr>
          <p:cNvSpPr/>
          <p:nvPr/>
        </p:nvSpPr>
        <p:spPr>
          <a:xfrm>
            <a:off x="10058401" y="8909076"/>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19</a:t>
            </a:r>
          </a:p>
        </p:txBody>
      </p:sp>
      <p:sp>
        <p:nvSpPr>
          <p:cNvPr id="47" name="Freeform 33">
            <a:extLst>
              <a:ext uri="{FF2B5EF4-FFF2-40B4-BE49-F238E27FC236}">
                <a16:creationId xmlns:a16="http://schemas.microsoft.com/office/drawing/2014/main" id="{A99358DF-8EB2-8495-63BC-C19F4A4096FE}"/>
              </a:ext>
            </a:extLst>
          </p:cNvPr>
          <p:cNvSpPr/>
          <p:nvPr/>
        </p:nvSpPr>
        <p:spPr>
          <a:xfrm>
            <a:off x="10050051" y="793805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18</a:t>
            </a:r>
          </a:p>
        </p:txBody>
      </p:sp>
      <p:sp>
        <p:nvSpPr>
          <p:cNvPr id="100" name="Freeform 33">
            <a:extLst>
              <a:ext uri="{FF2B5EF4-FFF2-40B4-BE49-F238E27FC236}">
                <a16:creationId xmlns:a16="http://schemas.microsoft.com/office/drawing/2014/main" id="{80DE1EF6-2319-82A7-B877-0BA63D551B6E}"/>
              </a:ext>
            </a:extLst>
          </p:cNvPr>
          <p:cNvSpPr/>
          <p:nvPr/>
        </p:nvSpPr>
        <p:spPr>
          <a:xfrm>
            <a:off x="10050051" y="6972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17</a:t>
            </a:r>
          </a:p>
        </p:txBody>
      </p:sp>
      <p:sp>
        <p:nvSpPr>
          <p:cNvPr id="101" name="Freeform 33">
            <a:extLst>
              <a:ext uri="{FF2B5EF4-FFF2-40B4-BE49-F238E27FC236}">
                <a16:creationId xmlns:a16="http://schemas.microsoft.com/office/drawing/2014/main" id="{31B7DDF4-49BF-0449-FCBE-41D67501EEAF}"/>
              </a:ext>
            </a:extLst>
          </p:cNvPr>
          <p:cNvSpPr/>
          <p:nvPr/>
        </p:nvSpPr>
        <p:spPr>
          <a:xfrm>
            <a:off x="10058401" y="11936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8CF32C59-673E-EABD-A9AD-EC9CDE63F7ED}"/>
              </a:ext>
            </a:extLst>
          </p:cNvPr>
          <p:cNvSpPr/>
          <p:nvPr/>
        </p:nvSpPr>
        <p:spPr>
          <a:xfrm>
            <a:off x="10058401" y="2667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CC607201-574A-1040-3C6F-31A5440B5E28}"/>
              </a:ext>
            </a:extLst>
          </p:cNvPr>
          <p:cNvSpPr txBox="1"/>
          <p:nvPr/>
        </p:nvSpPr>
        <p:spPr>
          <a:xfrm>
            <a:off x="11155307" y="1396010"/>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 TABLE</a:t>
            </a:r>
          </a:p>
        </p:txBody>
      </p:sp>
      <p:sp>
        <p:nvSpPr>
          <p:cNvPr id="112" name="TextBox 49">
            <a:extLst>
              <a:ext uri="{FF2B5EF4-FFF2-40B4-BE49-F238E27FC236}">
                <a16:creationId xmlns:a16="http://schemas.microsoft.com/office/drawing/2014/main" id="{5BB56E7B-FCE7-DB53-F503-F2D83ABA598E}"/>
              </a:ext>
            </a:extLst>
          </p:cNvPr>
          <p:cNvSpPr txBox="1"/>
          <p:nvPr/>
        </p:nvSpPr>
        <p:spPr>
          <a:xfrm>
            <a:off x="11155307" y="712844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CURRENT STATUS</a:t>
            </a:r>
          </a:p>
        </p:txBody>
      </p:sp>
      <p:sp>
        <p:nvSpPr>
          <p:cNvPr id="4" name="Freeform 33">
            <a:extLst>
              <a:ext uri="{FF2B5EF4-FFF2-40B4-BE49-F238E27FC236}">
                <a16:creationId xmlns:a16="http://schemas.microsoft.com/office/drawing/2014/main" id="{47C302A1-1D60-4A29-D2FA-87BF06952467}"/>
              </a:ext>
            </a:extLst>
          </p:cNvPr>
          <p:cNvSpPr/>
          <p:nvPr/>
        </p:nvSpPr>
        <p:spPr>
          <a:xfrm>
            <a:off x="10058400" y="21206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359E7EC0-7700-CDA0-3BB0-D83C313DC19D}"/>
              </a:ext>
            </a:extLst>
          </p:cNvPr>
          <p:cNvSpPr txBox="1"/>
          <p:nvPr/>
        </p:nvSpPr>
        <p:spPr>
          <a:xfrm>
            <a:off x="11155306" y="23230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4" name="Freeform 33">
            <a:extLst>
              <a:ext uri="{FF2B5EF4-FFF2-40B4-BE49-F238E27FC236}">
                <a16:creationId xmlns:a16="http://schemas.microsoft.com/office/drawing/2014/main" id="{E98E0DE1-3219-59D4-96BE-47E7B8EE8B79}"/>
              </a:ext>
            </a:extLst>
          </p:cNvPr>
          <p:cNvSpPr/>
          <p:nvPr/>
        </p:nvSpPr>
        <p:spPr>
          <a:xfrm>
            <a:off x="10058400" y="3111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DEE1AF1A-9EDB-4426-84BC-CBBC776D37CE}"/>
              </a:ext>
            </a:extLst>
          </p:cNvPr>
          <p:cNvSpPr txBox="1"/>
          <p:nvPr/>
        </p:nvSpPr>
        <p:spPr>
          <a:xfrm>
            <a:off x="11155306" y="33136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8" name="Freeform 33">
            <a:extLst>
              <a:ext uri="{FF2B5EF4-FFF2-40B4-BE49-F238E27FC236}">
                <a16:creationId xmlns:a16="http://schemas.microsoft.com/office/drawing/2014/main" id="{844B149D-57F3-E8F6-3493-E80AB9D1AE69}"/>
              </a:ext>
            </a:extLst>
          </p:cNvPr>
          <p:cNvSpPr/>
          <p:nvPr/>
        </p:nvSpPr>
        <p:spPr>
          <a:xfrm>
            <a:off x="10058400" y="4101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2E2C85CD-455C-2BD6-0C8D-56D8D5469DE2}"/>
              </a:ext>
            </a:extLst>
          </p:cNvPr>
          <p:cNvSpPr txBox="1"/>
          <p:nvPr/>
        </p:nvSpPr>
        <p:spPr>
          <a:xfrm>
            <a:off x="11155306" y="43042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 ARCHITECTURE</a:t>
            </a:r>
          </a:p>
        </p:txBody>
      </p:sp>
      <p:sp>
        <p:nvSpPr>
          <p:cNvPr id="20" name="Freeform 33">
            <a:extLst>
              <a:ext uri="{FF2B5EF4-FFF2-40B4-BE49-F238E27FC236}">
                <a16:creationId xmlns:a16="http://schemas.microsoft.com/office/drawing/2014/main" id="{ECBF4FB0-8EA6-24C4-FA74-A156C4BA2993}"/>
              </a:ext>
            </a:extLst>
          </p:cNvPr>
          <p:cNvSpPr/>
          <p:nvPr/>
        </p:nvSpPr>
        <p:spPr>
          <a:xfrm>
            <a:off x="10058400" y="5067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ACCC97D3-834A-02F8-F53B-E593237E3141}"/>
              </a:ext>
            </a:extLst>
          </p:cNvPr>
          <p:cNvSpPr txBox="1"/>
          <p:nvPr/>
        </p:nvSpPr>
        <p:spPr>
          <a:xfrm>
            <a:off x="11155306" y="5269691"/>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SYSTEM REQUIREMENT</a:t>
            </a:r>
          </a:p>
        </p:txBody>
      </p:sp>
      <p:sp>
        <p:nvSpPr>
          <p:cNvPr id="22" name="TextBox 21">
            <a:extLst>
              <a:ext uri="{FF2B5EF4-FFF2-40B4-BE49-F238E27FC236}">
                <a16:creationId xmlns:a16="http://schemas.microsoft.com/office/drawing/2014/main" id="{8D7AFBD6-B8F1-05C3-3D13-0D8C2A9889C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
        <p:nvSpPr>
          <p:cNvPr id="23" name="Freeform 33">
            <a:extLst>
              <a:ext uri="{FF2B5EF4-FFF2-40B4-BE49-F238E27FC236}">
                <a16:creationId xmlns:a16="http://schemas.microsoft.com/office/drawing/2014/main" id="{39FD3C05-F650-D53C-D849-1BD94F40EF6F}"/>
              </a:ext>
            </a:extLst>
          </p:cNvPr>
          <p:cNvSpPr/>
          <p:nvPr/>
        </p:nvSpPr>
        <p:spPr>
          <a:xfrm>
            <a:off x="10058400" y="6006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24" name="TextBox 49">
            <a:extLst>
              <a:ext uri="{FF2B5EF4-FFF2-40B4-BE49-F238E27FC236}">
                <a16:creationId xmlns:a16="http://schemas.microsoft.com/office/drawing/2014/main" id="{F50D74BA-6622-AE8D-4564-EBA245DD1C88}"/>
              </a:ext>
            </a:extLst>
          </p:cNvPr>
          <p:cNvSpPr txBox="1"/>
          <p:nvPr/>
        </p:nvSpPr>
        <p:spPr>
          <a:xfrm>
            <a:off x="11155306" y="6209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ENVIRONMENTAL SETUP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
        <p:nvSpPr>
          <p:cNvPr id="4" name="TextBox 3">
            <a:extLst>
              <a:ext uri="{FF2B5EF4-FFF2-40B4-BE49-F238E27FC236}">
                <a16:creationId xmlns:a16="http://schemas.microsoft.com/office/drawing/2014/main" id="{1DF34B93-383D-D87F-5EFD-5A1EF232D7B8}"/>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73346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023D-855D-4344-76F0-E0C13DD8D7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09C8BB-FD82-2C9C-8162-53E79EE2976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12500" r="-12500"/>
            </a:stretch>
          </a:blipFill>
        </p:spPr>
      </p:sp>
      <p:sp>
        <p:nvSpPr>
          <p:cNvPr id="27" name="TextBox 27">
            <a:extLst>
              <a:ext uri="{FF2B5EF4-FFF2-40B4-BE49-F238E27FC236}">
                <a16:creationId xmlns:a16="http://schemas.microsoft.com/office/drawing/2014/main" id="{4C38D6EE-557C-76B8-9520-9F391D8EA4F9}"/>
              </a:ext>
            </a:extLst>
          </p:cNvPr>
          <p:cNvSpPr txBox="1"/>
          <p:nvPr/>
        </p:nvSpPr>
        <p:spPr>
          <a:xfrm>
            <a:off x="713489" y="1515705"/>
            <a:ext cx="16708623" cy="7514857"/>
          </a:xfrm>
          <a:prstGeom prst="rect">
            <a:avLst/>
          </a:prstGeom>
        </p:spPr>
        <p:txBody>
          <a:bodyPr lIns="50800" tIns="50800" rIns="50800" bIns="50800" rtlCol="0" anchor="ctr"/>
          <a:lstStyle/>
          <a:p>
            <a:pPr algn="ctr">
              <a:lnSpc>
                <a:spcPts val="1960"/>
              </a:lnSpc>
            </a:pPr>
            <a:endParaRPr/>
          </a:p>
        </p:txBody>
      </p:sp>
      <p:sp>
        <p:nvSpPr>
          <p:cNvPr id="28" name="TextBox 28">
            <a:extLst>
              <a:ext uri="{FF2B5EF4-FFF2-40B4-BE49-F238E27FC236}">
                <a16:creationId xmlns:a16="http://schemas.microsoft.com/office/drawing/2014/main" id="{298072D8-1F1D-A836-384A-C27248FDD7F1}"/>
              </a:ext>
            </a:extLst>
          </p:cNvPr>
          <p:cNvSpPr txBox="1"/>
          <p:nvPr/>
        </p:nvSpPr>
        <p:spPr>
          <a:xfrm>
            <a:off x="880506" y="252102"/>
            <a:ext cx="10320894" cy="852798"/>
          </a:xfrm>
          <a:prstGeom prst="rect">
            <a:avLst/>
          </a:prstGeom>
        </p:spPr>
        <p:txBody>
          <a:bodyPr lIns="0" tIns="0" rIns="0" bIns="0" rtlCol="0" anchor="t">
            <a:spAutoFit/>
          </a:bodyPr>
          <a:lstStyle/>
          <a:p>
            <a:pPr algn="l">
              <a:lnSpc>
                <a:spcPts val="7366"/>
              </a:lnSpc>
            </a:pPr>
            <a:r>
              <a:rPr lang="en-US" sz="5500" dirty="0">
                <a:solidFill>
                  <a:srgbClr val="DEF0FF"/>
                </a:solidFill>
                <a:latin typeface="RQND Pro UltraWide"/>
                <a:ea typeface="RQND Pro UltraWide"/>
                <a:cs typeface="RQND Pro UltraWide"/>
                <a:sym typeface="RQND Pro UltraWide"/>
              </a:rPr>
              <a:t>SHORT VIDEO</a:t>
            </a:r>
          </a:p>
        </p:txBody>
      </p:sp>
      <p:sp>
        <p:nvSpPr>
          <p:cNvPr id="37" name="TextBox 36">
            <a:extLst>
              <a:ext uri="{FF2B5EF4-FFF2-40B4-BE49-F238E27FC236}">
                <a16:creationId xmlns:a16="http://schemas.microsoft.com/office/drawing/2014/main" id="{27B71E11-4181-BAB7-DD12-2CF2CFE46A8D}"/>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p>
        </p:txBody>
      </p:sp>
      <p:pic>
        <p:nvPicPr>
          <p:cNvPr id="4" name="Online Media 3" title="Real time pothole detection system on vehicle using improved YOLOv5 in Malaysia - (ROPAS)">
            <a:hlinkClick r:id="" action="ppaction://media"/>
            <a:extLst>
              <a:ext uri="{FF2B5EF4-FFF2-40B4-BE49-F238E27FC236}">
                <a16:creationId xmlns:a16="http://schemas.microsoft.com/office/drawing/2014/main" id="{A950D209-C3BF-5C51-C393-3D2A2361618F}"/>
              </a:ext>
            </a:extLst>
          </p:cNvPr>
          <p:cNvPicPr>
            <a:picLocks noRot="1" noChangeAspect="1"/>
          </p:cNvPicPr>
          <p:nvPr>
            <a:videoFile r:link="rId1"/>
          </p:nvPr>
        </p:nvPicPr>
        <p:blipFill>
          <a:blip r:embed="rId4"/>
          <a:stretch>
            <a:fillRect/>
          </a:stretch>
        </p:blipFill>
        <p:spPr>
          <a:xfrm>
            <a:off x="713489" y="1256438"/>
            <a:ext cx="16861022" cy="8192362"/>
          </a:xfrm>
          <a:prstGeom prst="rect">
            <a:avLst/>
          </a:prstGeom>
        </p:spPr>
      </p:pic>
      <p:sp>
        <p:nvSpPr>
          <p:cNvPr id="3" name="TextBox 2">
            <a:extLst>
              <a:ext uri="{FF2B5EF4-FFF2-40B4-BE49-F238E27FC236}">
                <a16:creationId xmlns:a16="http://schemas.microsoft.com/office/drawing/2014/main" id="{140585FA-7258-00E9-9229-71D3DF8CDE8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10044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sp>
        <p:nvSpPr>
          <p:cNvPr id="3" name="TextBox 2">
            <a:extLst>
              <a:ext uri="{FF2B5EF4-FFF2-40B4-BE49-F238E27FC236}">
                <a16:creationId xmlns:a16="http://schemas.microsoft.com/office/drawing/2014/main" id="{059F2E70-5619-F046-84C1-0E4D37811073}"/>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AF7D-932D-7981-17EA-6F6060C9EE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55F5BD-6BE4-155B-2066-53ACEB1C22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a:extLst>
              <a:ext uri="{FF2B5EF4-FFF2-40B4-BE49-F238E27FC236}">
                <a16:creationId xmlns:a16="http://schemas.microsoft.com/office/drawing/2014/main" id="{04EAC204-F54A-078F-0C39-796F8A3DCF34}"/>
              </a:ext>
            </a:extLst>
          </p:cNvPr>
          <p:cNvGrpSpPr/>
          <p:nvPr/>
        </p:nvGrpSpPr>
        <p:grpSpPr>
          <a:xfrm>
            <a:off x="609600" y="5143500"/>
            <a:ext cx="5849736" cy="3406655"/>
            <a:chOff x="0" y="0"/>
            <a:chExt cx="3341946" cy="1946218"/>
          </a:xfrm>
        </p:grpSpPr>
        <p:sp>
          <p:nvSpPr>
            <p:cNvPr id="15" name="Freeform 15">
              <a:extLst>
                <a:ext uri="{FF2B5EF4-FFF2-40B4-BE49-F238E27FC236}">
                  <a16:creationId xmlns:a16="http://schemas.microsoft.com/office/drawing/2014/main" id="{5F504AB8-A736-50BC-4B24-8B1A20017AB1}"/>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581" t="-99530" r="-61825"/>
              </a:stretch>
            </a:blipFill>
          </p:spPr>
        </p:sp>
      </p:grpSp>
      <p:grpSp>
        <p:nvGrpSpPr>
          <p:cNvPr id="16" name="Group 16">
            <a:extLst>
              <a:ext uri="{FF2B5EF4-FFF2-40B4-BE49-F238E27FC236}">
                <a16:creationId xmlns:a16="http://schemas.microsoft.com/office/drawing/2014/main" id="{8C12EB42-B884-8DB5-21E3-59B405E7E10F}"/>
              </a:ext>
            </a:extLst>
          </p:cNvPr>
          <p:cNvGrpSpPr/>
          <p:nvPr/>
        </p:nvGrpSpPr>
        <p:grpSpPr>
          <a:xfrm>
            <a:off x="609600" y="1741899"/>
            <a:ext cx="5849736" cy="3406655"/>
            <a:chOff x="0" y="0"/>
            <a:chExt cx="3341946" cy="1946218"/>
          </a:xfrm>
        </p:grpSpPr>
        <p:sp>
          <p:nvSpPr>
            <p:cNvPr id="17" name="Freeform 17">
              <a:extLst>
                <a:ext uri="{FF2B5EF4-FFF2-40B4-BE49-F238E27FC236}">
                  <a16:creationId xmlns:a16="http://schemas.microsoft.com/office/drawing/2014/main" id="{6C8A38EE-FD0E-F165-7227-2AC03EA40EB0}"/>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396" r="-62689" b="-100307"/>
              </a:stretch>
            </a:blipFill>
          </p:spPr>
        </p:sp>
      </p:grpSp>
      <p:grpSp>
        <p:nvGrpSpPr>
          <p:cNvPr id="25" name="Group 25">
            <a:extLst>
              <a:ext uri="{FF2B5EF4-FFF2-40B4-BE49-F238E27FC236}">
                <a16:creationId xmlns:a16="http://schemas.microsoft.com/office/drawing/2014/main" id="{56047F1F-25C7-329C-F5F7-88DECFBF2C34}"/>
              </a:ext>
            </a:extLst>
          </p:cNvPr>
          <p:cNvGrpSpPr/>
          <p:nvPr/>
        </p:nvGrpSpPr>
        <p:grpSpPr>
          <a:xfrm>
            <a:off x="8153400" y="647702"/>
            <a:ext cx="9292194" cy="8424983"/>
            <a:chOff x="0" y="0"/>
            <a:chExt cx="3318079" cy="1670827"/>
          </a:xfrm>
        </p:grpSpPr>
        <p:sp>
          <p:nvSpPr>
            <p:cNvPr id="26" name="Freeform 26">
              <a:extLst>
                <a:ext uri="{FF2B5EF4-FFF2-40B4-BE49-F238E27FC236}">
                  <a16:creationId xmlns:a16="http://schemas.microsoft.com/office/drawing/2014/main" id="{8D8A6073-9DA3-3E2E-2F51-539A46A7199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E0361C0-B74A-A77C-6833-7ACB9883FDCF}"/>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873B575A-3C14-43F1-DB31-0A97B8CD2F56}"/>
              </a:ext>
            </a:extLst>
          </p:cNvPr>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objective</a:t>
            </a:r>
          </a:p>
        </p:txBody>
      </p:sp>
      <p:sp>
        <p:nvSpPr>
          <p:cNvPr id="29" name="TextBox 29">
            <a:extLst>
              <a:ext uri="{FF2B5EF4-FFF2-40B4-BE49-F238E27FC236}">
                <a16:creationId xmlns:a16="http://schemas.microsoft.com/office/drawing/2014/main" id="{AB20D6F7-B1B1-E4D8-4AB2-CA58E8083513}"/>
              </a:ext>
            </a:extLst>
          </p:cNvPr>
          <p:cNvSpPr txBox="1"/>
          <p:nvPr/>
        </p:nvSpPr>
        <p:spPr>
          <a:xfrm>
            <a:off x="8961612" y="913211"/>
            <a:ext cx="7878588" cy="492443"/>
          </a:xfrm>
          <a:prstGeom prst="rect">
            <a:avLst/>
          </a:prstGeom>
        </p:spPr>
        <p:txBody>
          <a:bodyPr wrap="square"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WHY AM I DOING THIS PROJECT?</a:t>
            </a:r>
          </a:p>
        </p:txBody>
      </p:sp>
      <p:sp>
        <p:nvSpPr>
          <p:cNvPr id="36" name="TextBox 36">
            <a:extLst>
              <a:ext uri="{FF2B5EF4-FFF2-40B4-BE49-F238E27FC236}">
                <a16:creationId xmlns:a16="http://schemas.microsoft.com/office/drawing/2014/main" id="{3EDC1E2E-A5C1-C20E-C2B3-11CFDC03D160}"/>
              </a:ext>
            </a:extLst>
          </p:cNvPr>
          <p:cNvSpPr txBox="1"/>
          <p:nvPr/>
        </p:nvSpPr>
        <p:spPr>
          <a:xfrm>
            <a:off x="8574603" y="1932648"/>
            <a:ext cx="8751363" cy="1231106"/>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Existing AV systems fail on irregular roads common in developing countries. Potholes and surface deformities pose major safety and comfort issues. High-end LiDAR-based systems are too expensive for mass adoption. Need for a cost-effective, vision-only solution for real-time road anomaly detection.</a:t>
            </a:r>
          </a:p>
        </p:txBody>
      </p:sp>
      <p:sp>
        <p:nvSpPr>
          <p:cNvPr id="3" name="TextBox 2">
            <a:extLst>
              <a:ext uri="{FF2B5EF4-FFF2-40B4-BE49-F238E27FC236}">
                <a16:creationId xmlns:a16="http://schemas.microsoft.com/office/drawing/2014/main" id="{11F8A8A3-AC14-196E-0ECF-96D46B196027}"/>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sp>
        <p:nvSpPr>
          <p:cNvPr id="4" name="TextBox 29">
            <a:extLst>
              <a:ext uri="{FF2B5EF4-FFF2-40B4-BE49-F238E27FC236}">
                <a16:creationId xmlns:a16="http://schemas.microsoft.com/office/drawing/2014/main" id="{3CA8ED35-FB55-18FE-8756-B7D03944B67D}"/>
              </a:ext>
            </a:extLst>
          </p:cNvPr>
          <p:cNvSpPr txBox="1"/>
          <p:nvPr/>
        </p:nvSpPr>
        <p:spPr>
          <a:xfrm>
            <a:off x="9317668" y="3852624"/>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HOW?</a:t>
            </a:r>
          </a:p>
        </p:txBody>
      </p:sp>
      <p:sp>
        <p:nvSpPr>
          <p:cNvPr id="5" name="TextBox 29">
            <a:extLst>
              <a:ext uri="{FF2B5EF4-FFF2-40B4-BE49-F238E27FC236}">
                <a16:creationId xmlns:a16="http://schemas.microsoft.com/office/drawing/2014/main" id="{9A062955-748D-1A84-2515-A9AEF6FCE026}"/>
              </a:ext>
            </a:extLst>
          </p:cNvPr>
          <p:cNvSpPr txBox="1"/>
          <p:nvPr/>
        </p:nvSpPr>
        <p:spPr>
          <a:xfrm>
            <a:off x="9239189" y="6440163"/>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TARGET AUDIENCE</a:t>
            </a:r>
          </a:p>
        </p:txBody>
      </p:sp>
      <p:sp>
        <p:nvSpPr>
          <p:cNvPr id="7" name="TextBox 36">
            <a:extLst>
              <a:ext uri="{FF2B5EF4-FFF2-40B4-BE49-F238E27FC236}">
                <a16:creationId xmlns:a16="http://schemas.microsoft.com/office/drawing/2014/main" id="{669BE870-2714-CD50-9471-A2FD97BF537B}"/>
              </a:ext>
            </a:extLst>
          </p:cNvPr>
          <p:cNvSpPr txBox="1"/>
          <p:nvPr/>
        </p:nvSpPr>
        <p:spPr>
          <a:xfrm>
            <a:off x="8595606" y="4691861"/>
            <a:ext cx="8672158" cy="1538883"/>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Use a monocular RGB camera to capture continuous road footage. Apply YOLOv8 for anomaly detection and Multiple Depth Estimation Accuracy with Single Network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for depth estimation. Build a 3D mesh of the road using Open3D to estimate pothole size and depth. Integrate a decision engine for autonomous responses like slowing or avoidance.</a:t>
            </a:r>
          </a:p>
        </p:txBody>
      </p:sp>
      <p:sp>
        <p:nvSpPr>
          <p:cNvPr id="8" name="TextBox 36">
            <a:extLst>
              <a:ext uri="{FF2B5EF4-FFF2-40B4-BE49-F238E27FC236}">
                <a16:creationId xmlns:a16="http://schemas.microsoft.com/office/drawing/2014/main" id="{34F9CE79-5609-806F-5C34-230A8E2690DD}"/>
              </a:ext>
            </a:extLst>
          </p:cNvPr>
          <p:cNvSpPr txBox="1"/>
          <p:nvPr/>
        </p:nvSpPr>
        <p:spPr>
          <a:xfrm>
            <a:off x="8715366" y="7190800"/>
            <a:ext cx="8610600" cy="1231106"/>
          </a:xfrm>
          <a:prstGeom prst="rect">
            <a:avLst/>
          </a:prstGeom>
        </p:spPr>
        <p:txBody>
          <a:bodyPr wrap="square" lIns="0" tIns="0" rIns="0" bIns="0" rtlCol="0" anchor="t">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Autonomous vehicle developers</a:t>
            </a:r>
            <a:r>
              <a:rPr lang="en-US" sz="2000" dirty="0">
                <a:solidFill>
                  <a:schemeClr val="bg1"/>
                </a:solidFill>
                <a:latin typeface="Times New Roman" panose="02020603050405020304" pitchFamily="18" charset="0"/>
                <a:cs typeface="Times New Roman" panose="02020603050405020304" pitchFamily="18" charset="0"/>
              </a:rPr>
              <a:t> seeking low-cost perception solutions.</a:t>
            </a:r>
          </a:p>
          <a:p>
            <a:pPr algn="just"/>
            <a:r>
              <a:rPr lang="en-US" sz="2000" b="1" dirty="0">
                <a:solidFill>
                  <a:schemeClr val="bg1"/>
                </a:solidFill>
                <a:latin typeface="Times New Roman" panose="02020603050405020304" pitchFamily="18" charset="0"/>
                <a:cs typeface="Times New Roman" panose="02020603050405020304" pitchFamily="18" charset="0"/>
              </a:rPr>
              <a:t>Road and transport authorities</a:t>
            </a:r>
            <a:r>
              <a:rPr lang="en-US" sz="2000" dirty="0">
                <a:solidFill>
                  <a:schemeClr val="bg1"/>
                </a:solidFill>
                <a:latin typeface="Times New Roman" panose="02020603050405020304" pitchFamily="18" charset="0"/>
                <a:cs typeface="Times New Roman" panose="02020603050405020304" pitchFamily="18" charset="0"/>
              </a:rPr>
              <a:t> for automated road condition monitoring.</a:t>
            </a:r>
          </a:p>
          <a:p>
            <a:pPr algn="just"/>
            <a:r>
              <a:rPr lang="en-US" sz="2000" b="1" dirty="0">
                <a:solidFill>
                  <a:schemeClr val="bg1"/>
                </a:solidFill>
                <a:latin typeface="Times New Roman" panose="02020603050405020304" pitchFamily="18" charset="0"/>
                <a:cs typeface="Times New Roman" panose="02020603050405020304" pitchFamily="18" charset="0"/>
              </a:rPr>
              <a:t>Fleet operators</a:t>
            </a:r>
            <a:r>
              <a:rPr lang="en-US" sz="2000" dirty="0">
                <a:solidFill>
                  <a:schemeClr val="bg1"/>
                </a:solidFill>
                <a:latin typeface="Times New Roman" panose="02020603050405020304" pitchFamily="18" charset="0"/>
                <a:cs typeface="Times New Roman" panose="02020603050405020304" pitchFamily="18" charset="0"/>
              </a:rPr>
              <a:t> aiming to improve safety and reduce maintenance costs.</a:t>
            </a:r>
          </a:p>
          <a:p>
            <a:pPr algn="just"/>
            <a:r>
              <a:rPr lang="en-US" sz="2000" b="1" dirty="0">
                <a:solidFill>
                  <a:schemeClr val="bg1"/>
                </a:solidFill>
                <a:latin typeface="Times New Roman" panose="02020603050405020304" pitchFamily="18" charset="0"/>
                <a:cs typeface="Times New Roman" panose="02020603050405020304" pitchFamily="18" charset="0"/>
              </a:rPr>
              <a:t>Researchers and innovators</a:t>
            </a:r>
            <a:r>
              <a:rPr lang="en-US" sz="2000" dirty="0">
                <a:solidFill>
                  <a:schemeClr val="bg1"/>
                </a:solidFill>
                <a:latin typeface="Times New Roman" panose="02020603050405020304" pitchFamily="18" charset="0"/>
                <a:cs typeface="Times New Roman" panose="02020603050405020304" pitchFamily="18" charset="0"/>
              </a:rPr>
              <a:t> in AI-based smart mobility systems.</a:t>
            </a:r>
          </a:p>
        </p:txBody>
      </p:sp>
      <p:sp>
        <p:nvSpPr>
          <p:cNvPr id="6" name="TextBox 5">
            <a:extLst>
              <a:ext uri="{FF2B5EF4-FFF2-40B4-BE49-F238E27FC236}">
                <a16:creationId xmlns:a16="http://schemas.microsoft.com/office/drawing/2014/main" id="{84F1D092-A351-8101-36F5-94515A29DFC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208904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20" name="TextBox 20"/>
          <p:cNvSpPr txBox="1"/>
          <p:nvPr/>
        </p:nvSpPr>
        <p:spPr>
          <a:xfrm>
            <a:off x="888004" y="182314"/>
            <a:ext cx="8027396"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introduction</a:t>
            </a:r>
          </a:p>
        </p:txBody>
      </p:sp>
      <p:grpSp>
        <p:nvGrpSpPr>
          <p:cNvPr id="21" name="Group 21"/>
          <p:cNvGrpSpPr/>
          <p:nvPr/>
        </p:nvGrpSpPr>
        <p:grpSpPr>
          <a:xfrm>
            <a:off x="838200" y="1562100"/>
            <a:ext cx="11353800" cy="7848600"/>
            <a:chOff x="0" y="0"/>
            <a:chExt cx="2897831" cy="1469323"/>
          </a:xfrm>
        </p:grpSpPr>
        <p:sp>
          <p:nvSpPr>
            <p:cNvPr id="22" name="Freeform 22"/>
            <p:cNvSpPr/>
            <p:nvPr/>
          </p:nvSpPr>
          <p:spPr>
            <a:xfrm>
              <a:off x="0" y="0"/>
              <a:ext cx="2897831" cy="1469323"/>
            </a:xfrm>
            <a:custGeom>
              <a:avLst/>
              <a:gdLst/>
              <a:ahLst/>
              <a:cxnLst/>
              <a:rect l="l" t="t" r="r" b="b"/>
              <a:pathLst>
                <a:path w="2897831" h="1469323">
                  <a:moveTo>
                    <a:pt x="2737811" y="0"/>
                  </a:moveTo>
                  <a:lnTo>
                    <a:pt x="160020" y="0"/>
                  </a:lnTo>
                  <a:lnTo>
                    <a:pt x="0" y="160020"/>
                  </a:lnTo>
                  <a:lnTo>
                    <a:pt x="0" y="1309303"/>
                  </a:lnTo>
                  <a:lnTo>
                    <a:pt x="160020" y="1469323"/>
                  </a:lnTo>
                  <a:lnTo>
                    <a:pt x="2737811" y="1469323"/>
                  </a:lnTo>
                  <a:lnTo>
                    <a:pt x="2897831" y="1309303"/>
                  </a:lnTo>
                  <a:lnTo>
                    <a:pt x="2897831" y="160020"/>
                  </a:lnTo>
                  <a:lnTo>
                    <a:pt x="2737811"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770831" cy="1399473"/>
            </a:xfrm>
            <a:prstGeom prst="rect">
              <a:avLst/>
            </a:prstGeom>
          </p:spPr>
          <p:txBody>
            <a:bodyPr lIns="50800" tIns="50800" rIns="50800" bIns="50800" rtlCol="0" anchor="ctr"/>
            <a:lstStyle/>
            <a:p>
              <a:pPr algn="ctr">
                <a:lnSpc>
                  <a:spcPts val="1960"/>
                </a:lnSpc>
              </a:pPr>
              <a:endParaRPr/>
            </a:p>
          </p:txBody>
        </p:sp>
      </p:grpSp>
      <p:sp>
        <p:nvSpPr>
          <p:cNvPr id="30" name="TextBox 30"/>
          <p:cNvSpPr txBox="1"/>
          <p:nvPr/>
        </p:nvSpPr>
        <p:spPr>
          <a:xfrm>
            <a:off x="1707924" y="1997519"/>
            <a:ext cx="9722076" cy="7032181"/>
          </a:xfrm>
          <a:prstGeom prst="rect">
            <a:avLst/>
          </a:prstGeom>
        </p:spPr>
        <p:txBody>
          <a:bodyPr wrap="square" lIns="0" tIns="0" rIns="0" bIns="0" rtlCol="0" anchor="t">
            <a:spAutoFit/>
          </a:bodyPr>
          <a:lstStyle/>
          <a:p>
            <a:pPr algn="just">
              <a:lnSpc>
                <a:spcPct val="150000"/>
              </a:lnSpc>
            </a:pPr>
            <a:r>
              <a:rPr lang="en-US" sz="2800" dirty="0">
                <a:solidFill>
                  <a:schemeClr val="bg1"/>
                </a:solidFill>
                <a:latin typeface="Times New Roman" panose="02020603050405020304" pitchFamily="18" charset="0"/>
                <a:cs typeface="Times New Roman" panose="02020603050405020304" pitchFamily="18" charset="0"/>
              </a:rPr>
              <a:t>Autonomous vehicles (AVs) rely on object detection and navigation systems optimized for structured and well-maintained roads. In countries like India, road infrastructure is often inconsistent, featuring frequent potholes, speed bumps, and surface deformities. Standard AV systems struggle to operate reliably in such conditions, impacting safety and ride quality. Surface anomalies reduce ride comfort and can be significant safety hazards. Conventional solutions using LiDAR and high-end sensors are expensive and not suitable for mass deployment. There is a pressing need for a cost-effective, camera-based solution capable of detecting, analyzing, and responding to road surface anomalies in real-time.</a:t>
            </a:r>
          </a:p>
        </p:txBody>
      </p:sp>
      <p:sp>
        <p:nvSpPr>
          <p:cNvPr id="31" name="TextBox 30">
            <a:extLst>
              <a:ext uri="{FF2B5EF4-FFF2-40B4-BE49-F238E27FC236}">
                <a16:creationId xmlns:a16="http://schemas.microsoft.com/office/drawing/2014/main" id="{044C6016-264D-F9A8-E01E-D9AC0C064C4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Rectangle: Top Corners Snipped 2">
            <a:extLst>
              <a:ext uri="{FF2B5EF4-FFF2-40B4-BE49-F238E27FC236}">
                <a16:creationId xmlns:a16="http://schemas.microsoft.com/office/drawing/2014/main" id="{EFAEC0BC-C58F-2836-F038-0DCF2D937354}"/>
              </a:ext>
            </a:extLst>
          </p:cNvPr>
          <p:cNvSpPr/>
          <p:nvPr/>
        </p:nvSpPr>
        <p:spPr>
          <a:xfrm>
            <a:off x="13182601" y="2109371"/>
            <a:ext cx="4419600" cy="7032181"/>
          </a:xfrm>
          <a:prstGeom prst="snip2SameRect">
            <a:avLst>
              <a:gd name="adj1" fmla="val 16667"/>
              <a:gd name="adj2" fmla="val 17907"/>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CB423A6-982B-8031-3624-31837A8FF1B9}"/>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
        <p:nvSpPr>
          <p:cNvPr id="3" name="TextBox 2">
            <a:extLst>
              <a:ext uri="{FF2B5EF4-FFF2-40B4-BE49-F238E27FC236}">
                <a16:creationId xmlns:a16="http://schemas.microsoft.com/office/drawing/2014/main" id="{58DBFE84-3CB5-EA0C-CB7B-464BF633E24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70" y="1104900"/>
            <a:ext cx="12344400" cy="9182100"/>
          </a:xfrm>
          <a:prstGeom prst="rect">
            <a:avLst/>
          </a:prstGeom>
        </p:spPr>
      </p:pic>
      <p:sp>
        <p:nvSpPr>
          <p:cNvPr id="3" name="TextBox 2">
            <a:extLst>
              <a:ext uri="{FF2B5EF4-FFF2-40B4-BE49-F238E27FC236}">
                <a16:creationId xmlns:a16="http://schemas.microsoft.com/office/drawing/2014/main" id="{73D2300F-9240-4642-6075-B4618ED9082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endParaRPr lang="en-US" dirty="0"/>
          </a:p>
        </p:txBody>
      </p:sp>
      <p:sp>
        <p:nvSpPr>
          <p:cNvPr id="14" name="TextBox 14"/>
          <p:cNvSpPr txBox="1"/>
          <p:nvPr/>
        </p:nvSpPr>
        <p:spPr>
          <a:xfrm>
            <a:off x="914400" y="186997"/>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ADVANTAGES AND DISADVANTAGES</a:t>
            </a:r>
          </a:p>
        </p:txBody>
      </p:sp>
      <p:grpSp>
        <p:nvGrpSpPr>
          <p:cNvPr id="20" name="Group 20"/>
          <p:cNvGrpSpPr/>
          <p:nvPr/>
        </p:nvGrpSpPr>
        <p:grpSpPr>
          <a:xfrm>
            <a:off x="444806" y="1714500"/>
            <a:ext cx="17576220" cy="6799764"/>
            <a:chOff x="63500" y="6350"/>
            <a:chExt cx="6276160" cy="2502887"/>
          </a:xfrm>
        </p:grpSpPr>
        <p:sp>
          <p:nvSpPr>
            <p:cNvPr id="21" name="Freeform 21"/>
            <p:cNvSpPr/>
            <p:nvPr/>
          </p:nvSpPr>
          <p:spPr>
            <a:xfrm>
              <a:off x="3821283" y="186429"/>
              <a:ext cx="2518377" cy="2322808"/>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a:p>
              <a:pPr algn="ctr"/>
              <a:r>
                <a:rPr lang="en-US" sz="2800" dirty="0">
                  <a:solidFill>
                    <a:schemeClr val="bg1"/>
                  </a:solidFill>
                  <a:latin typeface="Times New Roman" panose="02020603050405020304" pitchFamily="18" charset="0"/>
                  <a:cs typeface="Times New Roman" panose="02020603050405020304" pitchFamily="18" charset="0"/>
                </a:rPr>
                <a:t>DISADVANTAGES</a:t>
              </a:r>
            </a:p>
            <a:p>
              <a:endParaRPr lang="en-US" dirty="0">
                <a:solidFill>
                  <a:schemeClr val="bg1"/>
                </a:solidFill>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hardware cost due to LiDAR integration</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LiDAR accuracy drops when potholes contain </a:t>
              </a:r>
              <a:r>
                <a:rPr lang="en-US" sz="2000" b="1" dirty="0">
                  <a:solidFill>
                    <a:schemeClr val="bg1"/>
                  </a:solidFill>
                  <a:latin typeface="Times New Roman" panose="02020603050405020304" pitchFamily="18" charset="0"/>
                  <a:cs typeface="Times New Roman" panose="02020603050405020304" pitchFamily="18" charset="0"/>
                </a:rPr>
                <a:t>water or reflective surfaces</a:t>
              </a:r>
            </a:p>
            <a:p>
              <a:pPr marL="285750" indent="-285750">
                <a:buFont typeface="Wingdings" panose="05000000000000000000" pitchFamily="2" charset="2"/>
                <a:buChar char="v"/>
              </a:pPr>
              <a:endParaRPr lang="en-US" sz="2000"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System requires good calibration and synchronization between sensors</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Computationally heavy for low-power embedded systems</a:t>
              </a:r>
            </a:p>
          </p:txBody>
        </p:sp>
        <p:sp>
          <p:nvSpPr>
            <p:cNvPr id="22" name="TextBox 22"/>
            <p:cNvSpPr txBox="1"/>
            <p:nvPr/>
          </p:nvSpPr>
          <p:spPr>
            <a:xfrm>
              <a:off x="63500" y="6350"/>
              <a:ext cx="2391377" cy="2252958"/>
            </a:xfrm>
            <a:prstGeom prst="rect">
              <a:avLst/>
            </a:prstGeom>
          </p:spPr>
          <p:txBody>
            <a:bodyPr lIns="50800" tIns="50800" rIns="50800" bIns="50800" rtlCol="0" anchor="ctr"/>
            <a:lstStyle/>
            <a:p>
              <a:pPr algn="ctr">
                <a:lnSpc>
                  <a:spcPts val="1960"/>
                </a:lnSpc>
              </a:pPr>
              <a:endParaRPr/>
            </a:p>
          </p:txBody>
        </p:sp>
      </p:grpSp>
      <p:grpSp>
        <p:nvGrpSpPr>
          <p:cNvPr id="34" name="Group 34"/>
          <p:cNvGrpSpPr/>
          <p:nvPr/>
        </p:nvGrpSpPr>
        <p:grpSpPr>
          <a:xfrm>
            <a:off x="7539793" y="2648654"/>
            <a:ext cx="3356807" cy="2342446"/>
            <a:chOff x="0" y="0"/>
            <a:chExt cx="3003187" cy="2160973"/>
          </a:xfrm>
        </p:grpSpPr>
        <p:sp>
          <p:nvSpPr>
            <p:cNvPr id="35" name="Freeform 35"/>
            <p:cNvSpPr/>
            <p:nvPr/>
          </p:nvSpPr>
          <p:spPr>
            <a:xfrm>
              <a:off x="0" y="0"/>
              <a:ext cx="3003187" cy="2160973"/>
            </a:xfrm>
            <a:custGeom>
              <a:avLst/>
              <a:gdLst/>
              <a:ahLst/>
              <a:cxnLst/>
              <a:rect l="l" t="t" r="r" b="b"/>
              <a:pathLst>
                <a:path w="3003187" h="2160973">
                  <a:moveTo>
                    <a:pt x="2765062" y="0"/>
                  </a:moveTo>
                  <a:lnTo>
                    <a:pt x="3003187" y="238125"/>
                  </a:lnTo>
                  <a:lnTo>
                    <a:pt x="3003187" y="1922848"/>
                  </a:lnTo>
                  <a:lnTo>
                    <a:pt x="2765062" y="2160973"/>
                  </a:lnTo>
                  <a:lnTo>
                    <a:pt x="238125" y="2160973"/>
                  </a:lnTo>
                  <a:lnTo>
                    <a:pt x="0" y="1922848"/>
                  </a:lnTo>
                  <a:lnTo>
                    <a:pt x="0" y="238125"/>
                  </a:lnTo>
                  <a:lnTo>
                    <a:pt x="238125" y="0"/>
                  </a:lnTo>
                  <a:lnTo>
                    <a:pt x="2765062" y="0"/>
                  </a:lnTo>
                  <a:close/>
                </a:path>
              </a:pathLst>
            </a:custGeom>
            <a:blipFill>
              <a:blip r:embed="rId3"/>
              <a:stretch>
                <a:fillRect l="-13960" r="-13960"/>
              </a:stretch>
            </a:blipFill>
          </p:spPr>
        </p:sp>
      </p:grpSp>
      <p:sp>
        <p:nvSpPr>
          <p:cNvPr id="36" name="TextBox 35">
            <a:extLst>
              <a:ext uri="{FF2B5EF4-FFF2-40B4-BE49-F238E27FC236}">
                <a16:creationId xmlns:a16="http://schemas.microsoft.com/office/drawing/2014/main" id="{56E7BAA0-6DC4-8597-F727-EE723222150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1" name="Freeform 21">
            <a:extLst>
              <a:ext uri="{FF2B5EF4-FFF2-40B4-BE49-F238E27FC236}">
                <a16:creationId xmlns:a16="http://schemas.microsoft.com/office/drawing/2014/main" id="{2B1E799C-5783-9D0D-6A11-4C066020B270}"/>
              </a:ext>
            </a:extLst>
          </p:cNvPr>
          <p:cNvSpPr/>
          <p:nvPr/>
        </p:nvSpPr>
        <p:spPr>
          <a:xfrm>
            <a:off x="381094" y="2185769"/>
            <a:ext cx="7052648" cy="6310531"/>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pPr algn="ctr"/>
            <a:endParaRPr lang="en-US" dirty="0">
              <a:solidFill>
                <a:schemeClr val="bg1"/>
              </a:solidFill>
              <a:latin typeface="Times New Roman" panose="02020603050405020304" pitchFamily="18" charset="0"/>
              <a:cs typeface="Times New Roman" panose="02020603050405020304" pitchFamily="18" charset="0"/>
            </a:endParaRPr>
          </a:p>
          <a:p>
            <a:pPr algn="ctr"/>
            <a:r>
              <a:rPr lang="en-US" sz="2800" dirty="0">
                <a:solidFill>
                  <a:schemeClr val="bg1"/>
                </a:solidFill>
                <a:latin typeface="Times New Roman" panose="02020603050405020304" pitchFamily="18" charset="0"/>
                <a:cs typeface="Times New Roman" panose="02020603050405020304" pitchFamily="18" charset="0"/>
              </a:rPr>
              <a:t>ADVANTAGES</a:t>
            </a:r>
          </a:p>
          <a:p>
            <a:pPr algn="ctr"/>
            <a:endParaRPr lang="en-US" sz="28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Detection </a:t>
            </a:r>
            <a:r>
              <a:rPr lang="en-US" sz="2000" b="1" dirty="0">
                <a:solidFill>
                  <a:schemeClr val="bg1"/>
                </a:solidFill>
                <a:latin typeface="Times New Roman" panose="02020603050405020304" pitchFamily="18" charset="0"/>
                <a:cs typeface="Times New Roman" panose="02020603050405020304" pitchFamily="18" charset="0"/>
              </a:rPr>
              <a:t>Accuracy (86%)</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Reliability</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Integration of </a:t>
            </a:r>
            <a:r>
              <a:rPr lang="en-US" sz="2000" b="1" dirty="0">
                <a:solidFill>
                  <a:schemeClr val="bg1"/>
                </a:solidFill>
                <a:latin typeface="Times New Roman" panose="02020603050405020304" pitchFamily="18" charset="0"/>
                <a:cs typeface="Times New Roman" panose="02020603050405020304" pitchFamily="18" charset="0"/>
              </a:rPr>
              <a:t>Vision</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LiDAR</a:t>
            </a:r>
            <a:r>
              <a:rPr lang="en-US" sz="2000" dirty="0">
                <a:solidFill>
                  <a:schemeClr val="bg1"/>
                </a:solidFill>
                <a:latin typeface="Times New Roman" panose="02020603050405020304" pitchFamily="18" charset="0"/>
                <a:cs typeface="Times New Roman" panose="02020603050405020304" pitchFamily="18" charset="0"/>
              </a:rPr>
              <a:t> (2D + 3D Fusion)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Real-Time</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Automated</a:t>
            </a:r>
            <a:r>
              <a:rPr lang="en-US" sz="2000" dirty="0">
                <a:solidFill>
                  <a:schemeClr val="bg1"/>
                </a:solidFill>
                <a:latin typeface="Times New Roman" panose="02020603050405020304" pitchFamily="18" charset="0"/>
                <a:cs typeface="Times New Roman" panose="02020603050405020304" pitchFamily="18" charset="0"/>
              </a:rPr>
              <a:t> Operation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Automated feature extraction</a:t>
            </a:r>
            <a:r>
              <a:rPr lang="en-US" sz="2000" dirty="0">
                <a:solidFill>
                  <a:schemeClr val="bg1"/>
                </a:solidFill>
                <a:latin typeface="Times New Roman" panose="02020603050405020304" pitchFamily="18" charset="0"/>
                <a:cs typeface="Times New Roman" panose="02020603050405020304" pitchFamily="18" charset="0"/>
              </a:rPr>
              <a:t> (area, volume, depth) via Convex Hull</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GNSS-Based </a:t>
            </a:r>
            <a:r>
              <a:rPr lang="en-US" sz="2000" b="1" dirty="0">
                <a:solidFill>
                  <a:schemeClr val="bg1"/>
                </a:solidFill>
                <a:latin typeface="Times New Roman" panose="02020603050405020304" pitchFamily="18" charset="0"/>
                <a:cs typeface="Times New Roman" panose="02020603050405020304" pitchFamily="18" charset="0"/>
              </a:rPr>
              <a:t>Geo-Mapping</a:t>
            </a:r>
            <a:r>
              <a:rPr lang="en-US" sz="2000" dirty="0">
                <a:solidFill>
                  <a:schemeClr val="bg1"/>
                </a:solidFill>
                <a:latin typeface="Times New Roman" panose="02020603050405020304" pitchFamily="18" charset="0"/>
                <a:cs typeface="Times New Roman" panose="02020603050405020304" pitchFamily="18" charset="0"/>
              </a:rPr>
              <a:t> and Visualization</a:t>
            </a:r>
          </a:p>
          <a:p>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Robustness Across Lighting and </a:t>
            </a:r>
            <a:r>
              <a:rPr lang="en-US" sz="2000" b="1" dirty="0">
                <a:solidFill>
                  <a:schemeClr val="bg1"/>
                </a:solidFill>
                <a:latin typeface="Times New Roman" panose="02020603050405020304" pitchFamily="18" charset="0"/>
                <a:cs typeface="Times New Roman" panose="02020603050405020304" pitchFamily="18" charset="0"/>
              </a:rPr>
              <a:t>Environmental</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Conditions</a:t>
            </a:r>
          </a:p>
        </p:txBody>
      </p:sp>
      <p:sp>
        <p:nvSpPr>
          <p:cNvPr id="3" name="TextBox 2">
            <a:extLst>
              <a:ext uri="{FF2B5EF4-FFF2-40B4-BE49-F238E27FC236}">
                <a16:creationId xmlns:a16="http://schemas.microsoft.com/office/drawing/2014/main" id="{851B2CDA-F0D5-859B-1277-B56BBC8DD9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209800" y="1714500"/>
            <a:ext cx="13792200" cy="7227941"/>
          </a:xfrm>
          <a:prstGeom prst="rect">
            <a:avLst/>
          </a:prstGeom>
        </p:spPr>
        <p:txBody>
          <a:bodyPr wrap="square" lIns="0" tIns="0" rIns="0" bIns="0" rtlCol="0" anchor="t">
            <a:spAutoFit/>
          </a:bodyPr>
          <a:lstStyle/>
          <a:p>
            <a:pPr algn="just">
              <a:lnSpc>
                <a:spcPct val="250000"/>
              </a:lnSpc>
            </a:pPr>
            <a:r>
              <a:rPr lang="en-US" sz="2400" dirty="0">
                <a:solidFill>
                  <a:schemeClr val="bg1"/>
                </a:solidFill>
                <a:latin typeface="Times New Roman" panose="02020603050405020304" pitchFamily="18" charset="0"/>
                <a:cs typeface="Times New Roman" panose="02020603050405020304" pitchFamily="18" charset="0"/>
              </a:rPr>
              <a:t>Although the existing vision–LiDAR integrated pothole detection system demonstrates high accuracy and automation, its practical deployment remains limited due to several constraints. The high cost of LiDAR sensors, the reduced accuracy in wet or reflective conditions, and the requirement for precise sensor calibration and synchronization make the system less feasible for large-scale or real-time use on low-cost platforms. Additionally, the computational demands of fusing LiDAR and deep learning data restrict deployment on resource-constrained embedded devices. Therefore, there is a critical need for a cost-effective, lightweight, and robust pothole detection system capable of maintaining high accuracy using vision-only or minimal-sensor approaches, adaptable to real-world environmental and hardware limitations.</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
        <p:nvSpPr>
          <p:cNvPr id="3" name="TextBox 2">
            <a:extLst>
              <a:ext uri="{FF2B5EF4-FFF2-40B4-BE49-F238E27FC236}">
                <a16:creationId xmlns:a16="http://schemas.microsoft.com/office/drawing/2014/main" id="{AB0E0F3D-3F3C-B75D-E347-B950DF9C14B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14400" y="2014121"/>
            <a:ext cx="166878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sz="2800" b="1" dirty="0">
                <a:solidFill>
                  <a:schemeClr val="bg1"/>
                </a:solidFill>
                <a:latin typeface="Times New Roman" panose="02020603050405020304" pitchFamily="18" charset="0"/>
                <a:cs typeface="Times New Roman" panose="02020603050405020304" pitchFamily="18" charset="0"/>
              </a:rPr>
              <a:t>AI- and vision-based detection systems</a:t>
            </a:r>
            <a:r>
              <a:rPr lang="en-US" sz="2800"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sz="2800"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sz="2800"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created the </a:t>
            </a:r>
            <a:r>
              <a:rPr lang="en-US" sz="2800" dirty="0" err="1">
                <a:solidFill>
                  <a:schemeClr val="bg1"/>
                </a:solidFill>
                <a:latin typeface="Times New Roman" panose="02020603050405020304" pitchFamily="18" charset="0"/>
                <a:cs typeface="Times New Roman" panose="02020603050405020304" pitchFamily="18" charset="0"/>
              </a:rPr>
              <a:t>PothRGBD</a:t>
            </a:r>
            <a:r>
              <a:rPr lang="en-US" sz="2800"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sz="2800" dirty="0" err="1">
                <a:solidFill>
                  <a:schemeClr val="bg1"/>
                </a:solidFill>
                <a:latin typeface="Times New Roman" panose="02020603050405020304" pitchFamily="18" charset="0"/>
                <a:cs typeface="Times New Roman" panose="02020603050405020304" pitchFamily="18" charset="0"/>
              </a:rPr>
              <a:t>DSConv</a:t>
            </a:r>
            <a:r>
              <a:rPr lang="en-US" sz="2800"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pothole detection project to get precise segmentation masks and direct depth/perimeter estimates.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a:t>
            </a:r>
            <a:endParaRPr lang="en-US" sz="2450" b="1" spc="300" dirty="0">
              <a:solidFill>
                <a:srgbClr val="DEF0FF"/>
              </a:solidFill>
              <a:latin typeface="RQND Pro UltraWide"/>
              <a:ea typeface="RQND Pro UltraWide"/>
              <a:cs typeface="RQND Pro UltraWide"/>
              <a:sym typeface="RQND Pro UltraWide"/>
            </a:endParaRPr>
          </a:p>
        </p:txBody>
      </p:sp>
      <p:grpSp>
        <p:nvGrpSpPr>
          <p:cNvPr id="3" name="Group 10">
            <a:extLst>
              <a:ext uri="{FF2B5EF4-FFF2-40B4-BE49-F238E27FC236}">
                <a16:creationId xmlns:a16="http://schemas.microsoft.com/office/drawing/2014/main" id="{1EF13673-682E-B02D-725D-742FDD38A9AE}"/>
              </a:ext>
            </a:extLst>
          </p:cNvPr>
          <p:cNvGrpSpPr/>
          <p:nvPr/>
        </p:nvGrpSpPr>
        <p:grpSpPr>
          <a:xfrm>
            <a:off x="14305419" y="-135100"/>
            <a:ext cx="3677781" cy="1316200"/>
            <a:chOff x="0" y="-38100"/>
            <a:chExt cx="544098" cy="147884"/>
          </a:xfrm>
        </p:grpSpPr>
        <p:sp>
          <p:nvSpPr>
            <p:cNvPr id="4" name="Freeform 11">
              <a:extLst>
                <a:ext uri="{FF2B5EF4-FFF2-40B4-BE49-F238E27FC236}">
                  <a16:creationId xmlns:a16="http://schemas.microsoft.com/office/drawing/2014/main" id="{F34C783F-A68A-F3B8-551F-B9BDA11BD5C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5" name="TextBox 12">
              <a:extLst>
                <a:ext uri="{FF2B5EF4-FFF2-40B4-BE49-F238E27FC236}">
                  <a16:creationId xmlns:a16="http://schemas.microsoft.com/office/drawing/2014/main" id="{B2A0B525-DB73-FE90-09CB-D2B74E9C53A7}"/>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6" name="TextBox 24">
            <a:extLst>
              <a:ext uri="{FF2B5EF4-FFF2-40B4-BE49-F238E27FC236}">
                <a16:creationId xmlns:a16="http://schemas.microsoft.com/office/drawing/2014/main" id="{09146FB8-E45A-7483-95FE-63C3EA16F49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7" name="TextBox 6">
            <a:extLst>
              <a:ext uri="{FF2B5EF4-FFF2-40B4-BE49-F238E27FC236}">
                <a16:creationId xmlns:a16="http://schemas.microsoft.com/office/drawing/2014/main" id="{C583819C-84B6-BB51-4119-BD72FDE86B0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762000" y="2014121"/>
            <a:ext cx="16844208" cy="6894195"/>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sz="2800" b="1" dirty="0">
                <a:solidFill>
                  <a:schemeClr val="bg1"/>
                </a:solidFill>
                <a:latin typeface="Times New Roman" panose="02020603050405020304" pitchFamily="18" charset="0"/>
                <a:cs typeface="Times New Roman" panose="02020603050405020304" pitchFamily="18" charset="0"/>
              </a:rPr>
              <a:t>robust vision-based framework</a:t>
            </a:r>
            <a:r>
              <a:rPr lang="en-US" sz="2800" dirty="0">
                <a:solidFill>
                  <a:schemeClr val="bg1"/>
                </a:solidFill>
                <a:latin typeface="Times New Roman" panose="02020603050405020304" pitchFamily="18" charset="0"/>
                <a:cs typeface="Times New Roman" panose="02020603050405020304" pitchFamily="18" charset="0"/>
              </a:rPr>
              <a:t> is proposed using </a:t>
            </a:r>
            <a:r>
              <a:rPr lang="en-US" sz="2800" b="1" dirty="0">
                <a:solidFill>
                  <a:schemeClr val="bg1"/>
                </a:solidFill>
                <a:latin typeface="Times New Roman" panose="02020603050405020304" pitchFamily="18" charset="0"/>
                <a:cs typeface="Times New Roman" panose="02020603050405020304" pitchFamily="18" charset="0"/>
              </a:rPr>
              <a:t>ACSH-YOLOv8</a:t>
            </a:r>
            <a:r>
              <a:rPr lang="en-US" sz="2800" dirty="0">
                <a:solidFill>
                  <a:schemeClr val="bg1"/>
                </a:solidFill>
                <a:latin typeface="Times New Roman" panose="02020603050405020304" pitchFamily="18" charset="0"/>
                <a:cs typeface="Times New Roman" panose="02020603050405020304" pitchFamily="18" charset="0"/>
              </a:rPr>
              <a:t> for detection, </a:t>
            </a:r>
            <a:r>
              <a:rPr lang="en-US" sz="2800" b="1" dirty="0" err="1">
                <a:solidFill>
                  <a:schemeClr val="bg1"/>
                </a:solidFill>
                <a:latin typeface="Times New Roman" panose="02020603050405020304" pitchFamily="18" charset="0"/>
                <a:cs typeface="Times New Roman" panose="02020603050405020304" pitchFamily="18" charset="0"/>
              </a:rPr>
              <a:t>DepthAnything</a:t>
            </a:r>
            <a:r>
              <a:rPr lang="en-US" sz="2800" b="1" dirty="0">
                <a:solidFill>
                  <a:schemeClr val="bg1"/>
                </a:solidFill>
                <a:latin typeface="Times New Roman" panose="02020603050405020304" pitchFamily="18" charset="0"/>
                <a:cs typeface="Times New Roman" panose="02020603050405020304" pitchFamily="18" charset="0"/>
              </a:rPr>
              <a:t> V2</a:t>
            </a:r>
            <a:r>
              <a:rPr lang="en-US" sz="2800" dirty="0">
                <a:solidFill>
                  <a:schemeClr val="bg1"/>
                </a:solidFill>
                <a:latin typeface="Times New Roman" panose="02020603050405020304" pitchFamily="18" charset="0"/>
                <a:cs typeface="Times New Roman" panose="02020603050405020304" pitchFamily="18" charset="0"/>
              </a:rPr>
              <a:t> for depth estimation, and a </a:t>
            </a:r>
            <a:r>
              <a:rPr lang="en-US" sz="2800"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sz="2800" dirty="0">
                <a:solidFill>
                  <a:schemeClr val="bg1"/>
                </a:solidFill>
                <a:latin typeface="Times New Roman" panose="02020603050405020304" pitchFamily="18" charset="0"/>
                <a:cs typeface="Times New Roman" panose="02020603050405020304" pitchFamily="18" charset="0"/>
              </a:rPr>
              <a:t> method for accurate area measurement. A </a:t>
            </a:r>
            <a:r>
              <a:rPr lang="en-US" sz="2800" b="1" dirty="0">
                <a:solidFill>
                  <a:schemeClr val="bg1"/>
                </a:solidFill>
                <a:latin typeface="Times New Roman" panose="02020603050405020304" pitchFamily="18" charset="0"/>
                <a:cs typeface="Times New Roman" panose="02020603050405020304" pitchFamily="18" charset="0"/>
              </a:rPr>
              <a:t>CDKF-based Kalman Filter</a:t>
            </a:r>
            <a:r>
              <a:rPr lang="en-US" sz="2800"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grpSp>
        <p:nvGrpSpPr>
          <p:cNvPr id="6" name="Group 10">
            <a:extLst>
              <a:ext uri="{FF2B5EF4-FFF2-40B4-BE49-F238E27FC236}">
                <a16:creationId xmlns:a16="http://schemas.microsoft.com/office/drawing/2014/main" id="{F5A5B036-106A-D890-465E-8CDD65FE216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50A8913E-CC4B-DE90-7CBB-FEC311F02541}"/>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28C97E2-9A22-4E30-0BC9-659E30E9610A}"/>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960E67DB-ABEB-49A8-CBFA-3F30F9D18819}"/>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FEF93DE0-DFC8-DFCB-321A-836E13DC17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54670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9613-5488-B912-07B0-2ECA7EC3E8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98FF32-6A53-EDDE-3B56-2B66C6F363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1A210ECD-6876-D053-3867-E8379985DFAA}"/>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8726E276-AF3C-8F4B-7571-CA19B3047B02}"/>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AD56A023-D2F8-A72A-32AF-E223D1B4BD7D}"/>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DA90B794-A9E2-BAFE-301A-CFBE39C0788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784FE57F-118F-9511-FD93-FCF9DD286572}"/>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sp>
        <p:nvSpPr>
          <p:cNvPr id="4" name="TextBox 15">
            <a:extLst>
              <a:ext uri="{FF2B5EF4-FFF2-40B4-BE49-F238E27FC236}">
                <a16:creationId xmlns:a16="http://schemas.microsoft.com/office/drawing/2014/main" id="{47A35598-2BB3-2E1F-B2F0-60A8610B32E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grpSp>
        <p:nvGrpSpPr>
          <p:cNvPr id="6" name="Group 10">
            <a:extLst>
              <a:ext uri="{FF2B5EF4-FFF2-40B4-BE49-F238E27FC236}">
                <a16:creationId xmlns:a16="http://schemas.microsoft.com/office/drawing/2014/main" id="{F0F4D219-B2EC-78FB-A8F7-E4CA24BA29BA}"/>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A85C50DB-D54D-EDEA-2097-1DB1BE7C6D9F}"/>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74049992-8292-2A91-6CA5-918823ACF124}"/>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2E79A27-1AD8-D83F-EB41-C14C232C9DE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28F9B563-D241-0028-8611-82952A615981}"/>
              </a:ext>
            </a:extLst>
          </p:cNvPr>
          <p:cNvSpPr txBox="1"/>
          <p:nvPr/>
        </p:nvSpPr>
        <p:spPr>
          <a:xfrm>
            <a:off x="685800" y="2019300"/>
            <a:ext cx="169926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sz="2800" dirty="0" err="1">
                <a:solidFill>
                  <a:schemeClr val="bg1"/>
                </a:solidFill>
                <a:latin typeface="Times New Roman" panose="02020603050405020304" pitchFamily="18" charset="0"/>
                <a:cs typeface="Times New Roman" panose="02020603050405020304" pitchFamily="18" charset="0"/>
              </a:rPr>
              <a:t>Kinectic</a:t>
            </a:r>
            <a:r>
              <a:rPr lang="en-US" sz="2800" dirty="0">
                <a:solidFill>
                  <a:schemeClr val="bg1"/>
                </a:solidFill>
                <a:latin typeface="Times New Roman" panose="02020603050405020304" pitchFamily="18" charset="0"/>
                <a:cs typeface="Times New Roman" panose="02020603050405020304" pitchFamily="18" charset="0"/>
              </a:rPr>
              <a:t> Fusion and Bundle Fusion depend on RGB-D cameras and high computational power, making them unsuitable for mid-range mobile devices. To address this, the </a:t>
            </a:r>
            <a:r>
              <a:rPr lang="en-US" sz="2800" b="1" dirty="0">
                <a:solidFill>
                  <a:schemeClr val="bg1"/>
                </a:solidFill>
                <a:latin typeface="Times New Roman" panose="02020603050405020304" pitchFamily="18" charset="0"/>
                <a:cs typeface="Times New Roman" panose="02020603050405020304" pitchFamily="18" charset="0"/>
              </a:rPr>
              <a:t>Mobile3DRecon</a:t>
            </a:r>
            <a:r>
              <a:rPr lang="en-US" sz="2800" dirty="0">
                <a:solidFill>
                  <a:schemeClr val="bg1"/>
                </a:solidFill>
                <a:latin typeface="Times New Roman" panose="02020603050405020304" pitchFamily="18" charset="0"/>
                <a:cs typeface="Times New Roman" panose="02020603050405020304" pitchFamily="18" charset="0"/>
              </a:rPr>
              <a:t> system enables </a:t>
            </a:r>
            <a:r>
              <a:rPr lang="en-US" sz="2800"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sz="2800" dirty="0">
                <a:solidFill>
                  <a:schemeClr val="bg1"/>
                </a:solidFill>
                <a:latin typeface="Times New Roman" panose="02020603050405020304" pitchFamily="18" charset="0"/>
                <a:cs typeface="Times New Roman" panose="02020603050405020304" pitchFamily="18" charset="0"/>
              </a:rPr>
              <a:t> using only a </a:t>
            </a:r>
            <a:r>
              <a:rPr lang="en-US" sz="2800" b="1" dirty="0">
                <a:solidFill>
                  <a:schemeClr val="bg1"/>
                </a:solidFill>
                <a:latin typeface="Times New Roman" panose="02020603050405020304" pitchFamily="18" charset="0"/>
                <a:cs typeface="Times New Roman" panose="02020603050405020304" pitchFamily="18" charset="0"/>
              </a:rPr>
              <a:t>monocular camera</a:t>
            </a:r>
            <a:r>
              <a:rPr lang="en-US" sz="2800" dirty="0">
                <a:solidFill>
                  <a:schemeClr val="bg1"/>
                </a:solidFill>
                <a:latin typeface="Times New Roman" panose="02020603050405020304" pitchFamily="18" charset="0"/>
                <a:cs typeface="Times New Roman" panose="02020603050405020304" pitchFamily="18" charset="0"/>
              </a:rPr>
              <a:t>, without extra sensors. It introduces </a:t>
            </a:r>
            <a:r>
              <a:rPr lang="en-US" sz="2800" b="1" dirty="0">
                <a:solidFill>
                  <a:schemeClr val="bg1"/>
                </a:solidFill>
                <a:latin typeface="Times New Roman" panose="02020603050405020304" pitchFamily="18" charset="0"/>
                <a:cs typeface="Times New Roman" panose="02020603050405020304" pitchFamily="18" charset="0"/>
              </a:rPr>
              <a:t>multi-view depth estimation</a:t>
            </a:r>
            <a:r>
              <a:rPr lang="en-US" sz="2800" dirty="0">
                <a:solidFill>
                  <a:schemeClr val="bg1"/>
                </a:solidFill>
                <a:latin typeface="Times New Roman" panose="02020603050405020304" pitchFamily="18" charset="0"/>
                <a:cs typeface="Times New Roman" panose="02020603050405020304" pitchFamily="18" charset="0"/>
              </a:rPr>
              <a:t> and </a:t>
            </a:r>
            <a:r>
              <a:rPr lang="en-US" sz="2800" b="1" dirty="0">
                <a:solidFill>
                  <a:schemeClr val="bg1"/>
                </a:solidFill>
                <a:latin typeface="Times New Roman" panose="02020603050405020304" pitchFamily="18" charset="0"/>
                <a:cs typeface="Times New Roman" panose="02020603050405020304" pitchFamily="18" charset="0"/>
              </a:rPr>
              <a:t>incremental mesh generation</a:t>
            </a:r>
            <a:r>
              <a:rPr lang="en-US" sz="2800"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presented a mobile system capable of generating dense</a:t>
            </a:r>
            <a:r>
              <a:rPr lang="en-US" sz="2800">
                <a:solidFill>
                  <a:schemeClr val="bg1"/>
                </a:solidFill>
                <a:latin typeface="Times New Roman" panose="02020603050405020304" pitchFamily="18" charset="0"/>
                <a:cs typeface="Times New Roman" panose="02020603050405020304" pitchFamily="18" charset="0"/>
              </a:rPr>
              <a:t>, real time </a:t>
            </a:r>
            <a:r>
              <a:rPr lang="en-US" sz="2800" dirty="0">
                <a:solidFill>
                  <a:schemeClr val="bg1"/>
                </a:solidFill>
                <a:latin typeface="Times New Roman" panose="02020603050405020304" pitchFamily="18" charset="0"/>
                <a:cs typeface="Times New Roman" panose="02020603050405020304" pitchFamily="18" charset="0"/>
              </a:rPr>
              <a:t>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9F9EFBDD-1DE7-BF49-36AF-9AFF47C9230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44449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17110338"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sz="2800" b="1" dirty="0">
                <a:solidFill>
                  <a:schemeClr val="bg1"/>
                </a:solidFill>
                <a:latin typeface="Times New Roman" panose="02020603050405020304" pitchFamily="18" charset="0"/>
                <a:cs typeface="Times New Roman" panose="02020603050405020304" pitchFamily="18" charset="0"/>
              </a:rPr>
              <a:t>pothole detection</a:t>
            </a:r>
            <a:r>
              <a:rPr lang="en-US" sz="2800"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sz="2800"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sz="2800" dirty="0">
                <a:solidFill>
                  <a:schemeClr val="bg1"/>
                </a:solidFill>
                <a:latin typeface="Times New Roman" panose="02020603050405020304" pitchFamily="18" charset="0"/>
                <a:cs typeface="Times New Roman" panose="02020603050405020304" pitchFamily="18" charset="0"/>
              </a:rPr>
              <a:t> using a </a:t>
            </a:r>
            <a:r>
              <a:rPr lang="en-US" sz="2800" b="1" dirty="0">
                <a:solidFill>
                  <a:schemeClr val="bg1"/>
                </a:solidFill>
                <a:latin typeface="Times New Roman" panose="02020603050405020304" pitchFamily="18" charset="0"/>
                <a:cs typeface="Times New Roman" panose="02020603050405020304" pitchFamily="18" charset="0"/>
              </a:rPr>
              <a:t>convolutional neural network (CNN)</a:t>
            </a:r>
            <a:r>
              <a:rPr lang="en-US" sz="2800" dirty="0">
                <a:solidFill>
                  <a:schemeClr val="bg1"/>
                </a:solidFill>
                <a:latin typeface="Times New Roman" panose="02020603050405020304" pitchFamily="18" charset="0"/>
                <a:cs typeface="Times New Roman" panose="02020603050405020304" pitchFamily="18" charset="0"/>
              </a:rPr>
              <a:t> for feature extraction and a </a:t>
            </a:r>
            <a:r>
              <a:rPr lang="en-US" sz="2800" b="1" dirty="0">
                <a:solidFill>
                  <a:schemeClr val="bg1"/>
                </a:solidFill>
                <a:latin typeface="Times New Roman" panose="02020603050405020304" pitchFamily="18" charset="0"/>
                <a:cs typeface="Times New Roman" panose="02020603050405020304" pitchFamily="18" charset="0"/>
              </a:rPr>
              <a:t>Random Forest classifier</a:t>
            </a:r>
            <a:r>
              <a:rPr lang="en-US" sz="2800" dirty="0">
                <a:solidFill>
                  <a:schemeClr val="bg1"/>
                </a:solidFill>
                <a:latin typeface="Times New Roman" panose="02020603050405020304" pitchFamily="18" charset="0"/>
                <a:cs typeface="Times New Roman" panose="02020603050405020304" pitchFamily="18" charset="0"/>
              </a:rPr>
              <a:t> optimized through </a:t>
            </a:r>
            <a:r>
              <a:rPr lang="en-US" sz="2800"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sz="2800"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grpSp>
        <p:nvGrpSpPr>
          <p:cNvPr id="6" name="Group 10">
            <a:extLst>
              <a:ext uri="{FF2B5EF4-FFF2-40B4-BE49-F238E27FC236}">
                <a16:creationId xmlns:a16="http://schemas.microsoft.com/office/drawing/2014/main" id="{22DDBC9A-A08B-7380-86AA-0937DA7F447F}"/>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455010C5-921C-4C28-FC9E-C7B9B5F2E53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B58EE57-9112-16C7-D3BA-B5112DA3FAC1}"/>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F8AC115-71C2-38C8-4949-71993C6080F0}"/>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D8F9A5F8-F896-876E-76EE-A671D947867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827734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D058-79E5-701C-9DF0-90572E41A7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81C0FA-6A9A-5B70-C36A-D5894801A33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B46C8557-6856-A3CA-C51D-51D7C9FEBFA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1170633B-C924-CB5B-A2CC-782BD61A5C64}"/>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747FD59F-FEDC-D1A7-83AA-B57798FF1CD5}"/>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0EF2004F-B3C6-DAAF-C581-29482478FE4E}"/>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1DB1FA5B-E0BE-D030-D9E4-9978C2539F65}"/>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sp>
        <p:nvSpPr>
          <p:cNvPr id="4" name="TextBox 15">
            <a:extLst>
              <a:ext uri="{FF2B5EF4-FFF2-40B4-BE49-F238E27FC236}">
                <a16:creationId xmlns:a16="http://schemas.microsoft.com/office/drawing/2014/main" id="{CDE5A121-535D-C103-F1C3-61E68F1CFBF3}"/>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grpSp>
        <p:nvGrpSpPr>
          <p:cNvPr id="6" name="Group 10">
            <a:extLst>
              <a:ext uri="{FF2B5EF4-FFF2-40B4-BE49-F238E27FC236}">
                <a16:creationId xmlns:a16="http://schemas.microsoft.com/office/drawing/2014/main" id="{8AF59A56-11CC-2245-749B-E66D9F99985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DB7F0CA8-C4AB-E5D4-3A87-A0EE2A289888}"/>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A8C77CFE-A731-CF80-C06D-1FCC3631A49C}"/>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DE140A65-305C-F3D1-9DEF-2F7C40384232}"/>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A3EA4A4E-74B0-A10B-0B65-A869BF2B52E8}"/>
              </a:ext>
            </a:extLst>
          </p:cNvPr>
          <p:cNvSpPr txBox="1"/>
          <p:nvPr/>
        </p:nvSpPr>
        <p:spPr>
          <a:xfrm>
            <a:off x="834189" y="1866900"/>
            <a:ext cx="16844211" cy="7325082"/>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CPU based methods. I can conclude that their GPU parallel mesh approach, especially the MLS point cloud smoothing and mesh merging, gives insight into achieving fast, reliable surface modeling— knowledge that is valuable for enhancing the efficiency of mesh processing in pothole detection systems.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3021226E-D9B8-B425-D54B-34B2AC46887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407592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
        <p:nvSpPr>
          <p:cNvPr id="3" name="TextBox 2">
            <a:extLst>
              <a:ext uri="{FF2B5EF4-FFF2-40B4-BE49-F238E27FC236}">
                <a16:creationId xmlns:a16="http://schemas.microsoft.com/office/drawing/2014/main" id="{9AA4C902-47DC-060C-2820-915179438D2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34256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
        <p:nvSpPr>
          <p:cNvPr id="3" name="TextBox 2">
            <a:extLst>
              <a:ext uri="{FF2B5EF4-FFF2-40B4-BE49-F238E27FC236}">
                <a16:creationId xmlns:a16="http://schemas.microsoft.com/office/drawing/2014/main" id="{65B888CF-0BF8-31E1-F744-F7A572863CC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698333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930655" y="1943100"/>
            <a:ext cx="16138145" cy="6124754"/>
          </a:xfrm>
          <a:prstGeom prst="rect">
            <a:avLst/>
          </a:prstGeom>
          <a:noFill/>
        </p:spPr>
        <p:txBody>
          <a:bodyPr wrap="square" rtlCol="0">
            <a:spAutoFit/>
          </a:bodyPr>
          <a:lstStyle/>
          <a:p>
            <a:pPr algn="just"/>
            <a:r>
              <a:rPr lang="en-US" sz="2800" dirty="0">
                <a:solidFill>
                  <a:schemeClr val="bg1"/>
                </a:solidFill>
                <a:latin typeface="Times New Roman" panose="02020603050405020304" pitchFamily="18" charset="0"/>
                <a:cs typeface="Times New Roman" panose="02020603050405020304" pitchFamily="18" charset="0"/>
              </a:rPr>
              <a:t>A </a:t>
            </a:r>
            <a:r>
              <a:rPr lang="en-US" sz="2800" b="1" dirty="0">
                <a:solidFill>
                  <a:schemeClr val="bg1"/>
                </a:solidFill>
                <a:latin typeface="Times New Roman" panose="02020603050405020304" pitchFamily="18" charset="0"/>
                <a:cs typeface="Times New Roman" panose="02020603050405020304" pitchFamily="18" charset="0"/>
              </a:rPr>
              <a:t>vision-only, low-cost real-time perception pipeline</a:t>
            </a:r>
            <a:r>
              <a:rPr lang="en-US" sz="2800" dirty="0">
                <a:solidFill>
                  <a:schemeClr val="bg1"/>
                </a:solidFill>
                <a:latin typeface="Times New Roman" panose="02020603050405020304" pitchFamily="18" charset="0"/>
                <a:cs typeface="Times New Roman" panose="02020603050405020304" pitchFamily="18" charset="0"/>
              </a:rPr>
              <a:t> that generates a </a:t>
            </a:r>
            <a:r>
              <a:rPr lang="en-US" sz="2800" b="1" dirty="0">
                <a:solidFill>
                  <a:schemeClr val="bg1"/>
                </a:solidFill>
                <a:latin typeface="Times New Roman" panose="02020603050405020304" pitchFamily="18" charset="0"/>
                <a:cs typeface="Times New Roman" panose="02020603050405020304" pitchFamily="18" charset="0"/>
              </a:rPr>
              <a:t>3D wireframe/mesh</a:t>
            </a:r>
            <a:r>
              <a:rPr lang="en-US" sz="2800" dirty="0">
                <a:solidFill>
                  <a:schemeClr val="bg1"/>
                </a:solidFill>
                <a:latin typeface="Times New Roman" panose="02020603050405020304" pitchFamily="18" charset="0"/>
                <a:cs typeface="Times New Roman" panose="02020603050405020304" pitchFamily="18" charset="0"/>
              </a:rPr>
              <a:t> of the road surface using a single forward-facing </a:t>
            </a:r>
            <a:r>
              <a:rPr lang="en-US" sz="2800" b="1" dirty="0">
                <a:solidFill>
                  <a:schemeClr val="bg1"/>
                </a:solidFill>
                <a:latin typeface="Times New Roman" panose="02020603050405020304" pitchFamily="18" charset="0"/>
                <a:cs typeface="Times New Roman" panose="02020603050405020304" pitchFamily="18" charset="0"/>
              </a:rPr>
              <a:t>monocular RGB camera</a:t>
            </a:r>
            <a:r>
              <a:rPr lang="en-US" sz="2800" dirty="0">
                <a:solidFill>
                  <a:schemeClr val="bg1"/>
                </a:solidFill>
                <a:latin typeface="Times New Roman" panose="02020603050405020304" pitchFamily="18" charset="0"/>
                <a:cs typeface="Times New Roman" panose="02020603050405020304" pitchFamily="18" charset="0"/>
              </a:rPr>
              <a:t>. The system detects and measures potholes and road anomalies using depth-aware reconstruction.</a:t>
            </a:r>
          </a:p>
          <a:p>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YOLOv8-Seg / YOLOv8n-Seg for real-time surface anomaly detection with pixel-level segmentation.</a:t>
            </a:r>
          </a:p>
          <a:p>
            <a:pPr marL="285750" indent="-285750">
              <a:buFont typeface="Arial" panose="020B0604020202020204" pitchFamily="34" charset="0"/>
              <a:buChar char="•"/>
            </a:pP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 for monocular depth prediction to convert 2D detections into metric 3D structures.</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Mesh generation using Open3D to create a wireframe representation of the road surface.</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Geometry extraction module to compute pothole depth, area, perimeter, and volume.</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Decision engine to trigger alerts or safe responses (slow-down, micro-avoidance, logging).</a:t>
            </a:r>
          </a:p>
          <a:p>
            <a:pPr marL="285750" indent="-285750">
              <a:buFont typeface="Arial" panose="020B0604020202020204" pitchFamily="34" charset="0"/>
              <a:buChar char="•"/>
            </a:pP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dirty="0">
                <a:solidFill>
                  <a:schemeClr val="bg1"/>
                </a:solidFill>
                <a:latin typeface="Times New Roman" panose="02020603050405020304" pitchFamily="18" charset="0"/>
                <a:cs typeface="Times New Roman" panose="02020603050405020304" pitchFamily="18" charset="0"/>
              </a:rPr>
              <a:t>Provides a cost-effective, real-time, sensor-efficient alternative to LiDAR-based systems with strong deployment potential for AVs and road-mapping applications.</a:t>
            </a:r>
          </a:p>
        </p:txBody>
      </p:sp>
      <p:sp>
        <p:nvSpPr>
          <p:cNvPr id="3" name="TextBox 2">
            <a:extLst>
              <a:ext uri="{FF2B5EF4-FFF2-40B4-BE49-F238E27FC236}">
                <a16:creationId xmlns:a16="http://schemas.microsoft.com/office/drawing/2014/main" id="{D04B884E-1A98-4782-9BDF-D72BAB226DF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7002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6" name="TextBox 5">
            <a:extLst>
              <a:ext uri="{FF2B5EF4-FFF2-40B4-BE49-F238E27FC236}">
                <a16:creationId xmlns:a16="http://schemas.microsoft.com/office/drawing/2014/main" id="{1378C8D9-01F2-2EC2-4000-94F2247220F5}"/>
              </a:ext>
            </a:extLst>
          </p:cNvPr>
          <p:cNvSpPr txBox="1"/>
          <p:nvPr/>
        </p:nvSpPr>
        <p:spPr>
          <a:xfrm>
            <a:off x="1278134" y="1546784"/>
            <a:ext cx="7256266" cy="7109639"/>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The system processes live video input from an onboard monocular camera and converts it into a 3D wireframe model for pothole detection and analysis.</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1. Input Capture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Continuous RGB frames from the monocular camera mounted on the vehicle.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2. Object Detection &amp; Segmentation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YOLOv8 detects potholes, cracks, and bumps with segmentation masks.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 Depth Estimation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predicts dense depth maps for each frame.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4. 3D Point Cloud Formation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depth map + segmentation mask is converted into a localized point cloud.</a:t>
            </a:r>
          </a:p>
        </p:txBody>
      </p:sp>
      <p:sp>
        <p:nvSpPr>
          <p:cNvPr id="7" name="TextBox 6">
            <a:extLst>
              <a:ext uri="{FF2B5EF4-FFF2-40B4-BE49-F238E27FC236}">
                <a16:creationId xmlns:a16="http://schemas.microsoft.com/office/drawing/2014/main" id="{2527F88D-0FA1-E917-61B4-9947C2201AD8}"/>
              </a:ext>
            </a:extLst>
          </p:cNvPr>
          <p:cNvSpPr txBox="1"/>
          <p:nvPr/>
        </p:nvSpPr>
        <p:spPr>
          <a:xfrm>
            <a:off x="9169400" y="3089195"/>
            <a:ext cx="7467600" cy="6001643"/>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5. Wireframe &amp; Mesh Reconstruction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Open3D generates a surface mesh for shape and structure analysis.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6. Pothole Geometry Analysis</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Depth, width, perimeter, and volume are computed using mesh features.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7. Decision Engine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Provides real-time action: slow down, steering adjustment, or event logging.</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Purpose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To achieve </a:t>
            </a:r>
            <a:r>
              <a:rPr lang="en-US" sz="2400" b="1" dirty="0">
                <a:solidFill>
                  <a:schemeClr val="bg1"/>
                </a:solidFill>
                <a:latin typeface="Times New Roman" panose="02020603050405020304" pitchFamily="18" charset="0"/>
                <a:cs typeface="Times New Roman" panose="02020603050405020304" pitchFamily="18" charset="0"/>
              </a:rPr>
              <a:t>accurate</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low-cost</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real-time</a:t>
            </a:r>
            <a:r>
              <a:rPr lang="en-US" sz="2400" dirty="0">
                <a:solidFill>
                  <a:schemeClr val="bg1"/>
                </a:solidFill>
                <a:latin typeface="Times New Roman" panose="02020603050405020304" pitchFamily="18" charset="0"/>
                <a:cs typeface="Times New Roman" panose="02020603050405020304" pitchFamily="18" charset="0"/>
              </a:rPr>
              <a:t> pothole detection suitable for autonomous vehicles and road maintenance authorities.</a:t>
            </a:r>
          </a:p>
        </p:txBody>
      </p:sp>
      <p:sp>
        <p:nvSpPr>
          <p:cNvPr id="8" name="TextBox 7">
            <a:extLst>
              <a:ext uri="{FF2B5EF4-FFF2-40B4-BE49-F238E27FC236}">
                <a16:creationId xmlns:a16="http://schemas.microsoft.com/office/drawing/2014/main" id="{CB3FDC95-D311-5278-B37B-0F68B169928B}"/>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667057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pic>
        <p:nvPicPr>
          <p:cNvPr id="13" name="Picture 12">
            <a:extLst>
              <a:ext uri="{FF2B5EF4-FFF2-40B4-BE49-F238E27FC236}">
                <a16:creationId xmlns:a16="http://schemas.microsoft.com/office/drawing/2014/main" id="{412A5098-B56A-97E2-3AB1-C0ADA300FC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329534"/>
            <a:ext cx="15163800" cy="7999092"/>
          </a:xfrm>
          <a:prstGeom prst="rect">
            <a:avLst/>
          </a:prstGeom>
        </p:spPr>
      </p:pic>
      <p:sp>
        <p:nvSpPr>
          <p:cNvPr id="6" name="TextBox 5">
            <a:extLst>
              <a:ext uri="{FF2B5EF4-FFF2-40B4-BE49-F238E27FC236}">
                <a16:creationId xmlns:a16="http://schemas.microsoft.com/office/drawing/2014/main" id="{34F85CEF-6A4F-198C-2BDF-BCE16770633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25673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graphicFrame>
        <p:nvGraphicFramePr>
          <p:cNvPr id="6" name="Table 5">
            <a:extLst>
              <a:ext uri="{FF2B5EF4-FFF2-40B4-BE49-F238E27FC236}">
                <a16:creationId xmlns:a16="http://schemas.microsoft.com/office/drawing/2014/main" id="{1F9DFA9C-0E07-4282-2FEA-6D65EE390D82}"/>
              </a:ext>
            </a:extLst>
          </p:cNvPr>
          <p:cNvGraphicFramePr>
            <a:graphicFrameLocks noGrp="1"/>
          </p:cNvGraphicFramePr>
          <p:nvPr>
            <p:extLst>
              <p:ext uri="{D42A27DB-BD31-4B8C-83A1-F6EECF244321}">
                <p14:modId xmlns:p14="http://schemas.microsoft.com/office/powerpoint/2010/main" val="3798248823"/>
              </p:ext>
            </p:extLst>
          </p:nvPr>
        </p:nvGraphicFramePr>
        <p:xfrm>
          <a:off x="1132764" y="1772523"/>
          <a:ext cx="8229600" cy="7040880"/>
        </p:xfrm>
        <a:graphic>
          <a:graphicData uri="http://schemas.openxmlformats.org/drawingml/2006/table">
            <a:tbl>
              <a:tblPr/>
              <a:tblGrid>
                <a:gridCol w="4114800">
                  <a:extLst>
                    <a:ext uri="{9D8B030D-6E8A-4147-A177-3AD203B41FA5}">
                      <a16:colId xmlns:a16="http://schemas.microsoft.com/office/drawing/2014/main" val="906871818"/>
                    </a:ext>
                  </a:extLst>
                </a:gridCol>
                <a:gridCol w="4114800">
                  <a:extLst>
                    <a:ext uri="{9D8B030D-6E8A-4147-A177-3AD203B41FA5}">
                      <a16:colId xmlns:a16="http://schemas.microsoft.com/office/drawing/2014/main" val="4015078817"/>
                    </a:ext>
                  </a:extLst>
                </a:gridCol>
              </a:tblGrid>
              <a:tr h="0">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Specification</a:t>
                      </a:r>
                    </a:p>
                  </a:txBody>
                  <a:tcPr anchor="ctr">
                    <a:lnL>
                      <a:noFill/>
                    </a:lnL>
                    <a:lnR>
                      <a:noFill/>
                    </a:lnR>
                    <a:lnT>
                      <a:noFill/>
                    </a:lnT>
                    <a:lnB>
                      <a:noFill/>
                    </a:lnB>
                    <a:noFill/>
                  </a:tcPr>
                </a:tc>
                <a:extLst>
                  <a:ext uri="{0D108BD9-81ED-4DB2-BD59-A6C34878D82A}">
                    <a16:rowId xmlns:a16="http://schemas.microsoft.com/office/drawing/2014/main" val="800968497"/>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Camera</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Monocular RGB camera, 1080p@30–60 FPS, wide-angle 120° FOV</a:t>
                      </a:r>
                    </a:p>
                  </a:txBody>
                  <a:tcPr anchor="ctr">
                    <a:lnL>
                      <a:noFill/>
                    </a:lnL>
                    <a:lnR>
                      <a:noFill/>
                    </a:lnR>
                    <a:lnT>
                      <a:noFill/>
                    </a:lnT>
                    <a:lnB>
                      <a:noFill/>
                    </a:lnB>
                    <a:noFill/>
                  </a:tcPr>
                </a:tc>
                <a:extLst>
                  <a:ext uri="{0D108BD9-81ED-4DB2-BD59-A6C34878D82A}">
                    <a16:rowId xmlns:a16="http://schemas.microsoft.com/office/drawing/2014/main" val="2011109575"/>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Processing Unit</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NVIDIA Jetson Nano / Xavier NX </a:t>
                      </a:r>
                      <a:r>
                        <a:rPr lang="en-US" sz="2800" b="1" dirty="0">
                          <a:solidFill>
                            <a:schemeClr val="bg1"/>
                          </a:solidFill>
                          <a:latin typeface="Times New Roman" panose="02020603050405020304" pitchFamily="18" charset="0"/>
                          <a:cs typeface="Times New Roman" panose="02020603050405020304" pitchFamily="18" charset="0"/>
                        </a:rPr>
                        <a:t>or</a:t>
                      </a:r>
                      <a:r>
                        <a:rPr lang="en-US" sz="2800" dirty="0">
                          <a:solidFill>
                            <a:schemeClr val="bg1"/>
                          </a:solidFill>
                          <a:latin typeface="Times New Roman" panose="02020603050405020304" pitchFamily="18" charset="0"/>
                          <a:cs typeface="Times New Roman" panose="02020603050405020304" pitchFamily="18" charset="0"/>
                        </a:rPr>
                        <a:t> Laptop GPU (RTX 3060+)</a:t>
                      </a:r>
                    </a:p>
                  </a:txBody>
                  <a:tcPr anchor="ctr">
                    <a:lnL>
                      <a:noFill/>
                    </a:lnL>
                    <a:lnR>
                      <a:noFill/>
                    </a:lnR>
                    <a:lnT>
                      <a:noFill/>
                    </a:lnT>
                    <a:lnB>
                      <a:noFill/>
                    </a:lnB>
                    <a:noFill/>
                  </a:tcPr>
                </a:tc>
                <a:extLst>
                  <a:ext uri="{0D108BD9-81ED-4DB2-BD59-A6C34878D82A}">
                    <a16:rowId xmlns:a16="http://schemas.microsoft.com/office/drawing/2014/main" val="1562379906"/>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CPU</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Quad-core 2.0 GHz or above</a:t>
                      </a:r>
                    </a:p>
                  </a:txBody>
                  <a:tcPr anchor="ctr">
                    <a:lnL>
                      <a:noFill/>
                    </a:lnL>
                    <a:lnR>
                      <a:noFill/>
                    </a:lnR>
                    <a:lnT>
                      <a:noFill/>
                    </a:lnT>
                    <a:lnB>
                      <a:noFill/>
                    </a:lnB>
                    <a:noFill/>
                  </a:tcPr>
                </a:tc>
                <a:extLst>
                  <a:ext uri="{0D108BD9-81ED-4DB2-BD59-A6C34878D82A}">
                    <a16:rowId xmlns:a16="http://schemas.microsoft.com/office/drawing/2014/main" val="1237680021"/>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RAM</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Minimum 8 GB (Recommended 16 GB)</a:t>
                      </a:r>
                    </a:p>
                  </a:txBody>
                  <a:tcPr anchor="ctr">
                    <a:lnL>
                      <a:noFill/>
                    </a:lnL>
                    <a:lnR>
                      <a:noFill/>
                    </a:lnR>
                    <a:lnT>
                      <a:noFill/>
                    </a:lnT>
                    <a:lnB>
                      <a:noFill/>
                    </a:lnB>
                    <a:noFill/>
                  </a:tcPr>
                </a:tc>
                <a:extLst>
                  <a:ext uri="{0D108BD9-81ED-4DB2-BD59-A6C34878D82A}">
                    <a16:rowId xmlns:a16="http://schemas.microsoft.com/office/drawing/2014/main" val="1431238812"/>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Storage</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256 GB SSD for datasets + logs</a:t>
                      </a:r>
                    </a:p>
                  </a:txBody>
                  <a:tcPr anchor="ctr">
                    <a:lnL>
                      <a:noFill/>
                    </a:lnL>
                    <a:lnR>
                      <a:noFill/>
                    </a:lnR>
                    <a:lnT>
                      <a:noFill/>
                    </a:lnT>
                    <a:lnB>
                      <a:noFill/>
                    </a:lnB>
                    <a:noFill/>
                  </a:tcPr>
                </a:tc>
                <a:extLst>
                  <a:ext uri="{0D108BD9-81ED-4DB2-BD59-A6C34878D82A}">
                    <a16:rowId xmlns:a16="http://schemas.microsoft.com/office/drawing/2014/main" val="1314372863"/>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Optional Sensors</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GNSS module for mapping pothole locations</a:t>
                      </a:r>
                    </a:p>
                  </a:txBody>
                  <a:tcPr anchor="ctr">
                    <a:lnL>
                      <a:noFill/>
                    </a:lnL>
                    <a:lnR>
                      <a:noFill/>
                    </a:lnR>
                    <a:lnT>
                      <a:noFill/>
                    </a:lnT>
                    <a:lnB>
                      <a:noFill/>
                    </a:lnB>
                    <a:noFill/>
                  </a:tcPr>
                </a:tc>
                <a:extLst>
                  <a:ext uri="{0D108BD9-81ED-4DB2-BD59-A6C34878D82A}">
                    <a16:rowId xmlns:a16="http://schemas.microsoft.com/office/drawing/2014/main" val="2492650137"/>
                  </a:ext>
                </a:extLst>
              </a:tr>
            </a:tbl>
          </a:graphicData>
        </a:graphic>
      </p:graphicFrame>
      <p:sp>
        <p:nvSpPr>
          <p:cNvPr id="7" name="TextBox 6">
            <a:extLst>
              <a:ext uri="{FF2B5EF4-FFF2-40B4-BE49-F238E27FC236}">
                <a16:creationId xmlns:a16="http://schemas.microsoft.com/office/drawing/2014/main" id="{A5B9EED0-375E-CA2C-69DF-3E9EBD8D461B}"/>
              </a:ext>
            </a:extLst>
          </p:cNvPr>
          <p:cNvSpPr txBox="1"/>
          <p:nvPr/>
        </p:nvSpPr>
        <p:spPr>
          <a:xfrm>
            <a:off x="10367480" y="1606764"/>
            <a:ext cx="6758186" cy="7417415"/>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Software Requirements</a:t>
            </a:r>
          </a:p>
          <a:p>
            <a:endParaRPr lang="en-US" sz="2800" b="1"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Programming Language:</a:t>
            </a:r>
            <a:r>
              <a:rPr lang="en-US" sz="2800" dirty="0">
                <a:solidFill>
                  <a:schemeClr val="bg1"/>
                </a:solidFill>
                <a:latin typeface="Times New Roman" panose="02020603050405020304" pitchFamily="18" charset="0"/>
                <a:cs typeface="Times New Roman" panose="02020603050405020304" pitchFamily="18" charset="0"/>
              </a:rPr>
              <a:t> Python 3.10+</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Deep Learning Framework:</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PyTorch</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ML Models:</a:t>
            </a:r>
            <a:r>
              <a:rPr lang="en-US" sz="2800" dirty="0">
                <a:solidFill>
                  <a:schemeClr val="bg1"/>
                </a:solidFill>
                <a:latin typeface="Times New Roman" panose="02020603050405020304" pitchFamily="18" charset="0"/>
                <a:cs typeface="Times New Roman" panose="02020603050405020304" pitchFamily="18" charset="0"/>
              </a:rPr>
              <a:t> YOLOv8-Seg,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3D Toolkit:</a:t>
            </a:r>
            <a:r>
              <a:rPr lang="en-US" sz="2800" dirty="0">
                <a:solidFill>
                  <a:schemeClr val="bg1"/>
                </a:solidFill>
                <a:latin typeface="Times New Roman" panose="02020603050405020304" pitchFamily="18" charset="0"/>
                <a:cs typeface="Times New Roman" panose="02020603050405020304" pitchFamily="18" charset="0"/>
              </a:rPr>
              <a:t> Open3D</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Development Tools:</a:t>
            </a:r>
            <a:endParaRPr lang="en-US" sz="2800" dirty="0">
              <a:solidFill>
                <a:schemeClr val="bg1"/>
              </a:solidFill>
              <a:latin typeface="Times New Roman" panose="02020603050405020304" pitchFamily="18" charset="0"/>
              <a:cs typeface="Times New Roman" panose="02020603050405020304" pitchFamily="18" charset="0"/>
            </a:endParaRPr>
          </a:p>
          <a:p>
            <a:pPr lvl="1"/>
            <a:r>
              <a:rPr lang="en-US" sz="2800" dirty="0">
                <a:solidFill>
                  <a:schemeClr val="bg1"/>
                </a:solidFill>
                <a:latin typeface="Times New Roman" panose="02020603050405020304" pitchFamily="18" charset="0"/>
                <a:cs typeface="Times New Roman" panose="02020603050405020304" pitchFamily="18" charset="0"/>
              </a:rPr>
              <a:t>Anaconda / Virtual Environment</a:t>
            </a:r>
          </a:p>
          <a:p>
            <a:pPr lvl="1"/>
            <a:r>
              <a:rPr lang="en-US" sz="2800" dirty="0" err="1">
                <a:solidFill>
                  <a:schemeClr val="bg1"/>
                </a:solidFill>
                <a:latin typeface="Times New Roman" panose="02020603050405020304" pitchFamily="18" charset="0"/>
                <a:cs typeface="Times New Roman" panose="02020603050405020304" pitchFamily="18" charset="0"/>
              </a:rPr>
              <a:t>Jupyter</a:t>
            </a:r>
            <a:r>
              <a:rPr lang="en-US" sz="2800" dirty="0">
                <a:solidFill>
                  <a:schemeClr val="bg1"/>
                </a:solidFill>
                <a:latin typeface="Times New Roman" panose="02020603050405020304" pitchFamily="18" charset="0"/>
                <a:cs typeface="Times New Roman" panose="02020603050405020304" pitchFamily="18" charset="0"/>
              </a:rPr>
              <a:t> Notebook / VS Code</a:t>
            </a:r>
          </a:p>
          <a:p>
            <a:pPr lvl="1"/>
            <a:r>
              <a:rPr lang="en-US" sz="2800" dirty="0">
                <a:solidFill>
                  <a:schemeClr val="bg1"/>
                </a:solidFill>
                <a:latin typeface="Times New Roman" panose="02020603050405020304" pitchFamily="18" charset="0"/>
                <a:cs typeface="Times New Roman" panose="02020603050405020304" pitchFamily="18" charset="0"/>
              </a:rPr>
              <a:t>CUDA Toolkit (if using NVIDIA GPU)</a:t>
            </a:r>
          </a:p>
          <a:p>
            <a:pPr lvl="1"/>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OS:</a:t>
            </a:r>
            <a:r>
              <a:rPr lang="en-US" sz="2800" dirty="0">
                <a:solidFill>
                  <a:schemeClr val="bg1"/>
                </a:solidFill>
                <a:latin typeface="Times New Roman" panose="02020603050405020304" pitchFamily="18" charset="0"/>
                <a:cs typeface="Times New Roman" panose="02020603050405020304" pitchFamily="18" charset="0"/>
              </a:rPr>
              <a:t> Ubuntu 20.04/22.04 or Windows 10/11</a:t>
            </a:r>
          </a:p>
        </p:txBody>
      </p:sp>
      <p:sp>
        <p:nvSpPr>
          <p:cNvPr id="8" name="TextBox 7">
            <a:extLst>
              <a:ext uri="{FF2B5EF4-FFF2-40B4-BE49-F238E27FC236}">
                <a16:creationId xmlns:a16="http://schemas.microsoft.com/office/drawing/2014/main" id="{4A7310C7-5D91-E645-A05A-C56E7D689D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926379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C0DC-94AE-D16F-C3A8-B660B32F18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33175B-6C88-90AF-CB54-9D4BD6C6F49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FD669E9D-8E13-013F-8174-CE349376292F}"/>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796B8D4E-DC61-4930-81DD-AD321060BBE1}"/>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 name="Group 15">
            <a:extLst>
              <a:ext uri="{FF2B5EF4-FFF2-40B4-BE49-F238E27FC236}">
                <a16:creationId xmlns:a16="http://schemas.microsoft.com/office/drawing/2014/main" id="{C8B273C7-AF43-FB24-145B-E5F505C7E5A7}"/>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68497952-2020-5A10-36CF-C84F0BA7925C}"/>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7AD2CF3B-1B50-8DDA-BE4F-7C64C715D12D}"/>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A1FD8DE8-6CF8-96B7-77EF-1FE34525D9E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7" name="Picture 6">
            <a:extLst>
              <a:ext uri="{FF2B5EF4-FFF2-40B4-BE49-F238E27FC236}">
                <a16:creationId xmlns:a16="http://schemas.microsoft.com/office/drawing/2014/main" id="{3136D93E-D33F-E19D-0D11-C352510F5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2535" y="1671082"/>
            <a:ext cx="13335000" cy="7167563"/>
          </a:xfrm>
          <a:prstGeom prst="rect">
            <a:avLst/>
          </a:prstGeom>
        </p:spPr>
      </p:pic>
    </p:spTree>
    <p:extLst>
      <p:ext uri="{BB962C8B-B14F-4D97-AF65-F5344CB8AC3E}">
        <p14:creationId xmlns:p14="http://schemas.microsoft.com/office/powerpoint/2010/main" val="2680146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CURRENT STATUS</a:t>
            </a:r>
          </a:p>
        </p:txBody>
      </p:sp>
      <p:grpSp>
        <p:nvGrpSpPr>
          <p:cNvPr id="21" name="Group 21"/>
          <p:cNvGrpSpPr/>
          <p:nvPr/>
        </p:nvGrpSpPr>
        <p:grpSpPr>
          <a:xfrm>
            <a:off x="1028700" y="1866900"/>
            <a:ext cx="12458700" cy="7211238"/>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562100" y="2781300"/>
            <a:ext cx="11672237" cy="5565947"/>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 Selected the base paper for core methodology reference.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Analyzed and understood existing systems and architectures.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problem statement and real-world constraints.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Completed a detailed literature survey covering detection, depth estimation, and 3D reconstruction.</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technology stack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Open3D).</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Started deep-dive research on the integration of detection + depth + mesh reconstruction pipeline.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Working on refining the design for the proposed system architecture.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Preparing dataset collection and preprocessing plan for upcoming implementation.</a:t>
            </a:r>
          </a:p>
        </p:txBody>
      </p:sp>
      <p:sp>
        <p:nvSpPr>
          <p:cNvPr id="3" name="TextBox 2">
            <a:extLst>
              <a:ext uri="{FF2B5EF4-FFF2-40B4-BE49-F238E27FC236}">
                <a16:creationId xmlns:a16="http://schemas.microsoft.com/office/drawing/2014/main" id="{0B54B707-C2FF-0E03-379D-99A511D5644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461726"/>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25</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299989"/>
            <a:ext cx="10668000" cy="6634958"/>
          </a:xfrm>
          <a:prstGeom prst="rect">
            <a:avLst/>
          </a:prstGeom>
          <a:noFill/>
        </p:spPr>
        <p:txBody>
          <a:bodyPr wrap="square" rtlCol="0">
            <a:spAutoFit/>
          </a:bodyPr>
          <a:lstStyle/>
          <a:p>
            <a:pPr algn="just">
              <a:lnSpc>
                <a:spcPct val="200000"/>
              </a:lnSpc>
            </a:pPr>
            <a:r>
              <a:rPr lang="en-US" sz="2400" dirty="0">
                <a:solidFill>
                  <a:schemeClr val="bg1"/>
                </a:solidFill>
                <a:latin typeface="Times New Roman" panose="02020603050405020304" pitchFamily="18" charset="0"/>
                <a:cs typeface="Times New Roman" panose="02020603050405020304" pitchFamily="18" charset="0"/>
              </a:rPr>
              <a:t>This presentation established a strong foundation for a real-time wireframe-based pothole detection system by analyzing existing solutions, identifying key limitations, and defining a clear problem statement. Through an extensive literature survey, it highlighted advances in vision-based detection, depth estimation, and 3D reconstruction. The proposed solution, system workflow, and architecture outline a cost-effective, monocular camera pipeline using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and Open3D for accurate anomaly detection and geometry analysis. The defined hardware and software requirements provide a complete blueprint for implementation, enabling a structured and scalable path toward developing the final system.</a:t>
            </a:r>
          </a:p>
        </p:txBody>
      </p:sp>
      <p:sp>
        <p:nvSpPr>
          <p:cNvPr id="3" name="TextBox 2">
            <a:extLst>
              <a:ext uri="{FF2B5EF4-FFF2-40B4-BE49-F238E27FC236}">
                <a16:creationId xmlns:a16="http://schemas.microsoft.com/office/drawing/2014/main" id="{39F34AA7-DC2C-FF7B-93DA-105996C57A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199836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26</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52ACC4-E122-5D4E-5D06-64643E70542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501818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5448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27</a:t>
            </a:r>
          </a:p>
        </p:txBody>
      </p:sp>
      <p:sp>
        <p:nvSpPr>
          <p:cNvPr id="3" name="TextBox 2">
            <a:extLst>
              <a:ext uri="{FF2B5EF4-FFF2-40B4-BE49-F238E27FC236}">
                <a16:creationId xmlns:a16="http://schemas.microsoft.com/office/drawing/2014/main" id="{BA137C5B-2CCF-7808-F86D-94544129FBA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1388</TotalTime>
  <Words>3206</Words>
  <Application>Microsoft Office PowerPoint</Application>
  <PresentationFormat>Custom</PresentationFormat>
  <Paragraphs>348</Paragraphs>
  <Slides>27</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Wingdings</vt:lpstr>
      <vt:lpstr>Arial</vt:lpstr>
      <vt:lpstr>Calibri</vt:lpstr>
      <vt:lpstr>RQND Pro UltraWide</vt:lpstr>
      <vt:lpstr>Times New Roman</vt:lpstr>
      <vt:lpstr>Telegraf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dc:creator>Sirajuddeen Mohamed</dc:creator>
  <cp:lastModifiedBy>Sirajuddeen Mohamed</cp:lastModifiedBy>
  <cp:revision>47</cp:revision>
  <dcterms:created xsi:type="dcterms:W3CDTF">2006-08-16T00:00:00Z</dcterms:created>
  <dcterms:modified xsi:type="dcterms:W3CDTF">2025-11-19T05:50:03Z</dcterms:modified>
  <dc:identifier>DAG1RaZYIuE</dc:identifier>
</cp:coreProperties>
</file>