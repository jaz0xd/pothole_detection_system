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6" r:id="rId3"/>
    <p:sldId id="257" r:id="rId4"/>
    <p:sldId id="267" r:id="rId5"/>
    <p:sldId id="260" r:id="rId6"/>
    <p:sldId id="261" r:id="rId7"/>
    <p:sldId id="263" r:id="rId8"/>
    <p:sldId id="282" r:id="rId9"/>
    <p:sldId id="283" r:id="rId10"/>
    <p:sldId id="276" r:id="rId11"/>
    <p:sldId id="284" r:id="rId12"/>
    <p:sldId id="285" r:id="rId13"/>
    <p:sldId id="272" r:id="rId14"/>
    <p:sldId id="273" r:id="rId15"/>
    <p:sldId id="277" r:id="rId16"/>
    <p:sldId id="278" r:id="rId17"/>
    <p:sldId id="279" r:id="rId18"/>
    <p:sldId id="280" r:id="rId19"/>
    <p:sldId id="281" r:id="rId20"/>
    <p:sldId id="288" r:id="rId21"/>
    <p:sldId id="289" r:id="rId22"/>
    <p:sldId id="265" r:id="rId23"/>
    <p:sldId id="287" r:id="rId24"/>
    <p:sldId id="274" r:id="rId25"/>
    <p:sldId id="275" r:id="rId26"/>
    <p:sldId id="266" r:id="rId27"/>
  </p:sldIdLst>
  <p:sldSz cx="18288000" cy="10287000"/>
  <p:notesSz cx="6858000" cy="9144000"/>
  <p:embeddedFontLst>
    <p:embeddedFont>
      <p:font typeface="RQND Pro UltraWide" panose="020B0604020202020204" charset="0"/>
      <p:regular r:id="rId28"/>
    </p:embeddedFont>
    <p:embeddedFont>
      <p:font typeface="Telegraf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55" autoAdjust="0"/>
  </p:normalViewPr>
  <p:slideViewPr>
    <p:cSldViewPr>
      <p:cViewPr varScale="1">
        <p:scale>
          <a:sx n="74" d="100"/>
          <a:sy n="74" d="100"/>
        </p:scale>
        <p:origin x="43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3.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6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6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E3302-D576-EB73-8F2C-CA87C416DE2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C47516F-A50A-4E24-CE1D-C8CE58E88B5F}"/>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a:extLst>
              <a:ext uri="{FF2B5EF4-FFF2-40B4-BE49-F238E27FC236}">
                <a16:creationId xmlns:a16="http://schemas.microsoft.com/office/drawing/2014/main" id="{A23E029A-FCD4-F77E-9C4E-C6E6CFBAD09E}"/>
              </a:ext>
            </a:extLst>
          </p:cNvPr>
          <p:cNvSpPr/>
          <p:nvPr/>
        </p:nvSpPr>
        <p:spPr>
          <a:xfrm>
            <a:off x="1295401" y="7789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a:extLst>
              <a:ext uri="{FF2B5EF4-FFF2-40B4-BE49-F238E27FC236}">
                <a16:creationId xmlns:a16="http://schemas.microsoft.com/office/drawing/2014/main" id="{4F6070C9-3E77-0A2C-5914-DECBD0323E96}"/>
              </a:ext>
            </a:extLst>
          </p:cNvPr>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a:extLst>
              <a:ext uri="{FF2B5EF4-FFF2-40B4-BE49-F238E27FC236}">
                <a16:creationId xmlns:a16="http://schemas.microsoft.com/office/drawing/2014/main" id="{21867058-380E-A773-F168-AEC5999C756D}"/>
              </a:ext>
            </a:extLst>
          </p:cNvPr>
          <p:cNvSpPr txBox="1"/>
          <p:nvPr/>
        </p:nvSpPr>
        <p:spPr>
          <a:xfrm>
            <a:off x="2392307" y="4993063"/>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49" name="TextBox 49">
            <a:extLst>
              <a:ext uri="{FF2B5EF4-FFF2-40B4-BE49-F238E27FC236}">
                <a16:creationId xmlns:a16="http://schemas.microsoft.com/office/drawing/2014/main" id="{5DF078BB-2063-A9CD-B3F3-484C2C705DCF}"/>
              </a:ext>
            </a:extLst>
          </p:cNvPr>
          <p:cNvSpPr txBox="1"/>
          <p:nvPr/>
        </p:nvSpPr>
        <p:spPr>
          <a:xfrm>
            <a:off x="2392306" y="4149400"/>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50" name="TextBox 50">
            <a:extLst>
              <a:ext uri="{FF2B5EF4-FFF2-40B4-BE49-F238E27FC236}">
                <a16:creationId xmlns:a16="http://schemas.microsoft.com/office/drawing/2014/main" id="{BB975EB6-E0CF-A1C3-5DC3-8B91AE0DF473}"/>
              </a:ext>
            </a:extLst>
          </p:cNvPr>
          <p:cNvSpPr txBox="1"/>
          <p:nvPr/>
        </p:nvSpPr>
        <p:spPr>
          <a:xfrm>
            <a:off x="2392307" y="130729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102" name="TextBox 48">
            <a:extLst>
              <a:ext uri="{FF2B5EF4-FFF2-40B4-BE49-F238E27FC236}">
                <a16:creationId xmlns:a16="http://schemas.microsoft.com/office/drawing/2014/main" id="{11079985-64E9-5922-79A7-D8E142A015A8}"/>
              </a:ext>
            </a:extLst>
          </p:cNvPr>
          <p:cNvSpPr txBox="1"/>
          <p:nvPr/>
        </p:nvSpPr>
        <p:spPr>
          <a:xfrm>
            <a:off x="2392306" y="6072962"/>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105" name="TextBox 49">
            <a:extLst>
              <a:ext uri="{FF2B5EF4-FFF2-40B4-BE49-F238E27FC236}">
                <a16:creationId xmlns:a16="http://schemas.microsoft.com/office/drawing/2014/main" id="{A8958DD0-58DE-B16B-153D-95A0D8509068}"/>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B548C3F2-F3C3-09F2-AAED-39DFE9749531}"/>
              </a:ext>
            </a:extLst>
          </p:cNvPr>
          <p:cNvSpPr txBox="1"/>
          <p:nvPr/>
        </p:nvSpPr>
        <p:spPr>
          <a:xfrm>
            <a:off x="2392306" y="795889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08" name="TextBox 48">
            <a:extLst>
              <a:ext uri="{FF2B5EF4-FFF2-40B4-BE49-F238E27FC236}">
                <a16:creationId xmlns:a16="http://schemas.microsoft.com/office/drawing/2014/main" id="{0A5D7884-E7A4-8F5E-71E3-25F8AE6A687F}"/>
              </a:ext>
            </a:extLst>
          </p:cNvPr>
          <p:cNvSpPr txBox="1"/>
          <p:nvPr/>
        </p:nvSpPr>
        <p:spPr>
          <a:xfrm>
            <a:off x="2393349" y="705604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SURVEY SUMMARY TABLE</a:t>
            </a:r>
          </a:p>
        </p:txBody>
      </p:sp>
      <p:sp>
        <p:nvSpPr>
          <p:cNvPr id="109" name="TextBox 50">
            <a:extLst>
              <a:ext uri="{FF2B5EF4-FFF2-40B4-BE49-F238E27FC236}">
                <a16:creationId xmlns:a16="http://schemas.microsoft.com/office/drawing/2014/main" id="{C1BD3287-F4D9-0838-ACB1-3BD8475F5D3E}"/>
              </a:ext>
            </a:extLst>
          </p:cNvPr>
          <p:cNvSpPr txBox="1"/>
          <p:nvPr/>
        </p:nvSpPr>
        <p:spPr>
          <a:xfrm>
            <a:off x="11079105" y="1309363"/>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14" name="TextBox 113">
            <a:extLst>
              <a:ext uri="{FF2B5EF4-FFF2-40B4-BE49-F238E27FC236}">
                <a16:creationId xmlns:a16="http://schemas.microsoft.com/office/drawing/2014/main" id="{97417221-F96A-6BBB-7EFF-E2F9ECBEE929}"/>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2EE1CDFA-6CC2-699E-4170-E90B7B8CBFC1}"/>
              </a:ext>
            </a:extLst>
          </p:cNvPr>
          <p:cNvSpPr/>
          <p:nvPr/>
        </p:nvSpPr>
        <p:spPr>
          <a:xfrm>
            <a:off x="1296445" y="683022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D7226C12-7DE9-6935-8806-2F46A24EDE3F}"/>
              </a:ext>
            </a:extLst>
          </p:cNvPr>
          <p:cNvSpPr/>
          <p:nvPr/>
        </p:nvSpPr>
        <p:spPr>
          <a:xfrm>
            <a:off x="1295401" y="48987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C8ABAB3B-C9E2-68E6-3460-7043B45952B7}"/>
              </a:ext>
            </a:extLst>
          </p:cNvPr>
          <p:cNvSpPr/>
          <p:nvPr/>
        </p:nvSpPr>
        <p:spPr>
          <a:xfrm>
            <a:off x="9982200"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ECB507C0-6D33-CE6C-11A7-741BEF5CFD04}"/>
              </a:ext>
            </a:extLst>
          </p:cNvPr>
          <p:cNvSpPr/>
          <p:nvPr/>
        </p:nvSpPr>
        <p:spPr>
          <a:xfrm>
            <a:off x="1295401" y="586447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1700CD70-043F-2065-6427-F2464E2B4E29}"/>
              </a:ext>
            </a:extLst>
          </p:cNvPr>
          <p:cNvSpPr/>
          <p:nvPr/>
        </p:nvSpPr>
        <p:spPr>
          <a:xfrm>
            <a:off x="1287051" y="39276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43A79D57-05D6-3B19-D8B1-880498136549}"/>
              </a:ext>
            </a:extLst>
          </p:cNvPr>
          <p:cNvSpPr/>
          <p:nvPr/>
        </p:nvSpPr>
        <p:spPr>
          <a:xfrm>
            <a:off x="1287051" y="29619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32C9739-6960-30AC-0E8E-CDE46CE6F6F9}"/>
              </a:ext>
            </a:extLst>
          </p:cNvPr>
          <p:cNvSpPr/>
          <p:nvPr/>
        </p:nvSpPr>
        <p:spPr>
          <a:xfrm>
            <a:off x="1295401" y="20318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DCEA4E6-FE41-9FF5-B225-9B7B512A8907}"/>
              </a:ext>
            </a:extLst>
          </p:cNvPr>
          <p:cNvSpPr/>
          <p:nvPr/>
        </p:nvSpPr>
        <p:spPr>
          <a:xfrm>
            <a:off x="1295401"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A8796BFD-24E0-7FCE-D98D-E2965FF06187}"/>
              </a:ext>
            </a:extLst>
          </p:cNvPr>
          <p:cNvSpPr txBox="1"/>
          <p:nvPr/>
        </p:nvSpPr>
        <p:spPr>
          <a:xfrm>
            <a:off x="2392307" y="223421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6" name="TextBox 49">
            <a:extLst>
              <a:ext uri="{FF2B5EF4-FFF2-40B4-BE49-F238E27FC236}">
                <a16:creationId xmlns:a16="http://schemas.microsoft.com/office/drawing/2014/main" id="{80EEE459-FC56-C3F3-8DF6-7CDF82D9B214}"/>
              </a:ext>
            </a:extLst>
          </p:cNvPr>
          <p:cNvSpPr txBox="1"/>
          <p:nvPr/>
        </p:nvSpPr>
        <p:spPr>
          <a:xfrm>
            <a:off x="2392307" y="31180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WORK</a:t>
            </a:r>
          </a:p>
        </p:txBody>
      </p:sp>
      <p:sp>
        <p:nvSpPr>
          <p:cNvPr id="45" name="TextBox 50">
            <a:extLst>
              <a:ext uri="{FF2B5EF4-FFF2-40B4-BE49-F238E27FC236}">
                <a16:creationId xmlns:a16="http://schemas.microsoft.com/office/drawing/2014/main" id="{3C56860C-18F4-C26C-AF1C-3BC6AFE8C362}"/>
              </a:ext>
            </a:extLst>
          </p:cNvPr>
          <p:cNvSpPr txBox="1"/>
          <p:nvPr/>
        </p:nvSpPr>
        <p:spPr>
          <a:xfrm>
            <a:off x="11079106" y="2221691"/>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ARCHITECTURE</a:t>
            </a:r>
          </a:p>
        </p:txBody>
      </p:sp>
      <p:sp>
        <p:nvSpPr>
          <p:cNvPr id="101" name="Freeform 33">
            <a:extLst>
              <a:ext uri="{FF2B5EF4-FFF2-40B4-BE49-F238E27FC236}">
                <a16:creationId xmlns:a16="http://schemas.microsoft.com/office/drawing/2014/main" id="{B97EF363-E0F7-504A-773A-0AB8ED7DD5DD}"/>
              </a:ext>
            </a:extLst>
          </p:cNvPr>
          <p:cNvSpPr/>
          <p:nvPr/>
        </p:nvSpPr>
        <p:spPr>
          <a:xfrm>
            <a:off x="9982200" y="29462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1F28DCBF-54F6-996E-8A8B-CB3AA4B5E925}"/>
              </a:ext>
            </a:extLst>
          </p:cNvPr>
          <p:cNvSpPr/>
          <p:nvPr/>
        </p:nvSpPr>
        <p:spPr>
          <a:xfrm>
            <a:off x="9982200" y="2019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5FDF1D29-C912-A65A-E554-38C376783C5B}"/>
              </a:ext>
            </a:extLst>
          </p:cNvPr>
          <p:cNvSpPr txBox="1"/>
          <p:nvPr/>
        </p:nvSpPr>
        <p:spPr>
          <a:xfrm>
            <a:off x="11079105" y="3148610"/>
            <a:ext cx="6446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H/W REQUIREMENT &amp; S/W REQUIREMENT</a:t>
            </a:r>
          </a:p>
        </p:txBody>
      </p:sp>
      <p:sp>
        <p:nvSpPr>
          <p:cNvPr id="4" name="Freeform 33">
            <a:extLst>
              <a:ext uri="{FF2B5EF4-FFF2-40B4-BE49-F238E27FC236}">
                <a16:creationId xmlns:a16="http://schemas.microsoft.com/office/drawing/2014/main" id="{A17DFA80-0533-069F-A54D-2DCF38F36A9D}"/>
              </a:ext>
            </a:extLst>
          </p:cNvPr>
          <p:cNvSpPr/>
          <p:nvPr/>
        </p:nvSpPr>
        <p:spPr>
          <a:xfrm>
            <a:off x="10012304" y="3873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0A2F1026-45D5-9AFF-E5D3-E173D088DF81}"/>
              </a:ext>
            </a:extLst>
          </p:cNvPr>
          <p:cNvSpPr txBox="1"/>
          <p:nvPr/>
        </p:nvSpPr>
        <p:spPr>
          <a:xfrm>
            <a:off x="11079105" y="4075655"/>
            <a:ext cx="6294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ENVIRONMENT SETUP SCREEN SHOT</a:t>
            </a:r>
          </a:p>
        </p:txBody>
      </p:sp>
      <p:sp>
        <p:nvSpPr>
          <p:cNvPr id="14" name="Freeform 33">
            <a:extLst>
              <a:ext uri="{FF2B5EF4-FFF2-40B4-BE49-F238E27FC236}">
                <a16:creationId xmlns:a16="http://schemas.microsoft.com/office/drawing/2014/main" id="{EB3FE778-BC89-3819-0ED4-EFCE07D9A8B0}"/>
              </a:ext>
            </a:extLst>
          </p:cNvPr>
          <p:cNvSpPr/>
          <p:nvPr/>
        </p:nvSpPr>
        <p:spPr>
          <a:xfrm>
            <a:off x="10012304" y="4863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B6D3D91A-F1DC-FD78-0103-0384F9FF7A24}"/>
              </a:ext>
            </a:extLst>
          </p:cNvPr>
          <p:cNvSpPr txBox="1"/>
          <p:nvPr/>
        </p:nvSpPr>
        <p:spPr>
          <a:xfrm>
            <a:off x="11109210" y="5066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IMPLEMENTATION DETAILS</a:t>
            </a:r>
          </a:p>
        </p:txBody>
      </p:sp>
      <p:sp>
        <p:nvSpPr>
          <p:cNvPr id="18" name="Freeform 33">
            <a:extLst>
              <a:ext uri="{FF2B5EF4-FFF2-40B4-BE49-F238E27FC236}">
                <a16:creationId xmlns:a16="http://schemas.microsoft.com/office/drawing/2014/main" id="{698FAF71-B568-7EC7-D198-FC2134094139}"/>
              </a:ext>
            </a:extLst>
          </p:cNvPr>
          <p:cNvSpPr/>
          <p:nvPr/>
        </p:nvSpPr>
        <p:spPr>
          <a:xfrm>
            <a:off x="10012304" y="58544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D49C9E66-225A-C3FE-7D12-8E33513C2B86}"/>
              </a:ext>
            </a:extLst>
          </p:cNvPr>
          <p:cNvSpPr txBox="1"/>
          <p:nvPr/>
        </p:nvSpPr>
        <p:spPr>
          <a:xfrm>
            <a:off x="11109210" y="60568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RESULT &amp; DISCUSSION</a:t>
            </a:r>
          </a:p>
        </p:txBody>
      </p:sp>
      <p:sp>
        <p:nvSpPr>
          <p:cNvPr id="20" name="Freeform 33">
            <a:extLst>
              <a:ext uri="{FF2B5EF4-FFF2-40B4-BE49-F238E27FC236}">
                <a16:creationId xmlns:a16="http://schemas.microsoft.com/office/drawing/2014/main" id="{534AA426-BF06-5B84-FAD9-FE1D1E107B06}"/>
              </a:ext>
            </a:extLst>
          </p:cNvPr>
          <p:cNvSpPr/>
          <p:nvPr/>
        </p:nvSpPr>
        <p:spPr>
          <a:xfrm>
            <a:off x="10012304" y="6819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597CC6F8-27B7-BECE-F4C3-9EDC20C338E1}"/>
              </a:ext>
            </a:extLst>
          </p:cNvPr>
          <p:cNvSpPr txBox="1"/>
          <p:nvPr/>
        </p:nvSpPr>
        <p:spPr>
          <a:xfrm>
            <a:off x="11109210" y="7022291"/>
            <a:ext cx="6065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 &amp; FUTURE ENHANCEMENT</a:t>
            </a:r>
          </a:p>
        </p:txBody>
      </p:sp>
      <p:sp>
        <p:nvSpPr>
          <p:cNvPr id="22" name="TextBox 21">
            <a:extLst>
              <a:ext uri="{FF2B5EF4-FFF2-40B4-BE49-F238E27FC236}">
                <a16:creationId xmlns:a16="http://schemas.microsoft.com/office/drawing/2014/main" id="{163838DF-4B97-A985-01C8-E81D7859B24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23" name="Freeform 33">
            <a:extLst>
              <a:ext uri="{FF2B5EF4-FFF2-40B4-BE49-F238E27FC236}">
                <a16:creationId xmlns:a16="http://schemas.microsoft.com/office/drawing/2014/main" id="{416173BE-7130-926B-0D46-E9815707BF43}"/>
              </a:ext>
            </a:extLst>
          </p:cNvPr>
          <p:cNvSpPr/>
          <p:nvPr/>
        </p:nvSpPr>
        <p:spPr>
          <a:xfrm>
            <a:off x="10012304" y="77594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24" name="TextBox 49">
            <a:extLst>
              <a:ext uri="{FF2B5EF4-FFF2-40B4-BE49-F238E27FC236}">
                <a16:creationId xmlns:a16="http://schemas.microsoft.com/office/drawing/2014/main" id="{9519D188-AECC-EA97-E53F-B86972D4206E}"/>
              </a:ext>
            </a:extLst>
          </p:cNvPr>
          <p:cNvSpPr txBox="1"/>
          <p:nvPr/>
        </p:nvSpPr>
        <p:spPr>
          <a:xfrm>
            <a:off x="11109210" y="79618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Tree>
    <p:extLst>
      <p:ext uri="{BB962C8B-B14F-4D97-AF65-F5344CB8AC3E}">
        <p14:creationId xmlns:p14="http://schemas.microsoft.com/office/powerpoint/2010/main" val="3916796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work</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076450" y="1962023"/>
            <a:ext cx="13792200" cy="6762877"/>
          </a:xfrm>
          <a:prstGeom prst="rect">
            <a:avLst/>
          </a:prstGeom>
        </p:spPr>
        <p:txBody>
          <a:bodyPr wrap="square" lIns="0" tIns="0" rIns="0" bIns="0" rtlCol="0" anchor="t">
            <a:spAutoFit/>
          </a:bodyPr>
          <a:lstStyle/>
          <a:p>
            <a:pPr marL="457200" indent="-457200" algn="just">
              <a:lnSpc>
                <a:spcPct val="200000"/>
              </a:lnSpc>
              <a:buFont typeface="+mj-lt"/>
              <a:buAutoNum type="arabicPeriod"/>
            </a:pPr>
            <a:r>
              <a:rPr lang="en-US" sz="2800" b="1" dirty="0">
                <a:solidFill>
                  <a:schemeClr val="bg1"/>
                </a:solidFill>
                <a:latin typeface="Times New Roman" panose="02020603050405020304" pitchFamily="18" charset="0"/>
                <a:cs typeface="Times New Roman" panose="02020603050405020304" pitchFamily="18" charset="0"/>
              </a:rPr>
              <a:t>Economic Impracticality: </a:t>
            </a:r>
            <a:r>
              <a:rPr lang="en-US" sz="2800" dirty="0">
                <a:solidFill>
                  <a:schemeClr val="bg1"/>
                </a:solidFill>
                <a:latin typeface="Times New Roman" panose="02020603050405020304" pitchFamily="18" charset="0"/>
                <a:cs typeface="Times New Roman" panose="02020603050405020304" pitchFamily="18" charset="0"/>
              </a:rPr>
              <a:t>LiDAR-based pothole detection systems are prohibitively expensive for mass-scale autonomous vehicle deployment, with high unit costs, complex calibration pipelines, and heavy computational requirements making them economically unsustainable.</a:t>
            </a:r>
          </a:p>
          <a:p>
            <a:pPr marL="457200" indent="-457200" algn="just">
              <a:lnSpc>
                <a:spcPct val="200000"/>
              </a:lnSpc>
              <a:buFont typeface="+mj-lt"/>
              <a:buAutoNum type="arabicPeriod"/>
            </a:pPr>
            <a:r>
              <a:rPr lang="en-US" sz="2800" b="1" dirty="0">
                <a:solidFill>
                  <a:schemeClr val="bg1"/>
                </a:solidFill>
                <a:latin typeface="Times New Roman" panose="02020603050405020304" pitchFamily="18" charset="0"/>
                <a:cs typeface="Times New Roman" panose="02020603050405020304" pitchFamily="18" charset="0"/>
              </a:rPr>
              <a:t>Physical and Environmental Limitations:</a:t>
            </a:r>
            <a:r>
              <a:rPr lang="en-US" sz="2800" dirty="0">
                <a:solidFill>
                  <a:schemeClr val="bg1"/>
                </a:solidFill>
                <a:latin typeface="Times New Roman" panose="02020603050405020304" pitchFamily="18" charset="0"/>
                <a:cs typeface="Times New Roman" panose="02020603050405020304" pitchFamily="18" charset="0"/>
              </a:rPr>
              <a:t> LiDAR fails to reliably detect water-filled potholes due to laser scattering caused by water's refractive index, and its bulky external mounting disrupts vehicle aerodynamics — making it structurally impractical for all types of real-world vehicle deployment.</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SURVEY SUMMARY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1235455" y="1943100"/>
            <a:ext cx="15680945" cy="5993436"/>
          </a:xfrm>
          <a:prstGeom prst="rect">
            <a:avLst/>
          </a:prstGeom>
          <a:noFill/>
        </p:spPr>
        <p:txBody>
          <a:bodyPr wrap="square" rtlCol="0">
            <a:spAutoFit/>
          </a:bodyPr>
          <a:lstStyle/>
          <a:p>
            <a:pPr marL="514350" indent="-514350" algn="just">
              <a:lnSpc>
                <a:spcPct val="200000"/>
              </a:lnSpc>
              <a:buFont typeface="+mj-lt"/>
              <a:buAutoNum type="arabicPeriod"/>
            </a:pPr>
            <a:r>
              <a:rPr lang="en-US" sz="2800" b="1" dirty="0">
                <a:solidFill>
                  <a:schemeClr val="bg1"/>
                </a:solidFill>
                <a:latin typeface="Times New Roman" panose="02020603050405020304" pitchFamily="18" charset="0"/>
                <a:cs typeface="Times New Roman" panose="02020603050405020304" pitchFamily="18" charset="0"/>
              </a:rPr>
              <a:t>Low-Cost Vision-Based Detection:</a:t>
            </a:r>
            <a:r>
              <a:rPr lang="en-US" sz="2800" dirty="0">
                <a:solidFill>
                  <a:schemeClr val="bg1"/>
                </a:solidFill>
                <a:latin typeface="Times New Roman" panose="02020603050405020304" pitchFamily="18" charset="0"/>
                <a:cs typeface="Times New Roman" panose="02020603050405020304" pitchFamily="18" charset="0"/>
              </a:rPr>
              <a:t> A monocular camera-based pothole detection system using deep learning eliminates the need for expensive LiDAR hardware, offering a lightweight, cost-effective alternative suitable for mass-scale autonomous vehicle deployment.</a:t>
            </a:r>
          </a:p>
          <a:p>
            <a:pPr marL="514350" indent="-514350" algn="just">
              <a:lnSpc>
                <a:spcPct val="200000"/>
              </a:lnSpc>
              <a:buFont typeface="+mj-lt"/>
              <a:buAutoNum type="arabicPeriod"/>
            </a:pPr>
            <a:r>
              <a:rPr lang="en-US" sz="2800" b="1" dirty="0">
                <a:solidFill>
                  <a:schemeClr val="bg1"/>
                </a:solidFill>
                <a:latin typeface="Times New Roman" panose="02020603050405020304" pitchFamily="18" charset="0"/>
                <a:cs typeface="Times New Roman" panose="02020603050405020304" pitchFamily="18" charset="0"/>
              </a:rPr>
              <a:t>Robust Detection in Adverse Conditions:</a:t>
            </a:r>
            <a:r>
              <a:rPr lang="en-US" sz="2800" dirty="0">
                <a:solidFill>
                  <a:schemeClr val="bg1"/>
                </a:solidFill>
                <a:latin typeface="Times New Roman" panose="02020603050405020304" pitchFamily="18" charset="0"/>
                <a:cs typeface="Times New Roman" panose="02020603050405020304" pitchFamily="18" charset="0"/>
              </a:rPr>
              <a:t> By relying solely on visual data and monocular depth estimation, the system detects surface anomalies and water-filled potholes independent of laser reflectivity, while the compact camera form factor preserves vehicle aerodynamics without structural compromise.</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15261"/>
            <a:ext cx="6758186" cy="7109639"/>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Software Requirements</a:t>
            </a:r>
          </a:p>
          <a:p>
            <a:endParaRPr lang="en-US" sz="2400" b="1"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Programming Language:</a:t>
            </a:r>
            <a:r>
              <a:rPr lang="en-US" sz="2400" dirty="0">
                <a:solidFill>
                  <a:schemeClr val="bg1"/>
                </a:solidFill>
                <a:latin typeface="Times New Roman" panose="02020603050405020304" pitchFamily="18" charset="0"/>
                <a:cs typeface="Times New Roman" panose="02020603050405020304" pitchFamily="18" charset="0"/>
              </a:rPr>
              <a:t> Python 3.10+</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Deep Learning Framework:</a:t>
            </a:r>
            <a:r>
              <a:rPr lang="en-US" sz="2400" dirty="0">
                <a:solidFill>
                  <a:schemeClr val="bg1"/>
                </a:solidFill>
                <a:latin typeface="Times New Roman" panose="02020603050405020304" pitchFamily="18" charset="0"/>
                <a:cs typeface="Times New Roman" panose="02020603050405020304" pitchFamily="18" charset="0"/>
              </a:rPr>
              <a:t> </a:t>
            </a:r>
            <a:r>
              <a:rPr lang="en-US" sz="2400" dirty="0" err="1">
                <a:solidFill>
                  <a:schemeClr val="bg1"/>
                </a:solidFill>
                <a:latin typeface="Times New Roman" panose="02020603050405020304" pitchFamily="18" charset="0"/>
                <a:cs typeface="Times New Roman" panose="02020603050405020304" pitchFamily="18" charset="0"/>
              </a:rPr>
              <a:t>PyTorch</a:t>
            </a:r>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ML Models:</a:t>
            </a:r>
            <a:r>
              <a:rPr lang="en-US" sz="2400" dirty="0">
                <a:solidFill>
                  <a:schemeClr val="bg1"/>
                </a:solidFill>
                <a:latin typeface="Times New Roman" panose="02020603050405020304" pitchFamily="18" charset="0"/>
                <a:cs typeface="Times New Roman" panose="02020603050405020304" pitchFamily="18" charset="0"/>
              </a:rPr>
              <a:t> YOLOv8-Seg,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 </a:t>
            </a:r>
            <a:r>
              <a:rPr lang="en-US" sz="2400" dirty="0" err="1">
                <a:solidFill>
                  <a:schemeClr val="bg1"/>
                </a:solidFill>
                <a:latin typeface="Times New Roman" panose="02020603050405020304" pitchFamily="18" charset="0"/>
                <a:cs typeface="Times New Roman" panose="02020603050405020304" pitchFamily="18" charset="0"/>
              </a:rPr>
              <a:t>DepthAnything</a:t>
            </a:r>
            <a:r>
              <a:rPr lang="en-US" sz="2400" dirty="0">
                <a:solidFill>
                  <a:schemeClr val="bg1"/>
                </a:solidFill>
                <a:latin typeface="Times New Roman" panose="02020603050405020304" pitchFamily="18" charset="0"/>
                <a:cs typeface="Times New Roman" panose="02020603050405020304" pitchFamily="18" charset="0"/>
              </a:rPr>
              <a:t> V2</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3D Toolkit:</a:t>
            </a:r>
            <a:r>
              <a:rPr lang="en-US" sz="2400" dirty="0">
                <a:solidFill>
                  <a:schemeClr val="bg1"/>
                </a:solidFill>
                <a:latin typeface="Times New Roman" panose="02020603050405020304" pitchFamily="18" charset="0"/>
                <a:cs typeface="Times New Roman" panose="02020603050405020304" pitchFamily="18" charset="0"/>
              </a:rPr>
              <a:t> Open3D</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Development Tools:</a:t>
            </a:r>
            <a:endParaRPr lang="en-US" sz="2400" dirty="0">
              <a:solidFill>
                <a:schemeClr val="bg1"/>
              </a:solidFill>
              <a:latin typeface="Times New Roman" panose="02020603050405020304" pitchFamily="18" charset="0"/>
              <a:cs typeface="Times New Roman" panose="02020603050405020304" pitchFamily="18" charset="0"/>
            </a:endParaRPr>
          </a:p>
          <a:p>
            <a:pPr lvl="1"/>
            <a:r>
              <a:rPr lang="en-US" sz="24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400" dirty="0" err="1">
                <a:solidFill>
                  <a:schemeClr val="bg1"/>
                </a:solidFill>
                <a:latin typeface="Times New Roman" panose="02020603050405020304" pitchFamily="18" charset="0"/>
                <a:cs typeface="Times New Roman" panose="02020603050405020304" pitchFamily="18" charset="0"/>
              </a:rPr>
              <a:t>Jupyter</a:t>
            </a:r>
            <a:r>
              <a:rPr lang="en-US" sz="2400" dirty="0">
                <a:solidFill>
                  <a:schemeClr val="bg1"/>
                </a:solidFill>
                <a:latin typeface="Times New Roman" panose="02020603050405020304" pitchFamily="18" charset="0"/>
                <a:cs typeface="Times New Roman" panose="02020603050405020304" pitchFamily="18" charset="0"/>
              </a:rPr>
              <a:t> Notebook / VS Code</a:t>
            </a:r>
          </a:p>
          <a:p>
            <a:pPr lvl="1"/>
            <a:r>
              <a:rPr lang="en-US" sz="2400" dirty="0">
                <a:solidFill>
                  <a:schemeClr val="bg1"/>
                </a:solidFill>
                <a:latin typeface="Times New Roman" panose="02020603050405020304" pitchFamily="18" charset="0"/>
                <a:cs typeface="Times New Roman" panose="02020603050405020304" pitchFamily="18" charset="0"/>
              </a:rPr>
              <a:t>CUDA Toolkit (if using NVIDIA GPU)</a:t>
            </a:r>
          </a:p>
          <a:p>
            <a:pPr lvl="1"/>
            <a:r>
              <a:rPr lang="en-US" sz="2400" dirty="0">
                <a:solidFill>
                  <a:schemeClr val="bg1"/>
                </a:solidFill>
                <a:latin typeface="Times New Roman" panose="02020603050405020304" pitchFamily="18" charset="0"/>
                <a:cs typeface="Times New Roman" panose="02020603050405020304" pitchFamily="18" charset="0"/>
              </a:rPr>
              <a:t>CARLA / Gazebo Simulation</a:t>
            </a:r>
          </a:p>
          <a:p>
            <a:pPr lvl="1"/>
            <a:r>
              <a:rPr lang="en-US" sz="2400" dirty="0">
                <a:solidFill>
                  <a:schemeClr val="bg1"/>
                </a:solidFill>
                <a:latin typeface="Times New Roman" panose="02020603050405020304" pitchFamily="18" charset="0"/>
                <a:cs typeface="Times New Roman" panose="02020603050405020304" pitchFamily="18" charset="0"/>
              </a:rPr>
              <a:t>Docker</a:t>
            </a:r>
          </a:p>
          <a:p>
            <a:pPr lvl="1"/>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OS:</a:t>
            </a:r>
            <a:r>
              <a:rPr lang="en-US" sz="2400" dirty="0">
                <a:solidFill>
                  <a:schemeClr val="bg1"/>
                </a:solidFill>
                <a:latin typeface="Times New Roman" panose="02020603050405020304" pitchFamily="18" charset="0"/>
                <a:cs typeface="Times New Roman" panose="02020603050405020304" pitchFamily="18" charset="0"/>
              </a:rPr>
              <a:t> Ubuntu 20.04/22.04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3136D93E-D33F-E19D-0D11-C352510F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35" y="1671082"/>
            <a:ext cx="13335000" cy="7167563"/>
          </a:xfrm>
          <a:prstGeom prst="rect">
            <a:avLst/>
          </a:prstGeom>
        </p:spPr>
      </p:pic>
    </p:spTree>
    <p:extLst>
      <p:ext uri="{BB962C8B-B14F-4D97-AF65-F5344CB8AC3E}">
        <p14:creationId xmlns:p14="http://schemas.microsoft.com/office/powerpoint/2010/main" val="2680146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2596F-4084-D950-CACA-5A002AE82CF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80F2A9-355F-2722-6B7E-99B6E6CA1BE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91D76DD-7B06-E17C-3B04-9006E955B18B}"/>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CB72D1C7-F37E-2F8B-5360-0B4AD79886A6}"/>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84404294-54D1-3AE8-6F20-5CBB52AE6D8D}"/>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055BF542-026D-8E18-10C8-56AB39AFA40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C8A2DE2F-62DF-77E0-53DF-93CF061139B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93863A8D-FFD1-1E24-E31C-A5F0A1788CD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9" name="Picture 8">
            <a:extLst>
              <a:ext uri="{FF2B5EF4-FFF2-40B4-BE49-F238E27FC236}">
                <a16:creationId xmlns:a16="http://schemas.microsoft.com/office/drawing/2014/main" id="{AD77B6BC-09DF-7229-A80E-114D521B43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6326" y="1687717"/>
            <a:ext cx="13321209" cy="6928201"/>
          </a:xfrm>
          <a:prstGeom prst="rect">
            <a:avLst/>
          </a:prstGeom>
        </p:spPr>
      </p:pic>
    </p:spTree>
    <p:extLst>
      <p:ext uri="{BB962C8B-B14F-4D97-AF65-F5344CB8AC3E}">
        <p14:creationId xmlns:p14="http://schemas.microsoft.com/office/powerpoint/2010/main" val="15854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FB61-046F-1D28-62B7-64CC48B72B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99F5E16-D379-E8AE-79CF-2D455DAC4E12}"/>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088A41E5-85DF-A4F7-0FE3-70FD2B7A4BCE}"/>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8DB916D8-BB92-8455-111D-7C770EC23E1A}"/>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 name="Group 15">
            <a:extLst>
              <a:ext uri="{FF2B5EF4-FFF2-40B4-BE49-F238E27FC236}">
                <a16:creationId xmlns:a16="http://schemas.microsoft.com/office/drawing/2014/main" id="{31222359-354F-6B5E-87C4-8D62AA7F859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8875468-2598-BC61-3CBD-937FCE71E74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1324FD0-CF72-8DF8-7C37-AB0B62A8F3A2}"/>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DB2BB831-B224-8E89-2025-B11E5C9AAFD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9" name="Picture 8">
            <a:extLst>
              <a:ext uri="{FF2B5EF4-FFF2-40B4-BE49-F238E27FC236}">
                <a16:creationId xmlns:a16="http://schemas.microsoft.com/office/drawing/2014/main" id="{4E754E7A-B206-BB9C-FD06-2224E58536D0}"/>
              </a:ext>
            </a:extLst>
          </p:cNvPr>
          <p:cNvPicPr>
            <a:picLocks noChangeAspect="1"/>
          </p:cNvPicPr>
          <p:nvPr/>
        </p:nvPicPr>
        <p:blipFill>
          <a:blip r:embed="rId3"/>
          <a:stretch>
            <a:fillRect/>
          </a:stretch>
        </p:blipFill>
        <p:spPr>
          <a:xfrm>
            <a:off x="1353360" y="1474243"/>
            <a:ext cx="15325854" cy="7363438"/>
          </a:xfrm>
          <a:prstGeom prst="rect">
            <a:avLst/>
          </a:prstGeom>
        </p:spPr>
      </p:pic>
    </p:spTree>
    <p:extLst>
      <p:ext uri="{BB962C8B-B14F-4D97-AF65-F5344CB8AC3E}">
        <p14:creationId xmlns:p14="http://schemas.microsoft.com/office/powerpoint/2010/main" val="9389331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IMPLEMENTATION DETAILS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45000" sy="80000" flip="none" algn="tl"/>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669581" y="2297653"/>
            <a:ext cx="11672237" cy="6275051"/>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Development environment configured: Python 3.10+, Anaconda, CUDA Toolkit, Docker</a:t>
            </a:r>
            <a:r>
              <a:rPr lang="en-US">
                <a:solidFill>
                  <a:schemeClr val="bg1"/>
                </a:solidFill>
                <a:latin typeface="Times New Roman" panose="02020603050405020304" pitchFamily="18" charset="0"/>
                <a:cs typeface="Times New Roman" panose="02020603050405020304" pitchFamily="18" charset="0"/>
              </a:rPr>
              <a:t>, Arduino IDE </a:t>
            </a:r>
            <a:r>
              <a:rPr lang="en-US" dirty="0">
                <a:solidFill>
                  <a:schemeClr val="bg1"/>
                </a:solidFill>
                <a:latin typeface="Times New Roman" panose="02020603050405020304" pitchFamily="18" charset="0"/>
                <a:cs typeface="Times New Roman" panose="02020603050405020304" pitchFamily="18" charset="0"/>
              </a:rPr>
              <a:t>and VS Code set up on an RTX 3070 Ti system. (21.75 TFLOPS)</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YOLOv8 object detection model installed and tested on pothole dataset images; model loads and runs inference successfully.</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Pothole detection implemented using bounding box method — potholes are identified and localized with rectangular bounding boxes per frame.</a:t>
            </a:r>
          </a:p>
          <a:p>
            <a:pPr marL="285750" indent="-285750">
              <a:lnSpc>
                <a:spcPct val="150000"/>
              </a:lnSpc>
              <a:buFont typeface="Wingdings" panose="05000000000000000000" pitchFamily="2" charset="2"/>
              <a:buChar char="v"/>
            </a:pPr>
            <a:r>
              <a:rPr lang="en-US" dirty="0" err="1">
                <a:solidFill>
                  <a:schemeClr val="bg1"/>
                </a:solidFill>
                <a:latin typeface="Times New Roman" panose="02020603050405020304" pitchFamily="18" charset="0"/>
                <a:cs typeface="Times New Roman" panose="02020603050405020304" pitchFamily="18" charset="0"/>
              </a:rPr>
              <a:t>MiDaS</a:t>
            </a:r>
            <a:r>
              <a:rPr lang="en-US" dirty="0">
                <a:solidFill>
                  <a:schemeClr val="bg1"/>
                </a:solidFill>
                <a:latin typeface="Times New Roman" panose="02020603050405020304" pitchFamily="18" charset="0"/>
                <a:cs typeface="Times New Roman" panose="02020603050405020304" pitchFamily="18" charset="0"/>
              </a:rPr>
              <a:t> / </a:t>
            </a:r>
            <a:r>
              <a:rPr lang="en-US" dirty="0" err="1">
                <a:solidFill>
                  <a:schemeClr val="bg1"/>
                </a:solidFill>
                <a:latin typeface="Times New Roman" panose="02020603050405020304" pitchFamily="18" charset="0"/>
                <a:cs typeface="Times New Roman" panose="02020603050405020304" pitchFamily="18" charset="0"/>
              </a:rPr>
              <a:t>DepthAnything</a:t>
            </a:r>
            <a:r>
              <a:rPr lang="en-US" dirty="0">
                <a:solidFill>
                  <a:schemeClr val="bg1"/>
                </a:solidFill>
                <a:latin typeface="Times New Roman" panose="02020603050405020304" pitchFamily="18" charset="0"/>
                <a:cs typeface="Times New Roman" panose="02020603050405020304" pitchFamily="18" charset="0"/>
              </a:rPr>
              <a:t> V2 integrated as a standalone module; per-pixel depth maps are being generated from monocular RGB frames.</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Initial sensor integration completed: detection output (bounding boxes) and depth maps are being linked together in the pipeline.</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Detection accuracy is currently moderate — false positives observed under varying lighting and surface conditions; model tuning is ongoing.</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Wireframe-based 3D mesh generation from monocular depth is the next planned stage; design and research are in progress but not yet implemented.</a:t>
            </a:r>
          </a:p>
          <a:p>
            <a:pPr marL="285750" indent="-285750">
              <a:lnSpc>
                <a:spcPct val="150000"/>
              </a:lnSpc>
              <a:buFont typeface="Wingdings" panose="05000000000000000000" pitchFamily="2" charset="2"/>
              <a:buChar char="v"/>
            </a:pPr>
            <a:r>
              <a:rPr lang="en-US" dirty="0">
                <a:solidFill>
                  <a:schemeClr val="bg1"/>
                </a:solidFill>
                <a:latin typeface="Times New Roman" panose="02020603050405020304" pitchFamily="18" charset="0"/>
                <a:cs typeface="Times New Roman" panose="02020603050405020304" pitchFamily="18" charset="0"/>
              </a:rPr>
              <a:t>Transition from 2D bounding box detection to full 3D geometric wireframe representation is the core objective</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51025-E756-E32A-A2A9-93ECFD5318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50E4F1A-BE49-AA7C-88E1-2C98456EA9D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A72A4D8-6474-8405-0B07-CD004F4F7191}"/>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RESULT &amp; DISCUSSION</a:t>
            </a:r>
          </a:p>
        </p:txBody>
      </p:sp>
      <p:grpSp>
        <p:nvGrpSpPr>
          <p:cNvPr id="21" name="Group 21">
            <a:extLst>
              <a:ext uri="{FF2B5EF4-FFF2-40B4-BE49-F238E27FC236}">
                <a16:creationId xmlns:a16="http://schemas.microsoft.com/office/drawing/2014/main" id="{E5C2223F-66CD-9F3D-6FF9-ACE47E6C96F3}"/>
              </a:ext>
            </a:extLst>
          </p:cNvPr>
          <p:cNvGrpSpPr/>
          <p:nvPr/>
        </p:nvGrpSpPr>
        <p:grpSpPr>
          <a:xfrm>
            <a:off x="1028700" y="1866900"/>
            <a:ext cx="12458700" cy="7211238"/>
            <a:chOff x="0" y="0"/>
            <a:chExt cx="2717129" cy="1637498"/>
          </a:xfrm>
        </p:grpSpPr>
        <p:sp>
          <p:nvSpPr>
            <p:cNvPr id="22" name="Freeform 22">
              <a:extLst>
                <a:ext uri="{FF2B5EF4-FFF2-40B4-BE49-F238E27FC236}">
                  <a16:creationId xmlns:a16="http://schemas.microsoft.com/office/drawing/2014/main" id="{2280FE21-C874-5F65-FA6F-97EB4BAF70E9}"/>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a:extLst>
                <a:ext uri="{FF2B5EF4-FFF2-40B4-BE49-F238E27FC236}">
                  <a16:creationId xmlns:a16="http://schemas.microsoft.com/office/drawing/2014/main" id="{7DF3035E-8816-DD83-6F97-AF8AF1C4A584}"/>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27DDF86C-D6B1-85C3-2EF8-5D1F4A9DEB2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6" name="Group 34">
            <a:extLst>
              <a:ext uri="{FF2B5EF4-FFF2-40B4-BE49-F238E27FC236}">
                <a16:creationId xmlns:a16="http://schemas.microsoft.com/office/drawing/2014/main" id="{6E0614A8-5C6A-E239-99F5-B9DC30BF3D78}"/>
              </a:ext>
            </a:extLst>
          </p:cNvPr>
          <p:cNvGrpSpPr/>
          <p:nvPr/>
        </p:nvGrpSpPr>
        <p:grpSpPr>
          <a:xfrm>
            <a:off x="14157570" y="3223432"/>
            <a:ext cx="3473345" cy="4714531"/>
            <a:chOff x="0" y="0"/>
            <a:chExt cx="1824099" cy="2475934"/>
          </a:xfrm>
        </p:grpSpPr>
        <p:sp>
          <p:nvSpPr>
            <p:cNvPr id="37" name="Freeform 35">
              <a:extLst>
                <a:ext uri="{FF2B5EF4-FFF2-40B4-BE49-F238E27FC236}">
                  <a16:creationId xmlns:a16="http://schemas.microsoft.com/office/drawing/2014/main" id="{79887E9E-B264-B5D3-7A0A-7351AB25C50E}"/>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DC9BA15-94CC-A0EC-96BC-A6DA529725E1}"/>
              </a:ext>
            </a:extLst>
          </p:cNvPr>
          <p:cNvSpPr txBox="1"/>
          <p:nvPr/>
        </p:nvSpPr>
        <p:spPr>
          <a:xfrm>
            <a:off x="1540099" y="2325617"/>
            <a:ext cx="11672237" cy="6500306"/>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YOLOv8 successfully detected potholes across test images; bounding boxes were generated around pothole regions in real time.</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Detection runs at acceptable inference speed on GPU; real-time processing feasibility on a single camera feed has been confirmed.</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Depth maps generated by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showed visible depth contrast between road surface and pothole regions, confirming monocular depth estimation is viable for this use case.</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Initial integration of detection output and depth maps established; bounding box coordinates are being correlated with corresponding depth regions.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Detection accuracy is currently moderate — the model shows occasional false positives under challenging lighting, wet surfaces, and shadow conditions.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 current bounding box approach lacks geometric depth information, which limits severity assessment and precise boundary localization of potholes.</a:t>
            </a:r>
          </a:p>
          <a:p>
            <a:pPr marL="285750" indent="-285750">
              <a:lnSpc>
                <a:spcPct val="150000"/>
              </a:lnSpc>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These limitations directly motivate the proposed transition to a wireframe-based 3D mesh pipeline using monocular depth.</a:t>
            </a:r>
          </a:p>
        </p:txBody>
      </p:sp>
      <p:sp>
        <p:nvSpPr>
          <p:cNvPr id="3" name="TextBox 2">
            <a:extLst>
              <a:ext uri="{FF2B5EF4-FFF2-40B4-BE49-F238E27FC236}">
                <a16:creationId xmlns:a16="http://schemas.microsoft.com/office/drawing/2014/main" id="{CE408C2D-530A-3643-6CF9-AB3900ABCBFC}"/>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46661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68021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 &amp; FUTURE ENHANCEMENT</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5538504"/>
          </a:xfrm>
          <a:prstGeom prst="rect">
            <a:avLst/>
          </a:prstGeom>
          <a:noFill/>
        </p:spPr>
        <p:txBody>
          <a:bodyPr wrap="square" rtlCol="0">
            <a:spAutoFit/>
          </a:bodyPr>
          <a:lstStyle/>
          <a:p>
            <a:pPr algn="just">
              <a:lnSpc>
                <a:spcPct val="200000"/>
              </a:lnSpc>
            </a:pPr>
            <a:r>
              <a:rPr lang="en-US" sz="2000" dirty="0">
                <a:solidFill>
                  <a:schemeClr val="bg1"/>
                </a:solidFill>
                <a:latin typeface="Times New Roman" panose="02020603050405020304" pitchFamily="18" charset="0"/>
                <a:cs typeface="Times New Roman" panose="02020603050405020304" pitchFamily="18" charset="0"/>
              </a:rPr>
              <a:t>The current demonstration is a fully functional, LiDAR-free pothole detection pipeline using a single RGB camera, YOLOv8-Seg, MiDaS depth estimation, Open3D wireframe reconstruction, and a geometry-aware decision engine. The end-to-end system detects potholes, generates 3D wireframe meshes, computes geometric severity metrics (depth, area, perimeter), and triggers proactive vehicle responses in real time — all without expensive sensors or calibration overhead.</a:t>
            </a:r>
          </a:p>
          <a:p>
            <a:pPr algn="just">
              <a:lnSpc>
                <a:spcPct val="200000"/>
              </a:lnSpc>
            </a:pPr>
            <a:r>
              <a:rPr lang="en-US" sz="2000" b="1" dirty="0">
                <a:solidFill>
                  <a:schemeClr val="bg1"/>
                </a:solidFill>
                <a:latin typeface="Times New Roman" panose="02020603050405020304" pitchFamily="18" charset="0"/>
                <a:cs typeface="Times New Roman" panose="02020603050405020304" pitchFamily="18" charset="0"/>
              </a:rPr>
              <a:t>Future Plan:</a:t>
            </a:r>
            <a:r>
              <a:rPr lang="en-US" sz="2000" dirty="0">
                <a:solidFill>
                  <a:schemeClr val="bg1"/>
                </a:solidFill>
                <a:latin typeface="Times New Roman" panose="02020603050405020304" pitchFamily="18" charset="0"/>
                <a:cs typeface="Times New Roman" panose="02020603050405020304" pitchFamily="18" charset="0"/>
              </a:rPr>
              <a:t> Temporal modeling (RNN/Video Transformers) for frame-to-frame wireframe stability | Metric depth via camera calibration for accurate pothole volume | Multi-defect detection (cracks, bumps) | Vehicle dynamics integration for adaptive deceleration | Crowdsourced road monitoring | Edge/embedded optimization for deployment on NVIDIA Jetson platforms.</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25</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26</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1623</TotalTime>
  <Words>3029</Words>
  <Application>Microsoft Office PowerPoint</Application>
  <PresentationFormat>Custom</PresentationFormat>
  <Paragraphs>308</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RQND Pro UltraWide</vt:lpstr>
      <vt:lpstr>Wingdings</vt:lpstr>
      <vt:lpstr>Arial</vt:lpstr>
      <vt:lpstr>Calibri</vt:lpstr>
      <vt:lpstr>Telegraf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66</cp:revision>
  <dcterms:created xsi:type="dcterms:W3CDTF">2006-08-16T00:00:00Z</dcterms:created>
  <dcterms:modified xsi:type="dcterms:W3CDTF">2026-05-05T05:46:09Z</dcterms:modified>
  <dc:identifier>DAG1RaZYIuE</dc:identifier>
</cp:coreProperties>
</file>