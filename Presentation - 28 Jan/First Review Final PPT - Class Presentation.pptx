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67" r:id="rId4"/>
    <p:sldId id="269" r:id="rId5"/>
    <p:sldId id="257" r:id="rId6"/>
    <p:sldId id="268" r:id="rId7"/>
    <p:sldId id="259" r:id="rId8"/>
    <p:sldId id="260" r:id="rId9"/>
    <p:sldId id="261" r:id="rId10"/>
    <p:sldId id="262" r:id="rId11"/>
    <p:sldId id="263" r:id="rId12"/>
    <p:sldId id="282" r:id="rId13"/>
    <p:sldId id="283" r:id="rId14"/>
    <p:sldId id="276" r:id="rId15"/>
    <p:sldId id="284" r:id="rId16"/>
    <p:sldId id="285" r:id="rId17"/>
    <p:sldId id="272" r:id="rId18"/>
    <p:sldId id="273" r:id="rId19"/>
    <p:sldId id="277" r:id="rId20"/>
    <p:sldId id="278" r:id="rId21"/>
    <p:sldId id="279" r:id="rId22"/>
    <p:sldId id="280" r:id="rId23"/>
    <p:sldId id="281" r:id="rId24"/>
    <p:sldId id="286" r:id="rId25"/>
    <p:sldId id="265" r:id="rId26"/>
    <p:sldId id="274" r:id="rId27"/>
    <p:sldId id="275" r:id="rId28"/>
    <p:sldId id="266" r:id="rId29"/>
  </p:sldIdLst>
  <p:sldSz cx="18288000" cy="10287000"/>
  <p:notesSz cx="6858000" cy="9144000"/>
  <p:embeddedFontLst>
    <p:embeddedFont>
      <p:font typeface="RQND Pro UltraWide" panose="020B0604020202020204" charset="0"/>
      <p:regular r:id="rId30"/>
    </p:embeddedFont>
    <p:embeddedFont>
      <p:font typeface="Telegraf Bold"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0E2F"/>
    <a:srgbClr val="0610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3955" autoAdjust="0"/>
  </p:normalViewPr>
  <p:slideViewPr>
    <p:cSldViewPr>
      <p:cViewPr varScale="1">
        <p:scale>
          <a:sx n="76" d="100"/>
          <a:sy n="76" d="100"/>
        </p:scale>
        <p:origin x="456"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7.xml"/><Relationship Id="rId1" Type="http://schemas.openxmlformats.org/officeDocument/2006/relationships/video" Target="https://www.youtube.com/embed/WSHUezvgM5w?feature=oembed" TargetMode="Externa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hyperlink" Target="https://drive.google.com/file/d/1pbpjQva6PQAJU2hzoJgpfODLNsOAx2YV/view?usp=sharing" TargetMode="External"/><Relationship Id="rId3" Type="http://schemas.openxmlformats.org/officeDocument/2006/relationships/image" Target="../media/image12.jpeg"/><Relationship Id="rId7" Type="http://schemas.openxmlformats.org/officeDocument/2006/relationships/hyperlink" Target="https://drive.google.com/file/d/1EfuVSY5_US1L2wEm6w5aBGuBLNGki06P/view?usp=sharing"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drive.google.com/file/d/1enzCUbVJFTvjIE-nVM_P3z37AGjIGHbc/view?usp=sharing" TargetMode="External"/><Relationship Id="rId5" Type="http://schemas.openxmlformats.org/officeDocument/2006/relationships/hyperlink" Target="https://drive.google.com/file/d/1adlNLjx2g8YB3vjl2WpQVrSxM5jWTglU/view?usp=sharing" TargetMode="External"/><Relationship Id="rId4" Type="http://schemas.openxmlformats.org/officeDocument/2006/relationships/hyperlink" Target="https://drive.google.com/file/d/1Eod7ewoFXpmWhxGAnyGIVL7AW6_hg1ci/view?usp=sharing" TargetMode="External"/><Relationship Id="rId9" Type="http://schemas.openxmlformats.org/officeDocument/2006/relationships/hyperlink" Target="https://drive.google.com/file/d/1bDt5h6kmqC94IVqYDlON-RnQVGqddVQ5/view?usp=sharing"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0" name="Group 10"/>
          <p:cNvGrpSpPr/>
          <p:nvPr/>
        </p:nvGrpSpPr>
        <p:grpSpPr>
          <a:xfrm>
            <a:off x="1371600" y="2070575"/>
            <a:ext cx="5071538" cy="1937456"/>
            <a:chOff x="0" y="-38100"/>
            <a:chExt cx="544098" cy="147884"/>
          </a:xfrm>
        </p:grpSpPr>
        <p:sp>
          <p:nvSpPr>
            <p:cNvPr id="11" name="Freeform 11"/>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dirty="0"/>
            </a:p>
          </p:txBody>
        </p:sp>
        <p:sp>
          <p:nvSpPr>
            <p:cNvPr id="12" name="TextBox 12"/>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2209800" y="413476"/>
            <a:ext cx="15196022" cy="1736053"/>
          </a:xfrm>
          <a:prstGeom prst="rect">
            <a:avLst/>
          </a:prstGeom>
        </p:spPr>
        <p:txBody>
          <a:bodyPr wrap="square" lIns="0" tIns="0" rIns="0" bIns="0" rtlCol="0" anchor="t">
            <a:spAutoFit/>
          </a:bodyPr>
          <a:lstStyle/>
          <a:p>
            <a:pPr algn="ctr">
              <a:lnSpc>
                <a:spcPct val="150000"/>
              </a:lnSpc>
              <a:spcBef>
                <a:spcPct val="0"/>
              </a:spcBef>
            </a:pPr>
            <a:r>
              <a:rPr lang="en-US" sz="4000" b="1" dirty="0">
                <a:solidFill>
                  <a:srgbClr val="DEF0FF"/>
                </a:solidFill>
                <a:latin typeface="Times New Roman" panose="02020603050405020304" pitchFamily="18" charset="0"/>
                <a:ea typeface="RQND Pro UltraWide"/>
                <a:cs typeface="Times New Roman" panose="02020603050405020304" pitchFamily="18" charset="0"/>
                <a:sym typeface="RQND Pro UltraWide"/>
              </a:rPr>
              <a:t>REAL TIME WIREFRAME-BASED POTHOLE DETECTION AND AVOIDANCE SYSTEM</a:t>
            </a:r>
          </a:p>
        </p:txBody>
      </p:sp>
      <p:sp>
        <p:nvSpPr>
          <p:cNvPr id="18" name="TextBox 18"/>
          <p:cNvSpPr txBox="1"/>
          <p:nvPr/>
        </p:nvSpPr>
        <p:spPr>
          <a:xfrm>
            <a:off x="1600200" y="7907883"/>
            <a:ext cx="15011400"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GUIDED BY: DR RG SURESH KUMAR</a:t>
            </a:r>
          </a:p>
        </p:txBody>
      </p:sp>
      <p:sp>
        <p:nvSpPr>
          <p:cNvPr id="24" name="TextBox 24"/>
          <p:cNvSpPr txBox="1"/>
          <p:nvPr/>
        </p:nvSpPr>
        <p:spPr>
          <a:xfrm>
            <a:off x="1880969" y="3297000"/>
            <a:ext cx="4052800" cy="336631"/>
          </a:xfrm>
          <a:prstGeom prst="rect">
            <a:avLst/>
          </a:prstGeom>
        </p:spPr>
        <p:txBody>
          <a:bodyPr wrap="square" lIns="0" tIns="0" rIns="0" bIns="0" rtlCol="0" anchor="t">
            <a:spAutoFit/>
          </a:bodyPr>
          <a:lstStyle/>
          <a:p>
            <a:pPr algn="ctr">
              <a:lnSpc>
                <a:spcPts val="1960"/>
              </a:lnSpc>
              <a:spcBef>
                <a:spcPct val="0"/>
              </a:spcBef>
            </a:pPr>
            <a:r>
              <a:rPr lang="en-US" sz="4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25" name="TextBox 18">
            <a:extLst>
              <a:ext uri="{FF2B5EF4-FFF2-40B4-BE49-F238E27FC236}">
                <a16:creationId xmlns:a16="http://schemas.microsoft.com/office/drawing/2014/main" id="{C3CF9EE4-67DF-D0E0-45EB-5290786F0E47}"/>
              </a:ext>
            </a:extLst>
          </p:cNvPr>
          <p:cNvSpPr txBox="1"/>
          <p:nvPr/>
        </p:nvSpPr>
        <p:spPr>
          <a:xfrm>
            <a:off x="-381001" y="8648700"/>
            <a:ext cx="19049999" cy="436017"/>
          </a:xfrm>
          <a:prstGeom prst="rect">
            <a:avLst/>
          </a:prstGeom>
        </p:spPr>
        <p:txBody>
          <a:bodyPr wrap="square" lIns="0" tIns="0" rIns="0" bIns="0" rtlCol="0" anchor="t">
            <a:spAutoFit/>
          </a:bodyPr>
          <a:lstStyle/>
          <a:p>
            <a:pPr algn="ctr">
              <a:lnSpc>
                <a:spcPts val="3430"/>
              </a:lnSpc>
              <a:spcBef>
                <a:spcPct val="0"/>
              </a:spcBef>
            </a:pPr>
            <a:r>
              <a:rPr lang="en-US" sz="32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PRESENTED BY: MOHAMED B SIRAJUDDEEN</a:t>
            </a:r>
          </a:p>
        </p:txBody>
      </p:sp>
      <p:sp>
        <p:nvSpPr>
          <p:cNvPr id="26" name="TextBox 25">
            <a:extLst>
              <a:ext uri="{FF2B5EF4-FFF2-40B4-BE49-F238E27FC236}">
                <a16:creationId xmlns:a16="http://schemas.microsoft.com/office/drawing/2014/main" id="{95EE86EC-7ED9-793E-6A10-D109924504E5}"/>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a:t>
            </a:r>
          </a:p>
        </p:txBody>
      </p:sp>
      <p:sp>
        <p:nvSpPr>
          <p:cNvPr id="3" name="TextBox 2">
            <a:extLst>
              <a:ext uri="{FF2B5EF4-FFF2-40B4-BE49-F238E27FC236}">
                <a16:creationId xmlns:a16="http://schemas.microsoft.com/office/drawing/2014/main" id="{0406F2B0-D9C5-C1CF-A510-11E5A44206D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271E05-7182-1B63-237C-C642418F98F6}"/>
              </a:ext>
            </a:extLst>
          </p:cNvPr>
          <p:cNvPicPr>
            <a:picLocks noChangeAspect="1"/>
          </p:cNvPicPr>
          <p:nvPr/>
        </p:nvPicPr>
        <p:blipFill>
          <a:blip r:embed="rId2"/>
          <a:stretch>
            <a:fillRect/>
          </a:stretch>
        </p:blipFill>
        <p:spPr>
          <a:xfrm>
            <a:off x="0" y="0"/>
            <a:ext cx="18288000" cy="10287000"/>
          </a:xfrm>
          <a:prstGeom prst="rect">
            <a:avLst/>
          </a:prstGeom>
        </p:spPr>
      </p:pic>
      <p:sp>
        <p:nvSpPr>
          <p:cNvPr id="33" name="Freeform 33"/>
          <p:cNvSpPr/>
          <p:nvPr/>
        </p:nvSpPr>
        <p:spPr>
          <a:xfrm>
            <a:off x="1295401" y="7789832"/>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8</a:t>
            </a:r>
          </a:p>
        </p:txBody>
      </p:sp>
      <p:sp>
        <p:nvSpPr>
          <p:cNvPr id="38" name="TextBox 38"/>
          <p:cNvSpPr txBox="1"/>
          <p:nvPr/>
        </p:nvSpPr>
        <p:spPr>
          <a:xfrm>
            <a:off x="855864" y="258514"/>
            <a:ext cx="5849736"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AGENDA</a:t>
            </a:r>
          </a:p>
        </p:txBody>
      </p:sp>
      <p:sp>
        <p:nvSpPr>
          <p:cNvPr id="48" name="TextBox 48"/>
          <p:cNvSpPr txBox="1"/>
          <p:nvPr/>
        </p:nvSpPr>
        <p:spPr>
          <a:xfrm>
            <a:off x="2392307" y="4993063"/>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INTRODUCTION</a:t>
            </a:r>
          </a:p>
        </p:txBody>
      </p:sp>
      <p:sp>
        <p:nvSpPr>
          <p:cNvPr id="49" name="TextBox 49"/>
          <p:cNvSpPr txBox="1"/>
          <p:nvPr/>
        </p:nvSpPr>
        <p:spPr>
          <a:xfrm>
            <a:off x="2392307" y="414940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OBJECTIVE</a:t>
            </a:r>
          </a:p>
        </p:txBody>
      </p:sp>
      <p:sp>
        <p:nvSpPr>
          <p:cNvPr id="50" name="TextBox 50"/>
          <p:cNvSpPr txBox="1"/>
          <p:nvPr/>
        </p:nvSpPr>
        <p:spPr>
          <a:xfrm>
            <a:off x="2392307" y="1307291"/>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DOMAIN</a:t>
            </a:r>
          </a:p>
        </p:txBody>
      </p:sp>
      <p:sp>
        <p:nvSpPr>
          <p:cNvPr id="102" name="TextBox 48">
            <a:extLst>
              <a:ext uri="{FF2B5EF4-FFF2-40B4-BE49-F238E27FC236}">
                <a16:creationId xmlns:a16="http://schemas.microsoft.com/office/drawing/2014/main" id="{384E7366-CF6E-8505-1680-7AF0C3787EC4}"/>
              </a:ext>
            </a:extLst>
          </p:cNvPr>
          <p:cNvSpPr txBox="1"/>
          <p:nvPr/>
        </p:nvSpPr>
        <p:spPr>
          <a:xfrm>
            <a:off x="2392306" y="6072962"/>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SYSTEM</a:t>
            </a:r>
          </a:p>
        </p:txBody>
      </p:sp>
      <p:sp>
        <p:nvSpPr>
          <p:cNvPr id="105" name="TextBox 49">
            <a:extLst>
              <a:ext uri="{FF2B5EF4-FFF2-40B4-BE49-F238E27FC236}">
                <a16:creationId xmlns:a16="http://schemas.microsoft.com/office/drawing/2014/main" id="{F8D0C3BE-9728-E9B0-CFFD-E2A428F46293}"/>
              </a:ext>
            </a:extLst>
          </p:cNvPr>
          <p:cNvSpPr txBox="1"/>
          <p:nvPr/>
        </p:nvSpPr>
        <p:spPr>
          <a:xfrm>
            <a:off x="12427069" y="3625059"/>
            <a:ext cx="2830946" cy="387927"/>
          </a:xfrm>
          <a:prstGeom prst="rect">
            <a:avLst/>
          </a:prstGeom>
        </p:spPr>
        <p:txBody>
          <a:bodyPr wrap="square" lIns="0" tIns="0" rIns="0" bIns="0" rtlCol="0" anchor="t">
            <a:spAutoFit/>
          </a:bodyPr>
          <a:lstStyle/>
          <a:p>
            <a:pPr algn="l">
              <a:lnSpc>
                <a:spcPts val="3359"/>
              </a:lnSpc>
              <a:spcBef>
                <a:spcPct val="0"/>
              </a:spcBef>
            </a:pPr>
            <a:endParaRPr lang="en-US" dirty="0">
              <a:sym typeface="Telegraf Bold"/>
            </a:endParaRPr>
          </a:p>
        </p:txBody>
      </p:sp>
      <p:sp>
        <p:nvSpPr>
          <p:cNvPr id="106" name="TextBox 50">
            <a:extLst>
              <a:ext uri="{FF2B5EF4-FFF2-40B4-BE49-F238E27FC236}">
                <a16:creationId xmlns:a16="http://schemas.microsoft.com/office/drawing/2014/main" id="{214F33FC-43F0-EFA8-72E9-182B6E77C4B1}"/>
              </a:ext>
            </a:extLst>
          </p:cNvPr>
          <p:cNvSpPr txBox="1"/>
          <p:nvPr/>
        </p:nvSpPr>
        <p:spPr>
          <a:xfrm>
            <a:off x="2392306" y="795889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ADVANTAGES &amp; DISADVANTAGES</a:t>
            </a:r>
          </a:p>
        </p:txBody>
      </p:sp>
      <p:sp>
        <p:nvSpPr>
          <p:cNvPr id="108" name="TextBox 48">
            <a:extLst>
              <a:ext uri="{FF2B5EF4-FFF2-40B4-BE49-F238E27FC236}">
                <a16:creationId xmlns:a16="http://schemas.microsoft.com/office/drawing/2014/main" id="{F826DB5F-ACAD-E691-7C59-EE5577F9C526}"/>
              </a:ext>
            </a:extLst>
          </p:cNvPr>
          <p:cNvSpPr txBox="1"/>
          <p:nvPr/>
        </p:nvSpPr>
        <p:spPr>
          <a:xfrm>
            <a:off x="2393349" y="7056048"/>
            <a:ext cx="6827893" cy="408253"/>
          </a:xfrm>
          <a:prstGeom prst="rect">
            <a:avLst/>
          </a:prstGeom>
        </p:spPr>
        <p:txBody>
          <a:bodyPr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EXISTING ARCHITECTURE</a:t>
            </a:r>
          </a:p>
        </p:txBody>
      </p:sp>
      <p:sp>
        <p:nvSpPr>
          <p:cNvPr id="109" name="TextBox 50">
            <a:extLst>
              <a:ext uri="{FF2B5EF4-FFF2-40B4-BE49-F238E27FC236}">
                <a16:creationId xmlns:a16="http://schemas.microsoft.com/office/drawing/2014/main" id="{7654095F-C6E4-33F0-04E9-E5E7CB1BAC31}"/>
              </a:ext>
            </a:extLst>
          </p:cNvPr>
          <p:cNvSpPr txBox="1"/>
          <p:nvPr/>
        </p:nvSpPr>
        <p:spPr>
          <a:xfrm>
            <a:off x="2392306" y="8920373"/>
            <a:ext cx="5129337"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PROBLEM STATEMENT</a:t>
            </a:r>
          </a:p>
        </p:txBody>
      </p:sp>
      <p:sp>
        <p:nvSpPr>
          <p:cNvPr id="114" name="TextBox 113">
            <a:extLst>
              <a:ext uri="{FF2B5EF4-FFF2-40B4-BE49-F238E27FC236}">
                <a16:creationId xmlns:a16="http://schemas.microsoft.com/office/drawing/2014/main" id="{20A17950-74E0-E126-82F4-A2E80EB7F916}"/>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a:t>
            </a:r>
          </a:p>
        </p:txBody>
      </p:sp>
      <p:sp>
        <p:nvSpPr>
          <p:cNvPr id="5" name="Freeform 33">
            <a:extLst>
              <a:ext uri="{FF2B5EF4-FFF2-40B4-BE49-F238E27FC236}">
                <a16:creationId xmlns:a16="http://schemas.microsoft.com/office/drawing/2014/main" id="{A83AB24B-B306-9BA1-CF83-1A5F18759DCB}"/>
              </a:ext>
            </a:extLst>
          </p:cNvPr>
          <p:cNvSpPr/>
          <p:nvPr/>
        </p:nvSpPr>
        <p:spPr>
          <a:xfrm>
            <a:off x="1296445" y="683022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7</a:t>
            </a:r>
          </a:p>
        </p:txBody>
      </p:sp>
      <p:sp>
        <p:nvSpPr>
          <p:cNvPr id="6" name="Freeform 33">
            <a:extLst>
              <a:ext uri="{FF2B5EF4-FFF2-40B4-BE49-F238E27FC236}">
                <a16:creationId xmlns:a16="http://schemas.microsoft.com/office/drawing/2014/main" id="{6580204A-769D-EE6B-604C-1804188740F2}"/>
              </a:ext>
            </a:extLst>
          </p:cNvPr>
          <p:cNvSpPr/>
          <p:nvPr/>
        </p:nvSpPr>
        <p:spPr>
          <a:xfrm>
            <a:off x="1295401" y="489872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5</a:t>
            </a:r>
          </a:p>
        </p:txBody>
      </p:sp>
      <p:sp>
        <p:nvSpPr>
          <p:cNvPr id="7" name="Freeform 33">
            <a:extLst>
              <a:ext uri="{FF2B5EF4-FFF2-40B4-BE49-F238E27FC236}">
                <a16:creationId xmlns:a16="http://schemas.microsoft.com/office/drawing/2014/main" id="{FA42031A-A238-0EFA-CC72-EC6A20C5FE7A}"/>
              </a:ext>
            </a:extLst>
          </p:cNvPr>
          <p:cNvSpPr/>
          <p:nvPr/>
        </p:nvSpPr>
        <p:spPr>
          <a:xfrm>
            <a:off x="1295401" y="871591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9</a:t>
            </a:r>
          </a:p>
        </p:txBody>
      </p:sp>
      <p:sp>
        <p:nvSpPr>
          <p:cNvPr id="8" name="Freeform 33">
            <a:extLst>
              <a:ext uri="{FF2B5EF4-FFF2-40B4-BE49-F238E27FC236}">
                <a16:creationId xmlns:a16="http://schemas.microsoft.com/office/drawing/2014/main" id="{D64EDEA9-B0E2-C710-FE9D-158F5E998D41}"/>
              </a:ext>
            </a:extLst>
          </p:cNvPr>
          <p:cNvSpPr/>
          <p:nvPr/>
        </p:nvSpPr>
        <p:spPr>
          <a:xfrm>
            <a:off x="1295401" y="586447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6</a:t>
            </a:r>
          </a:p>
        </p:txBody>
      </p:sp>
      <p:sp>
        <p:nvSpPr>
          <p:cNvPr id="9" name="Freeform 33">
            <a:extLst>
              <a:ext uri="{FF2B5EF4-FFF2-40B4-BE49-F238E27FC236}">
                <a16:creationId xmlns:a16="http://schemas.microsoft.com/office/drawing/2014/main" id="{C0921A83-0873-5F37-C2E5-7FB0B30B8505}"/>
              </a:ext>
            </a:extLst>
          </p:cNvPr>
          <p:cNvSpPr/>
          <p:nvPr/>
        </p:nvSpPr>
        <p:spPr>
          <a:xfrm>
            <a:off x="1287051" y="3927698"/>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4</a:t>
            </a:r>
          </a:p>
        </p:txBody>
      </p:sp>
      <p:sp>
        <p:nvSpPr>
          <p:cNvPr id="10" name="Freeform 33">
            <a:extLst>
              <a:ext uri="{FF2B5EF4-FFF2-40B4-BE49-F238E27FC236}">
                <a16:creationId xmlns:a16="http://schemas.microsoft.com/office/drawing/2014/main" id="{772CE7FD-0DB1-C448-7B6B-99C51ECC833B}"/>
              </a:ext>
            </a:extLst>
          </p:cNvPr>
          <p:cNvSpPr/>
          <p:nvPr/>
        </p:nvSpPr>
        <p:spPr>
          <a:xfrm>
            <a:off x="1287051" y="296194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3</a:t>
            </a:r>
          </a:p>
        </p:txBody>
      </p:sp>
      <p:sp>
        <p:nvSpPr>
          <p:cNvPr id="11" name="Freeform 33">
            <a:extLst>
              <a:ext uri="{FF2B5EF4-FFF2-40B4-BE49-F238E27FC236}">
                <a16:creationId xmlns:a16="http://schemas.microsoft.com/office/drawing/2014/main" id="{40F17003-FBE6-445D-D4D4-AF15EE34C149}"/>
              </a:ext>
            </a:extLst>
          </p:cNvPr>
          <p:cNvSpPr/>
          <p:nvPr/>
        </p:nvSpPr>
        <p:spPr>
          <a:xfrm>
            <a:off x="1295401" y="20318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2</a:t>
            </a:r>
          </a:p>
        </p:txBody>
      </p:sp>
      <p:sp>
        <p:nvSpPr>
          <p:cNvPr id="12" name="Freeform 33">
            <a:extLst>
              <a:ext uri="{FF2B5EF4-FFF2-40B4-BE49-F238E27FC236}">
                <a16:creationId xmlns:a16="http://schemas.microsoft.com/office/drawing/2014/main" id="{E42D0303-D4C1-A2A7-214F-A16B16F16C3B}"/>
              </a:ext>
            </a:extLst>
          </p:cNvPr>
          <p:cNvSpPr/>
          <p:nvPr/>
        </p:nvSpPr>
        <p:spPr>
          <a:xfrm>
            <a:off x="1295401" y="11049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4400" dirty="0">
                <a:solidFill>
                  <a:schemeClr val="bg1"/>
                </a:solidFill>
                <a:latin typeface="RQND Pro UltraWide" panose="020B0604020202020204" charset="0"/>
              </a:rPr>
              <a:t>1</a:t>
            </a:r>
          </a:p>
        </p:txBody>
      </p:sp>
      <p:sp>
        <p:nvSpPr>
          <p:cNvPr id="15" name="TextBox 49">
            <a:extLst>
              <a:ext uri="{FF2B5EF4-FFF2-40B4-BE49-F238E27FC236}">
                <a16:creationId xmlns:a16="http://schemas.microsoft.com/office/drawing/2014/main" id="{36A051A9-FD2D-E927-48F6-B1B7EB9F4F3B}"/>
              </a:ext>
            </a:extLst>
          </p:cNvPr>
          <p:cNvSpPr txBox="1"/>
          <p:nvPr/>
        </p:nvSpPr>
        <p:spPr>
          <a:xfrm>
            <a:off x="2392307" y="2234210"/>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SHORT VIDEO</a:t>
            </a:r>
          </a:p>
        </p:txBody>
      </p:sp>
      <p:sp>
        <p:nvSpPr>
          <p:cNvPr id="16" name="TextBox 49">
            <a:extLst>
              <a:ext uri="{FF2B5EF4-FFF2-40B4-BE49-F238E27FC236}">
                <a16:creationId xmlns:a16="http://schemas.microsoft.com/office/drawing/2014/main" id="{682F4878-F0CE-1FB0-3F02-A9AEDCB41639}"/>
              </a:ext>
            </a:extLst>
          </p:cNvPr>
          <p:cNvSpPr txBox="1"/>
          <p:nvPr/>
        </p:nvSpPr>
        <p:spPr>
          <a:xfrm>
            <a:off x="2392307" y="3118087"/>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ABSTRACT</a:t>
            </a:r>
          </a:p>
        </p:txBody>
      </p:sp>
      <p:sp>
        <p:nvSpPr>
          <p:cNvPr id="43" name="TextBox 48">
            <a:extLst>
              <a:ext uri="{FF2B5EF4-FFF2-40B4-BE49-F238E27FC236}">
                <a16:creationId xmlns:a16="http://schemas.microsoft.com/office/drawing/2014/main" id="{C52C7EFD-3CC1-2126-5F37-7600AF8DAA8B}"/>
              </a:ext>
            </a:extLst>
          </p:cNvPr>
          <p:cNvSpPr txBox="1"/>
          <p:nvPr/>
        </p:nvSpPr>
        <p:spPr>
          <a:xfrm>
            <a:off x="11155307" y="9003419"/>
            <a:ext cx="48466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REFERENCE</a:t>
            </a:r>
          </a:p>
        </p:txBody>
      </p:sp>
      <p:sp>
        <p:nvSpPr>
          <p:cNvPr id="44" name="TextBox 49">
            <a:extLst>
              <a:ext uri="{FF2B5EF4-FFF2-40B4-BE49-F238E27FC236}">
                <a16:creationId xmlns:a16="http://schemas.microsoft.com/office/drawing/2014/main" id="{6143B2AC-6792-AF1E-473D-54F60014AF61}"/>
              </a:ext>
            </a:extLst>
          </p:cNvPr>
          <p:cNvSpPr txBox="1"/>
          <p:nvPr/>
        </p:nvSpPr>
        <p:spPr>
          <a:xfrm>
            <a:off x="11155307" y="8159756"/>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CONCLUSION</a:t>
            </a:r>
          </a:p>
        </p:txBody>
      </p:sp>
      <p:sp>
        <p:nvSpPr>
          <p:cNvPr id="45" name="TextBox 50">
            <a:extLst>
              <a:ext uri="{FF2B5EF4-FFF2-40B4-BE49-F238E27FC236}">
                <a16:creationId xmlns:a16="http://schemas.microsoft.com/office/drawing/2014/main" id="{0E84BF6C-CC97-6B83-1C0B-BF19E152F64F}"/>
              </a:ext>
            </a:extLst>
          </p:cNvPr>
          <p:cNvSpPr txBox="1"/>
          <p:nvPr/>
        </p:nvSpPr>
        <p:spPr>
          <a:xfrm>
            <a:off x="11155307" y="469091"/>
            <a:ext cx="3779893"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a:t>
            </a:r>
          </a:p>
        </p:txBody>
      </p:sp>
      <p:sp>
        <p:nvSpPr>
          <p:cNvPr id="46" name="Freeform 33">
            <a:extLst>
              <a:ext uri="{FF2B5EF4-FFF2-40B4-BE49-F238E27FC236}">
                <a16:creationId xmlns:a16="http://schemas.microsoft.com/office/drawing/2014/main" id="{69B6ACA5-E189-65DE-43CC-44F02D5F7A81}"/>
              </a:ext>
            </a:extLst>
          </p:cNvPr>
          <p:cNvSpPr/>
          <p:nvPr/>
        </p:nvSpPr>
        <p:spPr>
          <a:xfrm>
            <a:off x="10058401" y="8909076"/>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19</a:t>
            </a:r>
          </a:p>
        </p:txBody>
      </p:sp>
      <p:sp>
        <p:nvSpPr>
          <p:cNvPr id="47" name="Freeform 33">
            <a:extLst>
              <a:ext uri="{FF2B5EF4-FFF2-40B4-BE49-F238E27FC236}">
                <a16:creationId xmlns:a16="http://schemas.microsoft.com/office/drawing/2014/main" id="{A99358DF-8EB2-8495-63BC-C19F4A4096FE}"/>
              </a:ext>
            </a:extLst>
          </p:cNvPr>
          <p:cNvSpPr/>
          <p:nvPr/>
        </p:nvSpPr>
        <p:spPr>
          <a:xfrm>
            <a:off x="10050051" y="793805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18</a:t>
            </a:r>
          </a:p>
        </p:txBody>
      </p:sp>
      <p:sp>
        <p:nvSpPr>
          <p:cNvPr id="100" name="Freeform 33">
            <a:extLst>
              <a:ext uri="{FF2B5EF4-FFF2-40B4-BE49-F238E27FC236}">
                <a16:creationId xmlns:a16="http://schemas.microsoft.com/office/drawing/2014/main" id="{80DE1EF6-2319-82A7-B877-0BA63D551B6E}"/>
              </a:ext>
            </a:extLst>
          </p:cNvPr>
          <p:cNvSpPr/>
          <p:nvPr/>
        </p:nvSpPr>
        <p:spPr>
          <a:xfrm>
            <a:off x="10050051" y="6972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17</a:t>
            </a:r>
          </a:p>
        </p:txBody>
      </p:sp>
      <p:sp>
        <p:nvSpPr>
          <p:cNvPr id="101" name="Freeform 33">
            <a:extLst>
              <a:ext uri="{FF2B5EF4-FFF2-40B4-BE49-F238E27FC236}">
                <a16:creationId xmlns:a16="http://schemas.microsoft.com/office/drawing/2014/main" id="{31B7DDF4-49BF-0449-FCBE-41D67501EEAF}"/>
              </a:ext>
            </a:extLst>
          </p:cNvPr>
          <p:cNvSpPr/>
          <p:nvPr/>
        </p:nvSpPr>
        <p:spPr>
          <a:xfrm>
            <a:off x="10058401" y="1193619"/>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11</a:t>
            </a:r>
          </a:p>
        </p:txBody>
      </p:sp>
      <p:sp>
        <p:nvSpPr>
          <p:cNvPr id="103" name="Freeform 33">
            <a:extLst>
              <a:ext uri="{FF2B5EF4-FFF2-40B4-BE49-F238E27FC236}">
                <a16:creationId xmlns:a16="http://schemas.microsoft.com/office/drawing/2014/main" id="{8CF32C59-673E-EABD-A9AD-EC9CDE63F7ED}"/>
              </a:ext>
            </a:extLst>
          </p:cNvPr>
          <p:cNvSpPr/>
          <p:nvPr/>
        </p:nvSpPr>
        <p:spPr>
          <a:xfrm>
            <a:off x="10058401" y="2667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10</a:t>
            </a:r>
          </a:p>
        </p:txBody>
      </p:sp>
      <p:sp>
        <p:nvSpPr>
          <p:cNvPr id="111" name="TextBox 49">
            <a:extLst>
              <a:ext uri="{FF2B5EF4-FFF2-40B4-BE49-F238E27FC236}">
                <a16:creationId xmlns:a16="http://schemas.microsoft.com/office/drawing/2014/main" id="{CC607201-574A-1040-3C6F-31A5440B5E28}"/>
              </a:ext>
            </a:extLst>
          </p:cNvPr>
          <p:cNvSpPr txBox="1"/>
          <p:nvPr/>
        </p:nvSpPr>
        <p:spPr>
          <a:xfrm>
            <a:off x="11155307" y="1396010"/>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LITERATURE SURVEY TABLE</a:t>
            </a:r>
          </a:p>
        </p:txBody>
      </p:sp>
      <p:sp>
        <p:nvSpPr>
          <p:cNvPr id="112" name="TextBox 49">
            <a:extLst>
              <a:ext uri="{FF2B5EF4-FFF2-40B4-BE49-F238E27FC236}">
                <a16:creationId xmlns:a16="http://schemas.microsoft.com/office/drawing/2014/main" id="{5BB56E7B-FCE7-DB53-F503-F2D83ABA598E}"/>
              </a:ext>
            </a:extLst>
          </p:cNvPr>
          <p:cNvSpPr txBox="1"/>
          <p:nvPr/>
        </p:nvSpPr>
        <p:spPr>
          <a:xfrm>
            <a:off x="11155307" y="7128443"/>
            <a:ext cx="2830946"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CURRENT STATUS</a:t>
            </a:r>
          </a:p>
        </p:txBody>
      </p:sp>
      <p:sp>
        <p:nvSpPr>
          <p:cNvPr id="4" name="Freeform 33">
            <a:extLst>
              <a:ext uri="{FF2B5EF4-FFF2-40B4-BE49-F238E27FC236}">
                <a16:creationId xmlns:a16="http://schemas.microsoft.com/office/drawing/2014/main" id="{47C302A1-1D60-4A29-D2FA-87BF06952467}"/>
              </a:ext>
            </a:extLst>
          </p:cNvPr>
          <p:cNvSpPr/>
          <p:nvPr/>
        </p:nvSpPr>
        <p:spPr>
          <a:xfrm>
            <a:off x="10058400" y="21206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12</a:t>
            </a:r>
          </a:p>
        </p:txBody>
      </p:sp>
      <p:sp>
        <p:nvSpPr>
          <p:cNvPr id="13" name="TextBox 49">
            <a:extLst>
              <a:ext uri="{FF2B5EF4-FFF2-40B4-BE49-F238E27FC236}">
                <a16:creationId xmlns:a16="http://schemas.microsoft.com/office/drawing/2014/main" id="{359E7EC0-7700-CDA0-3BB0-D83C313DC19D}"/>
              </a:ext>
            </a:extLst>
          </p:cNvPr>
          <p:cNvSpPr txBox="1"/>
          <p:nvPr/>
        </p:nvSpPr>
        <p:spPr>
          <a:xfrm>
            <a:off x="11155306" y="23230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SOLUTION</a:t>
            </a:r>
          </a:p>
        </p:txBody>
      </p:sp>
      <p:sp>
        <p:nvSpPr>
          <p:cNvPr id="14" name="Freeform 33">
            <a:extLst>
              <a:ext uri="{FF2B5EF4-FFF2-40B4-BE49-F238E27FC236}">
                <a16:creationId xmlns:a16="http://schemas.microsoft.com/office/drawing/2014/main" id="{E98E0DE1-3219-59D4-96BE-47E7B8EE8B79}"/>
              </a:ext>
            </a:extLst>
          </p:cNvPr>
          <p:cNvSpPr/>
          <p:nvPr/>
        </p:nvSpPr>
        <p:spPr>
          <a:xfrm>
            <a:off x="10058400" y="31112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13</a:t>
            </a:r>
          </a:p>
        </p:txBody>
      </p:sp>
      <p:sp>
        <p:nvSpPr>
          <p:cNvPr id="17" name="TextBox 49">
            <a:extLst>
              <a:ext uri="{FF2B5EF4-FFF2-40B4-BE49-F238E27FC236}">
                <a16:creationId xmlns:a16="http://schemas.microsoft.com/office/drawing/2014/main" id="{DEE1AF1A-9EDB-4426-84BC-CBBC776D37CE}"/>
              </a:ext>
            </a:extLst>
          </p:cNvPr>
          <p:cNvSpPr txBox="1"/>
          <p:nvPr/>
        </p:nvSpPr>
        <p:spPr>
          <a:xfrm>
            <a:off x="11155306" y="33136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a:t>
            </a:r>
          </a:p>
        </p:txBody>
      </p:sp>
      <p:sp>
        <p:nvSpPr>
          <p:cNvPr id="18" name="Freeform 33">
            <a:extLst>
              <a:ext uri="{FF2B5EF4-FFF2-40B4-BE49-F238E27FC236}">
                <a16:creationId xmlns:a16="http://schemas.microsoft.com/office/drawing/2014/main" id="{844B149D-57F3-E8F6-3493-E80AB9D1AE69}"/>
              </a:ext>
            </a:extLst>
          </p:cNvPr>
          <p:cNvSpPr/>
          <p:nvPr/>
        </p:nvSpPr>
        <p:spPr>
          <a:xfrm>
            <a:off x="10058400" y="4101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14</a:t>
            </a:r>
          </a:p>
        </p:txBody>
      </p:sp>
      <p:sp>
        <p:nvSpPr>
          <p:cNvPr id="19" name="TextBox 49">
            <a:extLst>
              <a:ext uri="{FF2B5EF4-FFF2-40B4-BE49-F238E27FC236}">
                <a16:creationId xmlns:a16="http://schemas.microsoft.com/office/drawing/2014/main" id="{2E2C85CD-455C-2BD6-0C8D-56D8D5469DE2}"/>
              </a:ext>
            </a:extLst>
          </p:cNvPr>
          <p:cNvSpPr txBox="1"/>
          <p:nvPr/>
        </p:nvSpPr>
        <p:spPr>
          <a:xfrm>
            <a:off x="11155306" y="4304255"/>
            <a:ext cx="5532494"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PROPOSED SYSTEM ARCHITECTURE</a:t>
            </a:r>
          </a:p>
        </p:txBody>
      </p:sp>
      <p:sp>
        <p:nvSpPr>
          <p:cNvPr id="20" name="Freeform 33">
            <a:extLst>
              <a:ext uri="{FF2B5EF4-FFF2-40B4-BE49-F238E27FC236}">
                <a16:creationId xmlns:a16="http://schemas.microsoft.com/office/drawing/2014/main" id="{ECBF4FB0-8EA6-24C4-FA74-A156C4BA2993}"/>
              </a:ext>
            </a:extLst>
          </p:cNvPr>
          <p:cNvSpPr/>
          <p:nvPr/>
        </p:nvSpPr>
        <p:spPr>
          <a:xfrm>
            <a:off x="10058400" y="5067300"/>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15</a:t>
            </a:r>
          </a:p>
        </p:txBody>
      </p:sp>
      <p:sp>
        <p:nvSpPr>
          <p:cNvPr id="21" name="TextBox 49">
            <a:extLst>
              <a:ext uri="{FF2B5EF4-FFF2-40B4-BE49-F238E27FC236}">
                <a16:creationId xmlns:a16="http://schemas.microsoft.com/office/drawing/2014/main" id="{ACCC97D3-834A-02F8-F53B-E593237E3141}"/>
              </a:ext>
            </a:extLst>
          </p:cNvPr>
          <p:cNvSpPr txBox="1"/>
          <p:nvPr/>
        </p:nvSpPr>
        <p:spPr>
          <a:xfrm>
            <a:off x="11155306" y="5269691"/>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SYSTEM REQUIREMENT</a:t>
            </a:r>
          </a:p>
        </p:txBody>
      </p:sp>
      <p:sp>
        <p:nvSpPr>
          <p:cNvPr id="22" name="TextBox 21">
            <a:extLst>
              <a:ext uri="{FF2B5EF4-FFF2-40B4-BE49-F238E27FC236}">
                <a16:creationId xmlns:a16="http://schemas.microsoft.com/office/drawing/2014/main" id="{8D7AFBD6-B8F1-05C3-3D13-0D8C2A9889C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
        <p:nvSpPr>
          <p:cNvPr id="23" name="Freeform 33">
            <a:extLst>
              <a:ext uri="{FF2B5EF4-FFF2-40B4-BE49-F238E27FC236}">
                <a16:creationId xmlns:a16="http://schemas.microsoft.com/office/drawing/2014/main" id="{39FD3C05-F650-D53C-D849-1BD94F40EF6F}"/>
              </a:ext>
            </a:extLst>
          </p:cNvPr>
          <p:cNvSpPr/>
          <p:nvPr/>
        </p:nvSpPr>
        <p:spPr>
          <a:xfrm>
            <a:off x="10058400" y="6006864"/>
            <a:ext cx="762000" cy="813036"/>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path path="circle">
              <a:fillToRect l="50000" t="50000" r="50000" b="50000"/>
            </a:path>
            <a:tileRect/>
          </a:gradFill>
        </p:spPr>
        <p:txBody>
          <a:bodyPr/>
          <a:lstStyle/>
          <a:p>
            <a:pPr algn="ctr"/>
            <a:r>
              <a:rPr lang="en-US" sz="3600" dirty="0">
                <a:solidFill>
                  <a:schemeClr val="bg1"/>
                </a:solidFill>
                <a:latin typeface="RQND Pro UltraWide" panose="020B0604020202020204" charset="0"/>
              </a:rPr>
              <a:t>16</a:t>
            </a:r>
          </a:p>
        </p:txBody>
      </p:sp>
      <p:sp>
        <p:nvSpPr>
          <p:cNvPr id="24" name="TextBox 49">
            <a:extLst>
              <a:ext uri="{FF2B5EF4-FFF2-40B4-BE49-F238E27FC236}">
                <a16:creationId xmlns:a16="http://schemas.microsoft.com/office/drawing/2014/main" id="{F50D74BA-6622-AE8D-4564-EBA245DD1C88}"/>
              </a:ext>
            </a:extLst>
          </p:cNvPr>
          <p:cNvSpPr txBox="1"/>
          <p:nvPr/>
        </p:nvSpPr>
        <p:spPr>
          <a:xfrm>
            <a:off x="11155306" y="6209255"/>
            <a:ext cx="4491892" cy="408253"/>
          </a:xfrm>
          <a:prstGeom prst="rect">
            <a:avLst/>
          </a:prstGeom>
        </p:spPr>
        <p:txBody>
          <a:bodyPr wrap="square" lIns="0" tIns="0" rIns="0" bIns="0" rtlCol="0" anchor="t">
            <a:spAutoFit/>
          </a:bodyPr>
          <a:lstStyle/>
          <a:p>
            <a:pPr algn="l">
              <a:lnSpc>
                <a:spcPts val="3359"/>
              </a:lnSpc>
              <a:spcBef>
                <a:spcPct val="0"/>
              </a:spcBef>
            </a:pPr>
            <a:r>
              <a:rPr lang="en-US" sz="2399" b="1" spc="-95" dirty="0">
                <a:solidFill>
                  <a:srgbClr val="DEF0FF"/>
                </a:solidFill>
                <a:latin typeface="Telegraf Bold"/>
                <a:ea typeface="Telegraf Bold"/>
                <a:cs typeface="Telegraf Bold"/>
                <a:sym typeface="Telegraf Bold"/>
              </a:rPr>
              <a:t>ENVIRONMENTAL SETUP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FAF0F-5C47-FF4E-40B1-6B89B1900C6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017B4E8-0397-9AD8-A437-5632C854DB3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a:extLst>
              <a:ext uri="{FF2B5EF4-FFF2-40B4-BE49-F238E27FC236}">
                <a16:creationId xmlns:a16="http://schemas.microsoft.com/office/drawing/2014/main" id="{D90FA9AC-C28F-4C5C-DCAB-E741AE6FBA8D}"/>
              </a:ext>
            </a:extLst>
          </p:cNvPr>
          <p:cNvGrpSpPr/>
          <p:nvPr/>
        </p:nvGrpSpPr>
        <p:grpSpPr>
          <a:xfrm>
            <a:off x="838200" y="1485900"/>
            <a:ext cx="7960886" cy="7941078"/>
            <a:chOff x="0" y="0"/>
            <a:chExt cx="3318079" cy="1670827"/>
          </a:xfrm>
        </p:grpSpPr>
        <p:sp>
          <p:nvSpPr>
            <p:cNvPr id="26" name="Freeform 26">
              <a:extLst>
                <a:ext uri="{FF2B5EF4-FFF2-40B4-BE49-F238E27FC236}">
                  <a16:creationId xmlns:a16="http://schemas.microsoft.com/office/drawing/2014/main" id="{8481B862-0180-D19F-38E1-CDB7C6EA33B1}"/>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0F7EA6E-A53F-8814-E2C5-6DA7C72A09E7}"/>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DB042409-626C-DA76-0904-F57DCB38AF12}"/>
              </a:ext>
            </a:extLst>
          </p:cNvPr>
          <p:cNvSpPr txBox="1"/>
          <p:nvPr/>
        </p:nvSpPr>
        <p:spPr>
          <a:xfrm>
            <a:off x="914400" y="252102"/>
            <a:ext cx="15621000" cy="852798"/>
          </a:xfrm>
          <a:prstGeom prst="rect">
            <a:avLst/>
          </a:prstGeom>
        </p:spPr>
        <p:txBody>
          <a:bodyPr wrap="square" lIns="0" tIns="0" rIns="0" bIns="0" rtlCol="0" anchor="t">
            <a:spAutoFit/>
          </a:bodyPr>
          <a:lstStyle/>
          <a:p>
            <a:pPr algn="l">
              <a:lnSpc>
                <a:spcPts val="7366"/>
              </a:lnSpc>
            </a:pPr>
            <a:r>
              <a:rPr lang="en-US" sz="5500" dirty="0">
                <a:solidFill>
                  <a:srgbClr val="DEF0FF"/>
                </a:solidFill>
                <a:latin typeface="RQND Pro UltraWide" panose="020B0604020202020204" charset="0"/>
                <a:ea typeface="RQND Pro UltraWide"/>
                <a:cs typeface="Times New Roman" panose="02020603050405020304" pitchFamily="18" charset="0"/>
                <a:sym typeface="RQND Pro UltraWide"/>
              </a:rPr>
              <a:t>DOMAIN and SUB-DOMAIN</a:t>
            </a:r>
          </a:p>
        </p:txBody>
      </p:sp>
      <p:sp>
        <p:nvSpPr>
          <p:cNvPr id="29" name="TextBox 29">
            <a:extLst>
              <a:ext uri="{FF2B5EF4-FFF2-40B4-BE49-F238E27FC236}">
                <a16:creationId xmlns:a16="http://schemas.microsoft.com/office/drawing/2014/main" id="{C56D7C08-204B-E6E7-DECA-D10A8097DD79}"/>
              </a:ext>
            </a:extLst>
          </p:cNvPr>
          <p:cNvSpPr txBox="1"/>
          <p:nvPr/>
        </p:nvSpPr>
        <p:spPr>
          <a:xfrm>
            <a:off x="1156926" y="1670657"/>
            <a:ext cx="7323434" cy="1231106"/>
          </a:xfrm>
          <a:prstGeom prst="rect">
            <a:avLst/>
          </a:prstGeom>
        </p:spPr>
        <p:txBody>
          <a:bodyPr lIns="0" tIns="0" rIns="0" bIns="0" rtlCol="0" anchor="t">
            <a:spAutoFit/>
          </a:bodyPr>
          <a:lstStyle/>
          <a:p>
            <a:pPr algn="ctr"/>
            <a:r>
              <a:rPr lang="en-US" sz="4000" b="1" spc="1428">
                <a:solidFill>
                  <a:srgbClr val="DEF0FF"/>
                </a:solidFill>
                <a:latin typeface="Times New Roman" panose="02020603050405020304" pitchFamily="18" charset="0"/>
                <a:ea typeface="RQND Pro UltraWide"/>
                <a:cs typeface="Times New Roman" panose="02020603050405020304" pitchFamily="18" charset="0"/>
                <a:sym typeface="RQND Pro UltraWide"/>
              </a:rPr>
              <a:t>ARTIFICIAL </a:t>
            </a: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INTELLIGENCE</a:t>
            </a:r>
          </a:p>
        </p:txBody>
      </p:sp>
      <p:sp>
        <p:nvSpPr>
          <p:cNvPr id="36" name="TextBox 36">
            <a:extLst>
              <a:ext uri="{FF2B5EF4-FFF2-40B4-BE49-F238E27FC236}">
                <a16:creationId xmlns:a16="http://schemas.microsoft.com/office/drawing/2014/main" id="{C356A37E-24C2-45C5-D91A-8A0F07D05C1C}"/>
              </a:ext>
            </a:extLst>
          </p:cNvPr>
          <p:cNvSpPr txBox="1"/>
          <p:nvPr/>
        </p:nvSpPr>
        <p:spPr>
          <a:xfrm>
            <a:off x="1156926" y="2514337"/>
            <a:ext cx="7323434" cy="5371150"/>
          </a:xfrm>
          <a:prstGeom prst="rect">
            <a:avLst/>
          </a:prstGeom>
        </p:spPr>
        <p:txBody>
          <a:bodyPr lIns="0" tIns="0" rIns="0" bIns="0" rtlCol="0" anchor="t">
            <a:spAutoFit/>
          </a:bodyPr>
          <a:lstStyle/>
          <a:p>
            <a:pPr lvl="0"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Encompasses computational models that replicate human cognitive functions such as perception, learning, reasoning, and autonomous decision-making.</a:t>
            </a:r>
            <a:endParaRPr lang="en-US" altLang="en-US" sz="36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44E78F84-6DA7-5D9F-7F1B-881FF843AC11}"/>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3</a:t>
            </a:r>
            <a:endParaRPr lang="en-US" sz="4000" dirty="0">
              <a:solidFill>
                <a:schemeClr val="bg1"/>
              </a:solidFill>
              <a:latin typeface="RQND Pro UltraWide" panose="020B0604020202020204" charset="0"/>
              <a:cs typeface="Arial" panose="020B0604020202020204" pitchFamily="34" charset="0"/>
            </a:endParaRPr>
          </a:p>
        </p:txBody>
      </p:sp>
      <p:sp>
        <p:nvSpPr>
          <p:cNvPr id="6" name="TextBox 27">
            <a:extLst>
              <a:ext uri="{FF2B5EF4-FFF2-40B4-BE49-F238E27FC236}">
                <a16:creationId xmlns:a16="http://schemas.microsoft.com/office/drawing/2014/main" id="{6335A198-9E55-94EA-6598-CFE3E50A2811}"/>
              </a:ext>
            </a:extLst>
          </p:cNvPr>
          <p:cNvSpPr txBox="1"/>
          <p:nvPr/>
        </p:nvSpPr>
        <p:spPr>
          <a:xfrm>
            <a:off x="9472927" y="1442511"/>
            <a:ext cx="7656182" cy="7885556"/>
          </a:xfrm>
          <a:prstGeom prst="rect">
            <a:avLst/>
          </a:prstGeom>
        </p:spPr>
        <p:txBody>
          <a:bodyPr lIns="50800" tIns="50800" rIns="50800" bIns="50800" rtlCol="0" anchor="ctr"/>
          <a:lstStyle/>
          <a:p>
            <a:pPr algn="ctr">
              <a:lnSpc>
                <a:spcPts val="1960"/>
              </a:lnSpc>
            </a:pPr>
            <a:endParaRPr/>
          </a:p>
        </p:txBody>
      </p:sp>
      <p:grpSp>
        <p:nvGrpSpPr>
          <p:cNvPr id="7" name="Group 25">
            <a:extLst>
              <a:ext uri="{FF2B5EF4-FFF2-40B4-BE49-F238E27FC236}">
                <a16:creationId xmlns:a16="http://schemas.microsoft.com/office/drawing/2014/main" id="{755AFB5C-2A6D-E54B-7F3A-9DEFE819F014}"/>
              </a:ext>
            </a:extLst>
          </p:cNvPr>
          <p:cNvGrpSpPr/>
          <p:nvPr/>
        </p:nvGrpSpPr>
        <p:grpSpPr>
          <a:xfrm>
            <a:off x="9472927" y="1541422"/>
            <a:ext cx="7960886" cy="7885556"/>
            <a:chOff x="0" y="0"/>
            <a:chExt cx="3318079" cy="1670827"/>
          </a:xfrm>
        </p:grpSpPr>
        <p:sp>
          <p:nvSpPr>
            <p:cNvPr id="8" name="Freeform 26">
              <a:extLst>
                <a:ext uri="{FF2B5EF4-FFF2-40B4-BE49-F238E27FC236}">
                  <a16:creationId xmlns:a16="http://schemas.microsoft.com/office/drawing/2014/main" id="{0EC86037-EF6E-EE1E-46D6-E61F8AA03E3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9" name="TextBox 27">
              <a:extLst>
                <a:ext uri="{FF2B5EF4-FFF2-40B4-BE49-F238E27FC236}">
                  <a16:creationId xmlns:a16="http://schemas.microsoft.com/office/drawing/2014/main" id="{2C258482-84F5-8FA3-F1B2-68B4CE56E3A6}"/>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10" name="TextBox 29">
            <a:extLst>
              <a:ext uri="{FF2B5EF4-FFF2-40B4-BE49-F238E27FC236}">
                <a16:creationId xmlns:a16="http://schemas.microsoft.com/office/drawing/2014/main" id="{064A29B0-2FFF-EEF8-940C-F270DCF88FBD}"/>
              </a:ext>
            </a:extLst>
          </p:cNvPr>
          <p:cNvSpPr txBox="1"/>
          <p:nvPr/>
        </p:nvSpPr>
        <p:spPr>
          <a:xfrm>
            <a:off x="9639301" y="1670657"/>
            <a:ext cx="7323434" cy="1231106"/>
          </a:xfrm>
          <a:prstGeom prst="rect">
            <a:avLst/>
          </a:prstGeom>
        </p:spPr>
        <p:txBody>
          <a:bodyPr lIns="0" tIns="0" rIns="0" bIns="0" rtlCol="0" anchor="t">
            <a:spAutoFit/>
          </a:bodyPr>
          <a:lstStyle/>
          <a:p>
            <a:pPr algn="ctr"/>
            <a:r>
              <a:rPr lang="en-US" sz="4000" b="1" spc="1428" dirty="0">
                <a:solidFill>
                  <a:srgbClr val="DEF0FF"/>
                </a:solidFill>
                <a:latin typeface="Times New Roman" panose="02020603050405020304" pitchFamily="18" charset="0"/>
                <a:ea typeface="RQND Pro UltraWide"/>
                <a:cs typeface="Times New Roman" panose="02020603050405020304" pitchFamily="18" charset="0"/>
                <a:sym typeface="RQND Pro UltraWide"/>
              </a:rPr>
              <a:t>AUTONOMOUS VEHICLES</a:t>
            </a:r>
          </a:p>
        </p:txBody>
      </p:sp>
      <p:sp>
        <p:nvSpPr>
          <p:cNvPr id="11" name="TextBox 36">
            <a:extLst>
              <a:ext uri="{FF2B5EF4-FFF2-40B4-BE49-F238E27FC236}">
                <a16:creationId xmlns:a16="http://schemas.microsoft.com/office/drawing/2014/main" id="{EED4C14F-DD2F-6EE4-C4B1-74C9E2D2955F}"/>
              </a:ext>
            </a:extLst>
          </p:cNvPr>
          <p:cNvSpPr txBox="1"/>
          <p:nvPr/>
        </p:nvSpPr>
        <p:spPr>
          <a:xfrm>
            <a:off x="9753600" y="2524728"/>
            <a:ext cx="7323434" cy="6479146"/>
          </a:xfrm>
          <a:prstGeom prst="rect">
            <a:avLst/>
          </a:prstGeom>
        </p:spPr>
        <p:txBody>
          <a:bodyPr lIns="0" tIns="0" rIns="0" bIns="0" rtlCol="0" anchor="t">
            <a:spAutoFit/>
          </a:bodyPr>
          <a:lstStyle/>
          <a:p>
            <a:pPr algn="just" eaLnBrk="0" fontAlgn="base" hangingPunct="0">
              <a:lnSpc>
                <a:spcPct val="200000"/>
              </a:lnSpc>
              <a:spcBef>
                <a:spcPct val="0"/>
              </a:spcBef>
              <a:spcAft>
                <a:spcPct val="0"/>
              </a:spcAft>
              <a:buClrTx/>
            </a:pPr>
            <a:r>
              <a:rPr lang="en-US" sz="3600" dirty="0">
                <a:solidFill>
                  <a:schemeClr val="bg1"/>
                </a:solidFill>
                <a:latin typeface="Times New Roman" panose="02020603050405020304" pitchFamily="18" charset="0"/>
                <a:cs typeface="Times New Roman" panose="02020603050405020304" pitchFamily="18" charset="0"/>
              </a:rPr>
              <a:t>Focuses on AI-driven perception and control in autonomous vehicles through deep learning, monocular depth estimation, and real-time 3D scene understanding for safe navigation and environment interaction.</a:t>
            </a:r>
          </a:p>
        </p:txBody>
      </p:sp>
      <p:sp>
        <p:nvSpPr>
          <p:cNvPr id="4" name="TextBox 3">
            <a:extLst>
              <a:ext uri="{FF2B5EF4-FFF2-40B4-BE49-F238E27FC236}">
                <a16:creationId xmlns:a16="http://schemas.microsoft.com/office/drawing/2014/main" id="{1DF34B93-383D-D87F-5EFD-5A1EF232D7B8}"/>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73346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6023D-855D-4344-76F0-E0C13DD8D7A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709C8BB-FD82-2C9C-8162-53E79EE2976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l="-12500" r="-12500"/>
            </a:stretch>
          </a:blipFill>
        </p:spPr>
      </p:sp>
      <p:sp>
        <p:nvSpPr>
          <p:cNvPr id="27" name="TextBox 27">
            <a:extLst>
              <a:ext uri="{FF2B5EF4-FFF2-40B4-BE49-F238E27FC236}">
                <a16:creationId xmlns:a16="http://schemas.microsoft.com/office/drawing/2014/main" id="{4C38D6EE-557C-76B8-9520-9F391D8EA4F9}"/>
              </a:ext>
            </a:extLst>
          </p:cNvPr>
          <p:cNvSpPr txBox="1"/>
          <p:nvPr/>
        </p:nvSpPr>
        <p:spPr>
          <a:xfrm>
            <a:off x="713489" y="1515705"/>
            <a:ext cx="16708623" cy="7514857"/>
          </a:xfrm>
          <a:prstGeom prst="rect">
            <a:avLst/>
          </a:prstGeom>
        </p:spPr>
        <p:txBody>
          <a:bodyPr lIns="50800" tIns="50800" rIns="50800" bIns="50800" rtlCol="0" anchor="ctr"/>
          <a:lstStyle/>
          <a:p>
            <a:pPr algn="ctr">
              <a:lnSpc>
                <a:spcPts val="1960"/>
              </a:lnSpc>
            </a:pPr>
            <a:endParaRPr/>
          </a:p>
        </p:txBody>
      </p:sp>
      <p:sp>
        <p:nvSpPr>
          <p:cNvPr id="28" name="TextBox 28">
            <a:extLst>
              <a:ext uri="{FF2B5EF4-FFF2-40B4-BE49-F238E27FC236}">
                <a16:creationId xmlns:a16="http://schemas.microsoft.com/office/drawing/2014/main" id="{298072D8-1F1D-A836-384A-C27248FDD7F1}"/>
              </a:ext>
            </a:extLst>
          </p:cNvPr>
          <p:cNvSpPr txBox="1"/>
          <p:nvPr/>
        </p:nvSpPr>
        <p:spPr>
          <a:xfrm>
            <a:off x="880506" y="252102"/>
            <a:ext cx="10320894" cy="852798"/>
          </a:xfrm>
          <a:prstGeom prst="rect">
            <a:avLst/>
          </a:prstGeom>
        </p:spPr>
        <p:txBody>
          <a:bodyPr lIns="0" tIns="0" rIns="0" bIns="0" rtlCol="0" anchor="t">
            <a:spAutoFit/>
          </a:bodyPr>
          <a:lstStyle/>
          <a:p>
            <a:pPr algn="l">
              <a:lnSpc>
                <a:spcPts val="7366"/>
              </a:lnSpc>
            </a:pPr>
            <a:r>
              <a:rPr lang="en-US" sz="5500" dirty="0">
                <a:solidFill>
                  <a:srgbClr val="DEF0FF"/>
                </a:solidFill>
                <a:latin typeface="RQND Pro UltraWide"/>
                <a:ea typeface="RQND Pro UltraWide"/>
                <a:cs typeface="RQND Pro UltraWide"/>
                <a:sym typeface="RQND Pro UltraWide"/>
              </a:rPr>
              <a:t>SHORT VIDEO</a:t>
            </a:r>
          </a:p>
        </p:txBody>
      </p:sp>
      <p:sp>
        <p:nvSpPr>
          <p:cNvPr id="37" name="TextBox 36">
            <a:extLst>
              <a:ext uri="{FF2B5EF4-FFF2-40B4-BE49-F238E27FC236}">
                <a16:creationId xmlns:a16="http://schemas.microsoft.com/office/drawing/2014/main" id="{27B71E11-4181-BAB7-DD12-2CF2CFE46A8D}"/>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4</a:t>
            </a:r>
          </a:p>
        </p:txBody>
      </p:sp>
      <p:pic>
        <p:nvPicPr>
          <p:cNvPr id="4" name="Online Media 3" title="Real time pothole detection system on vehicle using improved YOLOv5 in Malaysia - (ROPAS)">
            <a:hlinkClick r:id="" action="ppaction://media"/>
            <a:extLst>
              <a:ext uri="{FF2B5EF4-FFF2-40B4-BE49-F238E27FC236}">
                <a16:creationId xmlns:a16="http://schemas.microsoft.com/office/drawing/2014/main" id="{A950D209-C3BF-5C51-C393-3D2A2361618F}"/>
              </a:ext>
            </a:extLst>
          </p:cNvPr>
          <p:cNvPicPr>
            <a:picLocks noRot="1" noChangeAspect="1"/>
          </p:cNvPicPr>
          <p:nvPr>
            <a:videoFile r:link="rId1"/>
          </p:nvPr>
        </p:nvPicPr>
        <p:blipFill>
          <a:blip r:embed="rId4"/>
          <a:stretch>
            <a:fillRect/>
          </a:stretch>
        </p:blipFill>
        <p:spPr>
          <a:xfrm>
            <a:off x="713489" y="1256438"/>
            <a:ext cx="16861022" cy="8192362"/>
          </a:xfrm>
          <a:prstGeom prst="rect">
            <a:avLst/>
          </a:prstGeom>
        </p:spPr>
      </p:pic>
      <p:sp>
        <p:nvSpPr>
          <p:cNvPr id="3" name="TextBox 2">
            <a:extLst>
              <a:ext uri="{FF2B5EF4-FFF2-40B4-BE49-F238E27FC236}">
                <a16:creationId xmlns:a16="http://schemas.microsoft.com/office/drawing/2014/main" id="{140585FA-7258-00E9-9229-71D3DF8CDE8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10044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25" name="Group 25"/>
          <p:cNvGrpSpPr/>
          <p:nvPr/>
        </p:nvGrpSpPr>
        <p:grpSpPr>
          <a:xfrm>
            <a:off x="381000" y="1104900"/>
            <a:ext cx="17373600" cy="8313930"/>
            <a:chOff x="0" y="0"/>
            <a:chExt cx="3318079" cy="1670827"/>
          </a:xfrm>
        </p:grpSpPr>
        <p:sp>
          <p:nvSpPr>
            <p:cNvPr id="26" name="Freeform 26"/>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ABSTRACT</a:t>
            </a:r>
          </a:p>
        </p:txBody>
      </p:sp>
      <p:sp>
        <p:nvSpPr>
          <p:cNvPr id="29" name="TextBox 29"/>
          <p:cNvSpPr txBox="1"/>
          <p:nvPr/>
        </p:nvSpPr>
        <p:spPr>
          <a:xfrm>
            <a:off x="1276350" y="1181100"/>
            <a:ext cx="15735300" cy="8243603"/>
          </a:xfrm>
          <a:prstGeom prst="rect">
            <a:avLst/>
          </a:prstGeom>
        </p:spPr>
        <p:txBody>
          <a:bodyPr wrap="square" lIns="0" tIns="0" rIns="0" bIns="0" rtlCol="0" anchor="t">
            <a:spAutoFit/>
          </a:bodyPr>
          <a:lstStyle/>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Road surface irregularities like potholes present major risks to vehicle safety, passenger comfort, and the efficiency of traffic flow. These issues have significant implications in the transportation domain, as they directly affect road safety, traffic management, and overall driving experience. With the growth of autonomous vehicles and smart city initiatives, the need for intelligent systems that can accurately detect and analyze road conditions in real time has become increasingly important.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Traditional approaches for pothole detection have been enhanced through the integration of computer vision and artificial intelligence. These systems utilize cameras to capture road images, which are then processed using deep learning models to detect and classify potholes. By applying AI-based image analysis, the existing methods effectively automate the identification of road surface irregularities, offering a faster and more efficient alternative to manual inspections and sensor-based techniques. </a:t>
            </a:r>
          </a:p>
          <a:p>
            <a:pPr algn="just">
              <a:lnSpc>
                <a:spcPct val="150000"/>
              </a:lnSpc>
            </a:pPr>
            <a:endParaRPr lang="en-US" sz="24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a:p>
            <a:pPr algn="just">
              <a:lnSpc>
                <a:spcPct val="150000"/>
              </a:lnSpc>
            </a:pPr>
            <a:r>
              <a:rPr lang="en-US" sz="2400" dirty="0">
                <a:solidFill>
                  <a:schemeClr val="bg1"/>
                </a:solidFill>
                <a:latin typeface="Times New Roman" panose="02020603050405020304" pitchFamily="18" charset="0"/>
                <a:cs typeface="Times New Roman" panose="02020603050405020304" pitchFamily="18" charset="0"/>
              </a:rPr>
              <a:t>The limitation in existing systems is their reliance on two-dimensional bounding boxes or simple classification, which lack depth and shape information. To address this limitation, my project proposes a Real-Time Wireframe Pothole Detection System that generates a three-dimensional wireframe of road surfaces using camera input. The proposed model aims to integrate depth estimation with wireframe modeling for precise analysis of surface irregularities, enabling better decisions for autonomous vehicles and improving road safety. </a:t>
            </a:r>
            <a:endParaRPr lang="en-US" sz="2000" spc="1428"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7" name="TextBox 36">
            <a:extLst>
              <a:ext uri="{FF2B5EF4-FFF2-40B4-BE49-F238E27FC236}">
                <a16:creationId xmlns:a16="http://schemas.microsoft.com/office/drawing/2014/main" id="{05B35413-DBCF-B3CE-E29A-679526783FA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5</a:t>
            </a:r>
          </a:p>
        </p:txBody>
      </p:sp>
      <p:sp>
        <p:nvSpPr>
          <p:cNvPr id="3" name="TextBox 2">
            <a:extLst>
              <a:ext uri="{FF2B5EF4-FFF2-40B4-BE49-F238E27FC236}">
                <a16:creationId xmlns:a16="http://schemas.microsoft.com/office/drawing/2014/main" id="{059F2E70-5619-F046-84C1-0E4D37811073}"/>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AF7D-932D-7981-17EA-6F6060C9EE7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855F5BD-6BE4-155B-2066-53ACEB1C227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a:extLst>
              <a:ext uri="{FF2B5EF4-FFF2-40B4-BE49-F238E27FC236}">
                <a16:creationId xmlns:a16="http://schemas.microsoft.com/office/drawing/2014/main" id="{04EAC204-F54A-078F-0C39-796F8A3DCF34}"/>
              </a:ext>
            </a:extLst>
          </p:cNvPr>
          <p:cNvGrpSpPr/>
          <p:nvPr/>
        </p:nvGrpSpPr>
        <p:grpSpPr>
          <a:xfrm>
            <a:off x="609600" y="5143500"/>
            <a:ext cx="5849736" cy="3406655"/>
            <a:chOff x="0" y="0"/>
            <a:chExt cx="3341946" cy="1946218"/>
          </a:xfrm>
        </p:grpSpPr>
        <p:sp>
          <p:nvSpPr>
            <p:cNvPr id="15" name="Freeform 15">
              <a:extLst>
                <a:ext uri="{FF2B5EF4-FFF2-40B4-BE49-F238E27FC236}">
                  <a16:creationId xmlns:a16="http://schemas.microsoft.com/office/drawing/2014/main" id="{5F504AB8-A736-50BC-4B24-8B1A20017AB1}"/>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581" t="-99530" r="-61825"/>
              </a:stretch>
            </a:blipFill>
          </p:spPr>
        </p:sp>
      </p:grpSp>
      <p:grpSp>
        <p:nvGrpSpPr>
          <p:cNvPr id="16" name="Group 16">
            <a:extLst>
              <a:ext uri="{FF2B5EF4-FFF2-40B4-BE49-F238E27FC236}">
                <a16:creationId xmlns:a16="http://schemas.microsoft.com/office/drawing/2014/main" id="{8C12EB42-B884-8DB5-21E3-59B405E7E10F}"/>
              </a:ext>
            </a:extLst>
          </p:cNvPr>
          <p:cNvGrpSpPr/>
          <p:nvPr/>
        </p:nvGrpSpPr>
        <p:grpSpPr>
          <a:xfrm>
            <a:off x="609600" y="1741899"/>
            <a:ext cx="5849736" cy="3406655"/>
            <a:chOff x="0" y="0"/>
            <a:chExt cx="3341946" cy="1946218"/>
          </a:xfrm>
        </p:grpSpPr>
        <p:sp>
          <p:nvSpPr>
            <p:cNvPr id="17" name="Freeform 17">
              <a:extLst>
                <a:ext uri="{FF2B5EF4-FFF2-40B4-BE49-F238E27FC236}">
                  <a16:creationId xmlns:a16="http://schemas.microsoft.com/office/drawing/2014/main" id="{6C8A38EE-FD0E-F165-7227-2AC03EA40EB0}"/>
                </a:ext>
              </a:extLst>
            </p:cNvPr>
            <p:cNvSpPr/>
            <p:nvPr/>
          </p:nvSpPr>
          <p:spPr>
            <a:xfrm>
              <a:off x="0" y="0"/>
              <a:ext cx="3341946" cy="1946218"/>
            </a:xfrm>
            <a:custGeom>
              <a:avLst/>
              <a:gdLst/>
              <a:ahLst/>
              <a:cxnLst/>
              <a:rect l="l" t="t" r="r" b="b"/>
              <a:pathLst>
                <a:path w="3341946" h="1946218">
                  <a:moveTo>
                    <a:pt x="3103821" y="0"/>
                  </a:moveTo>
                  <a:lnTo>
                    <a:pt x="3341946" y="238125"/>
                  </a:lnTo>
                  <a:lnTo>
                    <a:pt x="3341946" y="1708093"/>
                  </a:lnTo>
                  <a:lnTo>
                    <a:pt x="3103821" y="1946218"/>
                  </a:lnTo>
                  <a:lnTo>
                    <a:pt x="238125" y="1946218"/>
                  </a:lnTo>
                  <a:lnTo>
                    <a:pt x="0" y="1708093"/>
                  </a:lnTo>
                  <a:lnTo>
                    <a:pt x="0" y="238125"/>
                  </a:lnTo>
                  <a:lnTo>
                    <a:pt x="238125" y="0"/>
                  </a:lnTo>
                  <a:lnTo>
                    <a:pt x="3103821" y="0"/>
                  </a:lnTo>
                  <a:close/>
                </a:path>
              </a:pathLst>
            </a:custGeom>
            <a:blipFill>
              <a:blip r:embed="rId3"/>
              <a:stretch>
                <a:fillRect l="-12396" r="-62689" b="-100307"/>
              </a:stretch>
            </a:blipFill>
          </p:spPr>
        </p:sp>
      </p:grpSp>
      <p:grpSp>
        <p:nvGrpSpPr>
          <p:cNvPr id="25" name="Group 25">
            <a:extLst>
              <a:ext uri="{FF2B5EF4-FFF2-40B4-BE49-F238E27FC236}">
                <a16:creationId xmlns:a16="http://schemas.microsoft.com/office/drawing/2014/main" id="{56047F1F-25C7-329C-F5F7-88DECFBF2C34}"/>
              </a:ext>
            </a:extLst>
          </p:cNvPr>
          <p:cNvGrpSpPr/>
          <p:nvPr/>
        </p:nvGrpSpPr>
        <p:grpSpPr>
          <a:xfrm>
            <a:off x="8153400" y="647702"/>
            <a:ext cx="9292194" cy="8424983"/>
            <a:chOff x="0" y="0"/>
            <a:chExt cx="3318079" cy="1670827"/>
          </a:xfrm>
        </p:grpSpPr>
        <p:sp>
          <p:nvSpPr>
            <p:cNvPr id="26" name="Freeform 26">
              <a:extLst>
                <a:ext uri="{FF2B5EF4-FFF2-40B4-BE49-F238E27FC236}">
                  <a16:creationId xmlns:a16="http://schemas.microsoft.com/office/drawing/2014/main" id="{8D8A6073-9DA3-3E2E-2F51-539A46A7199F}"/>
                </a:ext>
              </a:extLst>
            </p:cNvPr>
            <p:cNvSpPr/>
            <p:nvPr/>
          </p:nvSpPr>
          <p:spPr>
            <a:xfrm>
              <a:off x="0" y="0"/>
              <a:ext cx="3318079" cy="1670827"/>
            </a:xfrm>
            <a:custGeom>
              <a:avLst/>
              <a:gdLst/>
              <a:ahLst/>
              <a:cxnLst/>
              <a:rect l="l" t="t" r="r" b="b"/>
              <a:pathLst>
                <a:path w="3318079" h="1670827">
                  <a:moveTo>
                    <a:pt x="3158059" y="0"/>
                  </a:moveTo>
                  <a:lnTo>
                    <a:pt x="160020" y="0"/>
                  </a:lnTo>
                  <a:lnTo>
                    <a:pt x="0" y="160020"/>
                  </a:lnTo>
                  <a:lnTo>
                    <a:pt x="0" y="1510807"/>
                  </a:lnTo>
                  <a:lnTo>
                    <a:pt x="160020" y="1670827"/>
                  </a:lnTo>
                  <a:lnTo>
                    <a:pt x="3158059" y="1670827"/>
                  </a:lnTo>
                  <a:lnTo>
                    <a:pt x="3318079" y="1510807"/>
                  </a:lnTo>
                  <a:lnTo>
                    <a:pt x="3318079" y="160020"/>
                  </a:lnTo>
                  <a:lnTo>
                    <a:pt x="3158059" y="0"/>
                  </a:lnTo>
                  <a:close/>
                </a:path>
              </a:pathLst>
            </a:custGeom>
            <a:solidFill>
              <a:srgbClr val="000000">
                <a:alpha val="0"/>
              </a:srgbClr>
            </a:solidFill>
            <a:ln w="9525" cap="sq">
              <a:solidFill>
                <a:srgbClr val="3B4C7D"/>
              </a:solidFill>
              <a:prstDash val="solid"/>
              <a:miter/>
            </a:ln>
          </p:spPr>
        </p:sp>
        <p:sp>
          <p:nvSpPr>
            <p:cNvPr id="27" name="TextBox 27">
              <a:extLst>
                <a:ext uri="{FF2B5EF4-FFF2-40B4-BE49-F238E27FC236}">
                  <a16:creationId xmlns:a16="http://schemas.microsoft.com/office/drawing/2014/main" id="{8E0361C0-B74A-A77C-6833-7ACB9883FDCF}"/>
                </a:ext>
              </a:extLst>
            </p:cNvPr>
            <p:cNvSpPr txBox="1"/>
            <p:nvPr/>
          </p:nvSpPr>
          <p:spPr>
            <a:xfrm>
              <a:off x="63500" y="6350"/>
              <a:ext cx="3191079" cy="1600977"/>
            </a:xfrm>
            <a:prstGeom prst="rect">
              <a:avLst/>
            </a:prstGeom>
          </p:spPr>
          <p:txBody>
            <a:bodyPr lIns="50800" tIns="50800" rIns="50800" bIns="50800" rtlCol="0" anchor="ctr"/>
            <a:lstStyle/>
            <a:p>
              <a:pPr algn="ctr">
                <a:lnSpc>
                  <a:spcPts val="1960"/>
                </a:lnSpc>
              </a:pPr>
              <a:endParaRPr/>
            </a:p>
          </p:txBody>
        </p:sp>
      </p:grpSp>
      <p:sp>
        <p:nvSpPr>
          <p:cNvPr id="28" name="TextBox 28">
            <a:extLst>
              <a:ext uri="{FF2B5EF4-FFF2-40B4-BE49-F238E27FC236}">
                <a16:creationId xmlns:a16="http://schemas.microsoft.com/office/drawing/2014/main" id="{873B575A-3C14-43F1-DB31-0A97B8CD2F56}"/>
              </a:ext>
            </a:extLst>
          </p:cNvPr>
          <p:cNvSpPr txBox="1"/>
          <p:nvPr/>
        </p:nvSpPr>
        <p:spPr>
          <a:xfrm>
            <a:off x="880506" y="258514"/>
            <a:ext cx="10320894" cy="846386"/>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objective</a:t>
            </a:r>
          </a:p>
        </p:txBody>
      </p:sp>
      <p:sp>
        <p:nvSpPr>
          <p:cNvPr id="29" name="TextBox 29">
            <a:extLst>
              <a:ext uri="{FF2B5EF4-FFF2-40B4-BE49-F238E27FC236}">
                <a16:creationId xmlns:a16="http://schemas.microsoft.com/office/drawing/2014/main" id="{AB20D6F7-B1B1-E4D8-4AB2-CA58E8083513}"/>
              </a:ext>
            </a:extLst>
          </p:cNvPr>
          <p:cNvSpPr txBox="1"/>
          <p:nvPr/>
        </p:nvSpPr>
        <p:spPr>
          <a:xfrm>
            <a:off x="8961612" y="913211"/>
            <a:ext cx="7878588" cy="492443"/>
          </a:xfrm>
          <a:prstGeom prst="rect">
            <a:avLst/>
          </a:prstGeom>
        </p:spPr>
        <p:txBody>
          <a:bodyPr wrap="square"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WHY AM I DOING THIS PROJECT?</a:t>
            </a:r>
          </a:p>
        </p:txBody>
      </p:sp>
      <p:sp>
        <p:nvSpPr>
          <p:cNvPr id="36" name="TextBox 36">
            <a:extLst>
              <a:ext uri="{FF2B5EF4-FFF2-40B4-BE49-F238E27FC236}">
                <a16:creationId xmlns:a16="http://schemas.microsoft.com/office/drawing/2014/main" id="{3EDC1E2E-A5C1-C20E-C2B3-11CFDC03D160}"/>
              </a:ext>
            </a:extLst>
          </p:cNvPr>
          <p:cNvSpPr txBox="1"/>
          <p:nvPr/>
        </p:nvSpPr>
        <p:spPr>
          <a:xfrm>
            <a:off x="8574603" y="1932648"/>
            <a:ext cx="8751363" cy="1231106"/>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Existing AV systems fail on irregular roads common in developing countries. Potholes and surface deformities pose major safety and comfort issues. High-end LiDAR-based systems are too expensive for mass adoption. Need for a cost-effective, vision-only solution for real-time road anomaly detection.</a:t>
            </a:r>
          </a:p>
        </p:txBody>
      </p:sp>
      <p:sp>
        <p:nvSpPr>
          <p:cNvPr id="3" name="TextBox 2">
            <a:extLst>
              <a:ext uri="{FF2B5EF4-FFF2-40B4-BE49-F238E27FC236}">
                <a16:creationId xmlns:a16="http://schemas.microsoft.com/office/drawing/2014/main" id="{11F8A8A3-AC14-196E-0ECF-96D46B196027}"/>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6</a:t>
            </a:r>
          </a:p>
        </p:txBody>
      </p:sp>
      <p:sp>
        <p:nvSpPr>
          <p:cNvPr id="4" name="TextBox 29">
            <a:extLst>
              <a:ext uri="{FF2B5EF4-FFF2-40B4-BE49-F238E27FC236}">
                <a16:creationId xmlns:a16="http://schemas.microsoft.com/office/drawing/2014/main" id="{3CA8ED35-FB55-18FE-8756-B7D03944B67D}"/>
              </a:ext>
            </a:extLst>
          </p:cNvPr>
          <p:cNvSpPr txBox="1"/>
          <p:nvPr/>
        </p:nvSpPr>
        <p:spPr>
          <a:xfrm>
            <a:off x="9317668" y="3852624"/>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HOW?</a:t>
            </a:r>
          </a:p>
        </p:txBody>
      </p:sp>
      <p:sp>
        <p:nvSpPr>
          <p:cNvPr id="5" name="TextBox 29">
            <a:extLst>
              <a:ext uri="{FF2B5EF4-FFF2-40B4-BE49-F238E27FC236}">
                <a16:creationId xmlns:a16="http://schemas.microsoft.com/office/drawing/2014/main" id="{9A062955-748D-1A84-2515-A9AEF6FCE026}"/>
              </a:ext>
            </a:extLst>
          </p:cNvPr>
          <p:cNvSpPr txBox="1"/>
          <p:nvPr/>
        </p:nvSpPr>
        <p:spPr>
          <a:xfrm>
            <a:off x="9239189" y="6440163"/>
            <a:ext cx="7323434" cy="492443"/>
          </a:xfrm>
          <a:prstGeom prst="rect">
            <a:avLst/>
          </a:prstGeom>
        </p:spPr>
        <p:txBody>
          <a:bodyPr lIns="0" tIns="0" rIns="0" bIns="0" rtlCol="0" anchor="t">
            <a:spAutoFit/>
          </a:bodyPr>
          <a:lstStyle/>
          <a:p>
            <a:pPr algn="ctr"/>
            <a:r>
              <a:rPr lang="en-US" sz="3200" spc="300" dirty="0">
                <a:solidFill>
                  <a:srgbClr val="DEF0FF"/>
                </a:solidFill>
                <a:latin typeface="Times New Roman" panose="02020603050405020304" pitchFamily="18" charset="0"/>
                <a:ea typeface="RQND Pro UltraWide"/>
                <a:cs typeface="Times New Roman" panose="02020603050405020304" pitchFamily="18" charset="0"/>
                <a:sym typeface="RQND Pro UltraWide"/>
              </a:rPr>
              <a:t>TARGET AUDIENCE</a:t>
            </a:r>
          </a:p>
        </p:txBody>
      </p:sp>
      <p:sp>
        <p:nvSpPr>
          <p:cNvPr id="7" name="TextBox 36">
            <a:extLst>
              <a:ext uri="{FF2B5EF4-FFF2-40B4-BE49-F238E27FC236}">
                <a16:creationId xmlns:a16="http://schemas.microsoft.com/office/drawing/2014/main" id="{669BE870-2714-CD50-9471-A2FD97BF537B}"/>
              </a:ext>
            </a:extLst>
          </p:cNvPr>
          <p:cNvSpPr txBox="1"/>
          <p:nvPr/>
        </p:nvSpPr>
        <p:spPr>
          <a:xfrm>
            <a:off x="8595606" y="4691861"/>
            <a:ext cx="8672158" cy="1538883"/>
          </a:xfrm>
          <a:prstGeom prst="rect">
            <a:avLst/>
          </a:prstGeom>
        </p:spPr>
        <p:txBody>
          <a:bodyPr wrap="square" lIns="0" tIns="0" rIns="0" bIns="0" rtlCol="0" anchor="t">
            <a:spAutoFit/>
          </a:bodyPr>
          <a:lstStyle/>
          <a:p>
            <a:pPr algn="just"/>
            <a:r>
              <a:rPr lang="en-US" sz="2000" dirty="0">
                <a:solidFill>
                  <a:schemeClr val="bg1"/>
                </a:solidFill>
                <a:latin typeface="Times New Roman" panose="02020603050405020304" pitchFamily="18" charset="0"/>
                <a:cs typeface="Times New Roman" panose="02020603050405020304" pitchFamily="18" charset="0"/>
              </a:rPr>
              <a:t>Use a monocular RGB camera to capture continuous road footage. Apply YOLOv8 for anomaly detection and Multiple Depth Estimation Accuracy with Single Network </a:t>
            </a:r>
            <a:r>
              <a:rPr lang="en-US" sz="2000" dirty="0" err="1">
                <a:solidFill>
                  <a:schemeClr val="bg1"/>
                </a:solidFill>
                <a:latin typeface="Times New Roman" panose="02020603050405020304" pitchFamily="18" charset="0"/>
                <a:cs typeface="Times New Roman" panose="02020603050405020304" pitchFamily="18" charset="0"/>
              </a:rPr>
              <a:t>MiDaS</a:t>
            </a:r>
            <a:r>
              <a:rPr lang="en-US" sz="2000" dirty="0">
                <a:solidFill>
                  <a:schemeClr val="bg1"/>
                </a:solidFill>
                <a:latin typeface="Times New Roman" panose="02020603050405020304" pitchFamily="18" charset="0"/>
                <a:cs typeface="Times New Roman" panose="02020603050405020304" pitchFamily="18" charset="0"/>
              </a:rPr>
              <a:t> for depth estimation. Build a 3D mesh of the road using Open3D to estimate pothole size and depth. Integrate a decision engine for autonomous responses like slowing or avoidance.</a:t>
            </a:r>
          </a:p>
        </p:txBody>
      </p:sp>
      <p:sp>
        <p:nvSpPr>
          <p:cNvPr id="8" name="TextBox 36">
            <a:extLst>
              <a:ext uri="{FF2B5EF4-FFF2-40B4-BE49-F238E27FC236}">
                <a16:creationId xmlns:a16="http://schemas.microsoft.com/office/drawing/2014/main" id="{34F9CE79-5609-806F-5C34-230A8E2690DD}"/>
              </a:ext>
            </a:extLst>
          </p:cNvPr>
          <p:cNvSpPr txBox="1"/>
          <p:nvPr/>
        </p:nvSpPr>
        <p:spPr>
          <a:xfrm>
            <a:off x="8715366" y="7190800"/>
            <a:ext cx="8610600" cy="1231106"/>
          </a:xfrm>
          <a:prstGeom prst="rect">
            <a:avLst/>
          </a:prstGeom>
        </p:spPr>
        <p:txBody>
          <a:bodyPr wrap="square" lIns="0" tIns="0" rIns="0" bIns="0" rtlCol="0" anchor="t">
            <a:spAutoFit/>
          </a:bodyPr>
          <a:lstStyle/>
          <a:p>
            <a:pPr algn="just"/>
            <a:r>
              <a:rPr lang="en-US" sz="2000" b="1" dirty="0">
                <a:solidFill>
                  <a:schemeClr val="bg1"/>
                </a:solidFill>
                <a:latin typeface="Times New Roman" panose="02020603050405020304" pitchFamily="18" charset="0"/>
                <a:cs typeface="Times New Roman" panose="02020603050405020304" pitchFamily="18" charset="0"/>
              </a:rPr>
              <a:t>Autonomous vehicle developers</a:t>
            </a:r>
            <a:r>
              <a:rPr lang="en-US" sz="2000" dirty="0">
                <a:solidFill>
                  <a:schemeClr val="bg1"/>
                </a:solidFill>
                <a:latin typeface="Times New Roman" panose="02020603050405020304" pitchFamily="18" charset="0"/>
                <a:cs typeface="Times New Roman" panose="02020603050405020304" pitchFamily="18" charset="0"/>
              </a:rPr>
              <a:t> seeking low-cost perception solutions.</a:t>
            </a:r>
          </a:p>
          <a:p>
            <a:pPr algn="just"/>
            <a:r>
              <a:rPr lang="en-US" sz="2000" b="1" dirty="0">
                <a:solidFill>
                  <a:schemeClr val="bg1"/>
                </a:solidFill>
                <a:latin typeface="Times New Roman" panose="02020603050405020304" pitchFamily="18" charset="0"/>
                <a:cs typeface="Times New Roman" panose="02020603050405020304" pitchFamily="18" charset="0"/>
              </a:rPr>
              <a:t>Road and transport authorities</a:t>
            </a:r>
            <a:r>
              <a:rPr lang="en-US" sz="2000" dirty="0">
                <a:solidFill>
                  <a:schemeClr val="bg1"/>
                </a:solidFill>
                <a:latin typeface="Times New Roman" panose="02020603050405020304" pitchFamily="18" charset="0"/>
                <a:cs typeface="Times New Roman" panose="02020603050405020304" pitchFamily="18" charset="0"/>
              </a:rPr>
              <a:t> for automated road condition monitoring.</a:t>
            </a:r>
          </a:p>
          <a:p>
            <a:pPr algn="just"/>
            <a:r>
              <a:rPr lang="en-US" sz="2000" b="1" dirty="0">
                <a:solidFill>
                  <a:schemeClr val="bg1"/>
                </a:solidFill>
                <a:latin typeface="Times New Roman" panose="02020603050405020304" pitchFamily="18" charset="0"/>
                <a:cs typeface="Times New Roman" panose="02020603050405020304" pitchFamily="18" charset="0"/>
              </a:rPr>
              <a:t>Fleet operators</a:t>
            </a:r>
            <a:r>
              <a:rPr lang="en-US" sz="2000" dirty="0">
                <a:solidFill>
                  <a:schemeClr val="bg1"/>
                </a:solidFill>
                <a:latin typeface="Times New Roman" panose="02020603050405020304" pitchFamily="18" charset="0"/>
                <a:cs typeface="Times New Roman" panose="02020603050405020304" pitchFamily="18" charset="0"/>
              </a:rPr>
              <a:t> aiming to improve safety and reduce maintenance costs.</a:t>
            </a:r>
          </a:p>
          <a:p>
            <a:pPr algn="just"/>
            <a:r>
              <a:rPr lang="en-US" sz="2000" b="1" dirty="0">
                <a:solidFill>
                  <a:schemeClr val="bg1"/>
                </a:solidFill>
                <a:latin typeface="Times New Roman" panose="02020603050405020304" pitchFamily="18" charset="0"/>
                <a:cs typeface="Times New Roman" panose="02020603050405020304" pitchFamily="18" charset="0"/>
              </a:rPr>
              <a:t>Researchers and innovators</a:t>
            </a:r>
            <a:r>
              <a:rPr lang="en-US" sz="2000" dirty="0">
                <a:solidFill>
                  <a:schemeClr val="bg1"/>
                </a:solidFill>
                <a:latin typeface="Times New Roman" panose="02020603050405020304" pitchFamily="18" charset="0"/>
                <a:cs typeface="Times New Roman" panose="02020603050405020304" pitchFamily="18" charset="0"/>
              </a:rPr>
              <a:t> in AI-based smart mobility systems.</a:t>
            </a:r>
          </a:p>
        </p:txBody>
      </p:sp>
      <p:sp>
        <p:nvSpPr>
          <p:cNvPr id="6" name="TextBox 5">
            <a:extLst>
              <a:ext uri="{FF2B5EF4-FFF2-40B4-BE49-F238E27FC236}">
                <a16:creationId xmlns:a16="http://schemas.microsoft.com/office/drawing/2014/main" id="{84F1D092-A351-8101-36F5-94515A29DFC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208904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20" name="TextBox 20"/>
          <p:cNvSpPr txBox="1"/>
          <p:nvPr/>
        </p:nvSpPr>
        <p:spPr>
          <a:xfrm>
            <a:off x="888004" y="182314"/>
            <a:ext cx="8027396"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introduction</a:t>
            </a:r>
          </a:p>
        </p:txBody>
      </p:sp>
      <p:grpSp>
        <p:nvGrpSpPr>
          <p:cNvPr id="21" name="Group 21"/>
          <p:cNvGrpSpPr/>
          <p:nvPr/>
        </p:nvGrpSpPr>
        <p:grpSpPr>
          <a:xfrm>
            <a:off x="838200" y="1562100"/>
            <a:ext cx="11353800" cy="7848600"/>
            <a:chOff x="0" y="0"/>
            <a:chExt cx="2897831" cy="1469323"/>
          </a:xfrm>
        </p:grpSpPr>
        <p:sp>
          <p:nvSpPr>
            <p:cNvPr id="22" name="Freeform 22"/>
            <p:cNvSpPr/>
            <p:nvPr/>
          </p:nvSpPr>
          <p:spPr>
            <a:xfrm>
              <a:off x="0" y="0"/>
              <a:ext cx="2897831" cy="1469323"/>
            </a:xfrm>
            <a:custGeom>
              <a:avLst/>
              <a:gdLst/>
              <a:ahLst/>
              <a:cxnLst/>
              <a:rect l="l" t="t" r="r" b="b"/>
              <a:pathLst>
                <a:path w="2897831" h="1469323">
                  <a:moveTo>
                    <a:pt x="2737811" y="0"/>
                  </a:moveTo>
                  <a:lnTo>
                    <a:pt x="160020" y="0"/>
                  </a:lnTo>
                  <a:lnTo>
                    <a:pt x="0" y="160020"/>
                  </a:lnTo>
                  <a:lnTo>
                    <a:pt x="0" y="1309303"/>
                  </a:lnTo>
                  <a:lnTo>
                    <a:pt x="160020" y="1469323"/>
                  </a:lnTo>
                  <a:lnTo>
                    <a:pt x="2737811" y="1469323"/>
                  </a:lnTo>
                  <a:lnTo>
                    <a:pt x="2897831" y="1309303"/>
                  </a:lnTo>
                  <a:lnTo>
                    <a:pt x="2897831" y="160020"/>
                  </a:lnTo>
                  <a:lnTo>
                    <a:pt x="2737811"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770831" cy="1399473"/>
            </a:xfrm>
            <a:prstGeom prst="rect">
              <a:avLst/>
            </a:prstGeom>
          </p:spPr>
          <p:txBody>
            <a:bodyPr lIns="50800" tIns="50800" rIns="50800" bIns="50800" rtlCol="0" anchor="ctr"/>
            <a:lstStyle/>
            <a:p>
              <a:pPr algn="ctr">
                <a:lnSpc>
                  <a:spcPts val="1960"/>
                </a:lnSpc>
              </a:pPr>
              <a:endParaRPr/>
            </a:p>
          </p:txBody>
        </p:sp>
      </p:grpSp>
      <p:sp>
        <p:nvSpPr>
          <p:cNvPr id="30" name="TextBox 30"/>
          <p:cNvSpPr txBox="1"/>
          <p:nvPr/>
        </p:nvSpPr>
        <p:spPr>
          <a:xfrm>
            <a:off x="1707924" y="1997519"/>
            <a:ext cx="9722076" cy="7032181"/>
          </a:xfrm>
          <a:prstGeom prst="rect">
            <a:avLst/>
          </a:prstGeom>
        </p:spPr>
        <p:txBody>
          <a:bodyPr wrap="square" lIns="0" tIns="0" rIns="0" bIns="0" rtlCol="0" anchor="t">
            <a:spAutoFit/>
          </a:bodyPr>
          <a:lstStyle/>
          <a:p>
            <a:pPr algn="just">
              <a:lnSpc>
                <a:spcPct val="150000"/>
              </a:lnSpc>
            </a:pPr>
            <a:r>
              <a:rPr lang="en-US" sz="2800" dirty="0">
                <a:solidFill>
                  <a:schemeClr val="bg1"/>
                </a:solidFill>
                <a:latin typeface="Times New Roman" panose="02020603050405020304" pitchFamily="18" charset="0"/>
                <a:cs typeface="Times New Roman" panose="02020603050405020304" pitchFamily="18" charset="0"/>
              </a:rPr>
              <a:t>Autonomous vehicles (AVs) rely on object detection and navigation systems optimized for structured and well-maintained roads. In countries like India, road infrastructure is often inconsistent, featuring frequent potholes, speed bumps, and surface deformities. Standard AV systems struggle to operate reliably in such conditions, impacting safety and ride quality. Surface anomalies reduce ride comfort and can be significant safety hazards. Conventional solutions using LiDAR and high-end sensors are expensive and not suitable for mass deployment. There is a pressing need for a cost-effective, camera-based solution capable of detecting, analyzing, and responding to road surface anomalies in real-time.</a:t>
            </a:r>
          </a:p>
        </p:txBody>
      </p:sp>
      <p:sp>
        <p:nvSpPr>
          <p:cNvPr id="31" name="TextBox 30">
            <a:extLst>
              <a:ext uri="{FF2B5EF4-FFF2-40B4-BE49-F238E27FC236}">
                <a16:creationId xmlns:a16="http://schemas.microsoft.com/office/drawing/2014/main" id="{044C6016-264D-F9A8-E01E-D9AC0C064C4B}"/>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7</a:t>
            </a:r>
          </a:p>
        </p:txBody>
      </p:sp>
      <p:sp>
        <p:nvSpPr>
          <p:cNvPr id="3" name="Rectangle: Top Corners Snipped 2">
            <a:extLst>
              <a:ext uri="{FF2B5EF4-FFF2-40B4-BE49-F238E27FC236}">
                <a16:creationId xmlns:a16="http://schemas.microsoft.com/office/drawing/2014/main" id="{EFAEC0BC-C58F-2836-F038-0DCF2D937354}"/>
              </a:ext>
            </a:extLst>
          </p:cNvPr>
          <p:cNvSpPr/>
          <p:nvPr/>
        </p:nvSpPr>
        <p:spPr>
          <a:xfrm>
            <a:off x="13182601" y="2109371"/>
            <a:ext cx="4419600" cy="7032181"/>
          </a:xfrm>
          <a:prstGeom prst="snip2SameRect">
            <a:avLst>
              <a:gd name="adj1" fmla="val 16667"/>
              <a:gd name="adj2" fmla="val 17907"/>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CB423A6-982B-8031-3624-31837A8FF1B9}"/>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28382" y="258514"/>
            <a:ext cx="10806418"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a:t>
            </a:r>
          </a:p>
        </p:txBody>
      </p:sp>
      <p:grpSp>
        <p:nvGrpSpPr>
          <p:cNvPr id="22" name="Group 22"/>
          <p:cNvGrpSpPr/>
          <p:nvPr/>
        </p:nvGrpSpPr>
        <p:grpSpPr>
          <a:xfrm>
            <a:off x="10335715" y="2492845"/>
            <a:ext cx="7443974" cy="6708845"/>
            <a:chOff x="0" y="0"/>
            <a:chExt cx="2658112" cy="2395611"/>
          </a:xfrm>
        </p:grpSpPr>
        <p:sp>
          <p:nvSpPr>
            <p:cNvPr id="23" name="Freeform 23"/>
            <p:cNvSpPr/>
            <p:nvPr/>
          </p:nvSpPr>
          <p:spPr>
            <a:xfrm>
              <a:off x="0" y="0"/>
              <a:ext cx="2658112" cy="2395611"/>
            </a:xfrm>
            <a:custGeom>
              <a:avLst/>
              <a:gdLst/>
              <a:ahLst/>
              <a:cxnLst/>
              <a:rect l="l" t="t" r="r" b="b"/>
              <a:pathLst>
                <a:path w="2658112" h="2395611">
                  <a:moveTo>
                    <a:pt x="2498092" y="0"/>
                  </a:moveTo>
                  <a:lnTo>
                    <a:pt x="160020" y="0"/>
                  </a:lnTo>
                  <a:lnTo>
                    <a:pt x="0" y="160020"/>
                  </a:lnTo>
                  <a:lnTo>
                    <a:pt x="0" y="2235591"/>
                  </a:lnTo>
                  <a:lnTo>
                    <a:pt x="160020" y="2395611"/>
                  </a:lnTo>
                  <a:lnTo>
                    <a:pt x="2498092" y="2395611"/>
                  </a:lnTo>
                  <a:lnTo>
                    <a:pt x="2658112" y="2235591"/>
                  </a:lnTo>
                  <a:lnTo>
                    <a:pt x="2658112" y="160020"/>
                  </a:lnTo>
                  <a:lnTo>
                    <a:pt x="2498092" y="0"/>
                  </a:lnTo>
                  <a:close/>
                </a:path>
              </a:pathLst>
            </a:custGeom>
            <a:solidFill>
              <a:srgbClr val="000000">
                <a:alpha val="0"/>
              </a:srgbClr>
            </a:solidFill>
            <a:ln w="9525" cap="sq">
              <a:solidFill>
                <a:srgbClr val="3B4C7D"/>
              </a:solidFill>
              <a:prstDash val="solid"/>
              <a:miter/>
            </a:ln>
          </p:spPr>
        </p:sp>
        <p:sp>
          <p:nvSpPr>
            <p:cNvPr id="24" name="TextBox 24"/>
            <p:cNvSpPr txBox="1"/>
            <p:nvPr/>
          </p:nvSpPr>
          <p:spPr>
            <a:xfrm>
              <a:off x="63500" y="6350"/>
              <a:ext cx="2531112" cy="2325761"/>
            </a:xfrm>
            <a:prstGeom prst="rect">
              <a:avLst/>
            </a:prstGeom>
          </p:spPr>
          <p:txBody>
            <a:bodyPr lIns="50800" tIns="50800" rIns="50800" bIns="50800" rtlCol="0" anchor="ctr"/>
            <a:lstStyle/>
            <a:p>
              <a:pPr algn="ctr">
                <a:lnSpc>
                  <a:spcPts val="1960"/>
                </a:lnSpc>
              </a:pPr>
              <a:endParaRPr/>
            </a:p>
          </p:txBody>
        </p:sp>
      </p:grpSp>
      <p:sp>
        <p:nvSpPr>
          <p:cNvPr id="25" name="TextBox 25"/>
          <p:cNvSpPr txBox="1"/>
          <p:nvPr/>
        </p:nvSpPr>
        <p:spPr>
          <a:xfrm>
            <a:off x="914401" y="1947324"/>
            <a:ext cx="8389340" cy="6165790"/>
          </a:xfrm>
          <a:prstGeom prst="rect">
            <a:avLst/>
          </a:prstGeom>
        </p:spPr>
        <p:txBody>
          <a:bodyPr wrap="square" lIns="0" tIns="0" rIns="0" bIns="0" rtlCol="0" anchor="t">
            <a:spAutoFit/>
          </a:bodyPr>
          <a:lstStyle/>
          <a:p>
            <a:pPr marL="342900" indent="-342900">
              <a:spcBef>
                <a:spcPct val="0"/>
              </a:spcBef>
              <a:buFont typeface="Wingdings" panose="05000000000000000000" pitchFamily="2" charset="2"/>
              <a:buChar char="v"/>
            </a:pPr>
            <a:r>
              <a:rPr lang="it-IT" sz="2400" dirty="0">
                <a:solidFill>
                  <a:schemeClr val="bg1"/>
                </a:solidFill>
                <a:latin typeface="Times New Roman" panose="02020603050405020304" pitchFamily="18" charset="0"/>
                <a:cs typeface="Times New Roman" panose="02020603050405020304" pitchFamily="18" charset="0"/>
              </a:rPr>
              <a:t>LiDAR + Camera fusion for accurate depth</a:t>
            </a:r>
          </a:p>
          <a:p>
            <a:pPr marL="342900" indent="-342900">
              <a:spcBef>
                <a:spcPct val="0"/>
              </a:spcBef>
              <a:buFont typeface="Wingdings" panose="05000000000000000000" pitchFamily="2" charset="2"/>
              <a:buChar char="v"/>
            </a:pPr>
            <a:endParaRPr lang="it-IT"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YOLO object detection</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3D LiDAR depth analysis</a:t>
            </a:r>
          </a:p>
          <a:p>
            <a:pPr marL="342900" indent="-342900">
              <a:spcBef>
                <a:spcPct val="0"/>
              </a:spcBef>
              <a:buFont typeface="Wingdings" panose="05000000000000000000" pitchFamily="2" charset="2"/>
              <a:buChar char="v"/>
            </a:pPr>
            <a:endParaRPr lang="en-US" sz="2400" b="1"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b="1" dirty="0">
                <a:solidFill>
                  <a:schemeClr val="bg1"/>
                </a:solidFill>
                <a:latin typeface="Times New Roman" panose="02020603050405020304" pitchFamily="18" charset="0"/>
                <a:cs typeface="Times New Roman" panose="02020603050405020304" pitchFamily="18" charset="0"/>
              </a:rPr>
              <a:t>GNSS-based geo-positioning</a:t>
            </a:r>
            <a:r>
              <a:rPr lang="en-US" sz="2400" dirty="0">
                <a:solidFill>
                  <a:schemeClr val="bg1"/>
                </a:solidFill>
                <a:latin typeface="Times New Roman" panose="02020603050405020304" pitchFamily="18" charset="0"/>
                <a:cs typeface="Times New Roman" panose="02020603050405020304" pitchFamily="18" charset="0"/>
              </a:rPr>
              <a:t> to automatically detect, measure, and map potholes.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This eliminates manual road inspection and improves both accuracy and maintenance efficiency.</a:t>
            </a:r>
          </a:p>
          <a:p>
            <a:pPr marL="342900" indent="-342900">
              <a:spcBef>
                <a:spcPct val="0"/>
              </a:spcBef>
              <a:buFont typeface="Wingdings" panose="05000000000000000000" pitchFamily="2" charset="2"/>
              <a:buChar char="v"/>
            </a:pPr>
            <a:endParaRPr lang="en-US" sz="2400" spc="-56" dirty="0">
              <a:solidFill>
                <a:schemeClr val="bg1"/>
              </a:solidFill>
              <a:latin typeface="Times New Roman" panose="02020603050405020304" pitchFamily="18" charset="0"/>
              <a:ea typeface="Telegraf"/>
              <a:cs typeface="Times New Roman" panose="02020603050405020304" pitchFamily="18" charset="0"/>
              <a:sym typeface="Telegraf"/>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Generates 3D point cloud data for area, volume, and depth analysis</a:t>
            </a:r>
          </a:p>
          <a:p>
            <a:pPr marL="342900" indent="-342900">
              <a:spcBef>
                <a:spcPct val="0"/>
              </a:spcBef>
              <a:buFont typeface="Wingdings" panose="05000000000000000000" pitchFamily="2" charset="2"/>
              <a:buChar char="v"/>
            </a:pPr>
            <a:endParaRPr lang="en-US" sz="2400" dirty="0">
              <a:solidFill>
                <a:schemeClr val="bg1"/>
              </a:solidFill>
              <a:latin typeface="Times New Roman" panose="02020603050405020304" pitchFamily="18" charset="0"/>
              <a:cs typeface="Times New Roman" panose="02020603050405020304" pitchFamily="18" charset="0"/>
            </a:endParaRPr>
          </a:p>
          <a:p>
            <a:pPr marL="342900" indent="-342900">
              <a:spcBef>
                <a:spcPct val="0"/>
              </a:spcBef>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Point cloud and Convex Hull for geometry</a:t>
            </a:r>
          </a:p>
          <a:p>
            <a:pPr>
              <a:lnSpc>
                <a:spcPts val="1960"/>
              </a:lnSpc>
              <a:spcBef>
                <a:spcPct val="0"/>
              </a:spcBef>
            </a:pPr>
            <a:endParaRPr lang="en-US" sz="2000" spc="-56" dirty="0">
              <a:solidFill>
                <a:schemeClr val="bg1"/>
              </a:solidFill>
              <a:latin typeface="Times New Roman" panose="02020603050405020304" pitchFamily="18" charset="0"/>
              <a:ea typeface="Telegraf"/>
              <a:cs typeface="Times New Roman" panose="02020603050405020304" pitchFamily="18" charset="0"/>
              <a:sym typeface="Telegraf"/>
            </a:endParaRPr>
          </a:p>
        </p:txBody>
      </p:sp>
      <p:sp>
        <p:nvSpPr>
          <p:cNvPr id="29" name="TextBox 28">
            <a:extLst>
              <a:ext uri="{FF2B5EF4-FFF2-40B4-BE49-F238E27FC236}">
                <a16:creationId xmlns:a16="http://schemas.microsoft.com/office/drawing/2014/main" id="{C45FB6F9-6410-A14E-E276-E56D2FD02DE8}"/>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8</a:t>
            </a:r>
          </a:p>
        </p:txBody>
      </p:sp>
      <p:pic>
        <p:nvPicPr>
          <p:cNvPr id="37" name="Picture 36">
            <a:extLst>
              <a:ext uri="{FF2B5EF4-FFF2-40B4-BE49-F238E27FC236}">
                <a16:creationId xmlns:a16="http://schemas.microsoft.com/office/drawing/2014/main" id="{CB9BA23F-CEF9-63D1-4CB9-44842BA51A1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95964" y="2581848"/>
            <a:ext cx="6794413" cy="6442012"/>
          </a:xfrm>
          <a:prstGeom prst="rect">
            <a:avLst/>
          </a:prstGeom>
        </p:spPr>
      </p:pic>
      <p:sp>
        <p:nvSpPr>
          <p:cNvPr id="3" name="TextBox 2">
            <a:extLst>
              <a:ext uri="{FF2B5EF4-FFF2-40B4-BE49-F238E27FC236}">
                <a16:creationId xmlns:a16="http://schemas.microsoft.com/office/drawing/2014/main" id="{58DBFE84-3CB5-EA0C-CB7B-464BF633E24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75018"/>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Existing system architecture</a:t>
            </a:r>
          </a:p>
        </p:txBody>
      </p:sp>
      <p:sp>
        <p:nvSpPr>
          <p:cNvPr id="42" name="TextBox 41">
            <a:extLst>
              <a:ext uri="{FF2B5EF4-FFF2-40B4-BE49-F238E27FC236}">
                <a16:creationId xmlns:a16="http://schemas.microsoft.com/office/drawing/2014/main" id="{6488D703-D644-AE76-7F12-A69A29F4AB80}"/>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9</a:t>
            </a:r>
          </a:p>
        </p:txBody>
      </p:sp>
      <p:pic>
        <p:nvPicPr>
          <p:cNvPr id="46" name="Picture 45">
            <a:extLst>
              <a:ext uri="{FF2B5EF4-FFF2-40B4-BE49-F238E27FC236}">
                <a16:creationId xmlns:a16="http://schemas.microsoft.com/office/drawing/2014/main" id="{8521DA0D-FA6A-0C6C-063D-D85630A8E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4370" y="1104900"/>
            <a:ext cx="12344400" cy="9182100"/>
          </a:xfrm>
          <a:prstGeom prst="rect">
            <a:avLst/>
          </a:prstGeom>
        </p:spPr>
      </p:pic>
      <p:sp>
        <p:nvSpPr>
          <p:cNvPr id="3" name="TextBox 2">
            <a:extLst>
              <a:ext uri="{FF2B5EF4-FFF2-40B4-BE49-F238E27FC236}">
                <a16:creationId xmlns:a16="http://schemas.microsoft.com/office/drawing/2014/main" id="{73D2300F-9240-4642-6075-B4618ED9082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txBody>
          <a:bodyPr/>
          <a:lstStyle/>
          <a:p>
            <a:endParaRPr lang="en-US" dirty="0"/>
          </a:p>
        </p:txBody>
      </p:sp>
      <p:sp>
        <p:nvSpPr>
          <p:cNvPr id="14" name="TextBox 14"/>
          <p:cNvSpPr txBox="1"/>
          <p:nvPr/>
        </p:nvSpPr>
        <p:spPr>
          <a:xfrm>
            <a:off x="914400" y="186997"/>
            <a:ext cx="162306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ADVANTAGES AND DISADVANTAGES</a:t>
            </a:r>
          </a:p>
        </p:txBody>
      </p:sp>
      <p:grpSp>
        <p:nvGrpSpPr>
          <p:cNvPr id="20" name="Group 20"/>
          <p:cNvGrpSpPr/>
          <p:nvPr/>
        </p:nvGrpSpPr>
        <p:grpSpPr>
          <a:xfrm>
            <a:off x="444806" y="1714500"/>
            <a:ext cx="17576220" cy="6799764"/>
            <a:chOff x="63500" y="6350"/>
            <a:chExt cx="6276160" cy="2502887"/>
          </a:xfrm>
        </p:grpSpPr>
        <p:sp>
          <p:nvSpPr>
            <p:cNvPr id="21" name="Freeform 21"/>
            <p:cNvSpPr/>
            <p:nvPr/>
          </p:nvSpPr>
          <p:spPr>
            <a:xfrm>
              <a:off x="3821283" y="186429"/>
              <a:ext cx="2518377" cy="2322808"/>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a:p>
              <a:pPr algn="ctr"/>
              <a:r>
                <a:rPr lang="en-US" sz="2800" dirty="0">
                  <a:solidFill>
                    <a:schemeClr val="bg1"/>
                  </a:solidFill>
                  <a:latin typeface="Times New Roman" panose="02020603050405020304" pitchFamily="18" charset="0"/>
                  <a:cs typeface="Times New Roman" panose="02020603050405020304" pitchFamily="18" charset="0"/>
                </a:rPr>
                <a:t>DISADVANTAGES</a:t>
              </a:r>
            </a:p>
            <a:p>
              <a:endParaRPr lang="en-US" dirty="0">
                <a:solidFill>
                  <a:schemeClr val="bg1"/>
                </a:solidFill>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hardware cost due to LiDAR integration</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LiDAR accuracy drops when potholes contain </a:t>
              </a:r>
              <a:r>
                <a:rPr lang="en-US" sz="2000" b="1" dirty="0">
                  <a:solidFill>
                    <a:schemeClr val="bg1"/>
                  </a:solidFill>
                  <a:latin typeface="Times New Roman" panose="02020603050405020304" pitchFamily="18" charset="0"/>
                  <a:cs typeface="Times New Roman" panose="02020603050405020304" pitchFamily="18" charset="0"/>
                </a:rPr>
                <a:t>water or reflective surfaces</a:t>
              </a:r>
            </a:p>
            <a:p>
              <a:pPr marL="285750" indent="-285750">
                <a:buFont typeface="Wingdings" panose="05000000000000000000" pitchFamily="2" charset="2"/>
                <a:buChar char="v"/>
              </a:pPr>
              <a:endParaRPr lang="en-US" sz="2000"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System requires good calibration and synchronization between sensors</a:t>
              </a:r>
            </a:p>
            <a:p>
              <a:pPr marL="285750" indent="-28575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Computationally heavy for low-power embedded systems</a:t>
              </a:r>
            </a:p>
          </p:txBody>
        </p:sp>
        <p:sp>
          <p:nvSpPr>
            <p:cNvPr id="22" name="TextBox 22"/>
            <p:cNvSpPr txBox="1"/>
            <p:nvPr/>
          </p:nvSpPr>
          <p:spPr>
            <a:xfrm>
              <a:off x="63500" y="6350"/>
              <a:ext cx="2391377" cy="2252958"/>
            </a:xfrm>
            <a:prstGeom prst="rect">
              <a:avLst/>
            </a:prstGeom>
          </p:spPr>
          <p:txBody>
            <a:bodyPr lIns="50800" tIns="50800" rIns="50800" bIns="50800" rtlCol="0" anchor="ctr"/>
            <a:lstStyle/>
            <a:p>
              <a:pPr algn="ctr">
                <a:lnSpc>
                  <a:spcPts val="1960"/>
                </a:lnSpc>
              </a:pPr>
              <a:endParaRPr/>
            </a:p>
          </p:txBody>
        </p:sp>
      </p:grpSp>
      <p:grpSp>
        <p:nvGrpSpPr>
          <p:cNvPr id="34" name="Group 34"/>
          <p:cNvGrpSpPr/>
          <p:nvPr/>
        </p:nvGrpSpPr>
        <p:grpSpPr>
          <a:xfrm>
            <a:off x="7539793" y="2648654"/>
            <a:ext cx="3356807" cy="2342446"/>
            <a:chOff x="0" y="0"/>
            <a:chExt cx="3003187" cy="2160973"/>
          </a:xfrm>
        </p:grpSpPr>
        <p:sp>
          <p:nvSpPr>
            <p:cNvPr id="35" name="Freeform 35"/>
            <p:cNvSpPr/>
            <p:nvPr/>
          </p:nvSpPr>
          <p:spPr>
            <a:xfrm>
              <a:off x="0" y="0"/>
              <a:ext cx="3003187" cy="2160973"/>
            </a:xfrm>
            <a:custGeom>
              <a:avLst/>
              <a:gdLst/>
              <a:ahLst/>
              <a:cxnLst/>
              <a:rect l="l" t="t" r="r" b="b"/>
              <a:pathLst>
                <a:path w="3003187" h="2160973">
                  <a:moveTo>
                    <a:pt x="2765062" y="0"/>
                  </a:moveTo>
                  <a:lnTo>
                    <a:pt x="3003187" y="238125"/>
                  </a:lnTo>
                  <a:lnTo>
                    <a:pt x="3003187" y="1922848"/>
                  </a:lnTo>
                  <a:lnTo>
                    <a:pt x="2765062" y="2160973"/>
                  </a:lnTo>
                  <a:lnTo>
                    <a:pt x="238125" y="2160973"/>
                  </a:lnTo>
                  <a:lnTo>
                    <a:pt x="0" y="1922848"/>
                  </a:lnTo>
                  <a:lnTo>
                    <a:pt x="0" y="238125"/>
                  </a:lnTo>
                  <a:lnTo>
                    <a:pt x="238125" y="0"/>
                  </a:lnTo>
                  <a:lnTo>
                    <a:pt x="2765062" y="0"/>
                  </a:lnTo>
                  <a:close/>
                </a:path>
              </a:pathLst>
            </a:custGeom>
            <a:blipFill>
              <a:blip r:embed="rId3"/>
              <a:stretch>
                <a:fillRect l="-13960" r="-13960"/>
              </a:stretch>
            </a:blipFill>
          </p:spPr>
        </p:sp>
      </p:grpSp>
      <p:sp>
        <p:nvSpPr>
          <p:cNvPr id="36" name="TextBox 35">
            <a:extLst>
              <a:ext uri="{FF2B5EF4-FFF2-40B4-BE49-F238E27FC236}">
                <a16:creationId xmlns:a16="http://schemas.microsoft.com/office/drawing/2014/main" id="{56E7BAA0-6DC4-8597-F727-EE723222150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10</a:t>
            </a:r>
          </a:p>
        </p:txBody>
      </p:sp>
      <p:sp>
        <p:nvSpPr>
          <p:cNvPr id="41" name="Freeform 21">
            <a:extLst>
              <a:ext uri="{FF2B5EF4-FFF2-40B4-BE49-F238E27FC236}">
                <a16:creationId xmlns:a16="http://schemas.microsoft.com/office/drawing/2014/main" id="{2B1E799C-5783-9D0D-6A11-4C066020B270}"/>
              </a:ext>
            </a:extLst>
          </p:cNvPr>
          <p:cNvSpPr/>
          <p:nvPr/>
        </p:nvSpPr>
        <p:spPr>
          <a:xfrm>
            <a:off x="381094" y="2185769"/>
            <a:ext cx="7052648" cy="6310531"/>
          </a:xfrm>
          <a:custGeom>
            <a:avLst/>
            <a:gdLst/>
            <a:ahLst/>
            <a:cxnLst/>
            <a:rect l="l" t="t" r="r" b="b"/>
            <a:pathLst>
              <a:path w="2518377" h="2322808">
                <a:moveTo>
                  <a:pt x="2358357" y="0"/>
                </a:moveTo>
                <a:lnTo>
                  <a:pt x="160020" y="0"/>
                </a:lnTo>
                <a:lnTo>
                  <a:pt x="0" y="160020"/>
                </a:lnTo>
                <a:lnTo>
                  <a:pt x="0" y="2162788"/>
                </a:lnTo>
                <a:lnTo>
                  <a:pt x="160020" y="2322808"/>
                </a:lnTo>
                <a:lnTo>
                  <a:pt x="2358357" y="2322808"/>
                </a:lnTo>
                <a:lnTo>
                  <a:pt x="2518377" y="2162788"/>
                </a:lnTo>
                <a:lnTo>
                  <a:pt x="2518377" y="160020"/>
                </a:lnTo>
                <a:lnTo>
                  <a:pt x="2358357" y="0"/>
                </a:lnTo>
                <a:close/>
              </a:path>
            </a:pathLst>
          </a:custGeom>
          <a:solidFill>
            <a:srgbClr val="000000">
              <a:alpha val="0"/>
            </a:srgbClr>
          </a:solidFill>
          <a:ln w="9525" cap="sq">
            <a:solidFill>
              <a:srgbClr val="3B4C7D"/>
            </a:solidFill>
            <a:prstDash val="solid"/>
            <a:miter/>
          </a:ln>
        </p:spPr>
        <p:txBody>
          <a:bodyPr/>
          <a:lstStyle/>
          <a:p>
            <a:pPr algn="ctr"/>
            <a:endParaRPr lang="en-US" dirty="0">
              <a:solidFill>
                <a:schemeClr val="bg1"/>
              </a:solidFill>
              <a:latin typeface="Times New Roman" panose="02020603050405020304" pitchFamily="18" charset="0"/>
              <a:cs typeface="Times New Roman" panose="02020603050405020304" pitchFamily="18" charset="0"/>
            </a:endParaRPr>
          </a:p>
          <a:p>
            <a:pPr algn="ctr"/>
            <a:r>
              <a:rPr lang="en-US" sz="2800" dirty="0">
                <a:solidFill>
                  <a:schemeClr val="bg1"/>
                </a:solidFill>
                <a:latin typeface="Times New Roman" panose="02020603050405020304" pitchFamily="18" charset="0"/>
                <a:cs typeface="Times New Roman" panose="02020603050405020304" pitchFamily="18" charset="0"/>
              </a:rPr>
              <a:t>ADVANTAGES</a:t>
            </a:r>
          </a:p>
          <a:p>
            <a:pPr algn="ctr"/>
            <a:endParaRPr lang="en-US" sz="28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High Detection </a:t>
            </a:r>
            <a:r>
              <a:rPr lang="en-US" sz="2000" b="1" dirty="0">
                <a:solidFill>
                  <a:schemeClr val="bg1"/>
                </a:solidFill>
                <a:latin typeface="Times New Roman" panose="02020603050405020304" pitchFamily="18" charset="0"/>
                <a:cs typeface="Times New Roman" panose="02020603050405020304" pitchFamily="18" charset="0"/>
              </a:rPr>
              <a:t>Accuracy (86%)</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Reliability</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Integration of </a:t>
            </a:r>
            <a:r>
              <a:rPr lang="en-US" sz="2000" b="1" dirty="0">
                <a:solidFill>
                  <a:schemeClr val="bg1"/>
                </a:solidFill>
                <a:latin typeface="Times New Roman" panose="02020603050405020304" pitchFamily="18" charset="0"/>
                <a:cs typeface="Times New Roman" panose="02020603050405020304" pitchFamily="18" charset="0"/>
              </a:rPr>
              <a:t>Vision</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LiDAR</a:t>
            </a:r>
            <a:r>
              <a:rPr lang="en-US" sz="2000" dirty="0">
                <a:solidFill>
                  <a:schemeClr val="bg1"/>
                </a:solidFill>
                <a:latin typeface="Times New Roman" panose="02020603050405020304" pitchFamily="18" charset="0"/>
                <a:cs typeface="Times New Roman" panose="02020603050405020304" pitchFamily="18" charset="0"/>
              </a:rPr>
              <a:t> (2D + 3D Fusion)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Real-Time</a:t>
            </a:r>
            <a:r>
              <a:rPr lang="en-US" sz="2000" dirty="0">
                <a:solidFill>
                  <a:schemeClr val="bg1"/>
                </a:solidFill>
                <a:latin typeface="Times New Roman" panose="02020603050405020304" pitchFamily="18" charset="0"/>
                <a:cs typeface="Times New Roman" panose="02020603050405020304" pitchFamily="18" charset="0"/>
              </a:rPr>
              <a:t> and </a:t>
            </a:r>
            <a:r>
              <a:rPr lang="en-US" sz="2000" b="1" dirty="0">
                <a:solidFill>
                  <a:schemeClr val="bg1"/>
                </a:solidFill>
                <a:latin typeface="Times New Roman" panose="02020603050405020304" pitchFamily="18" charset="0"/>
                <a:cs typeface="Times New Roman" panose="02020603050405020304" pitchFamily="18" charset="0"/>
              </a:rPr>
              <a:t>Automated</a:t>
            </a:r>
            <a:r>
              <a:rPr lang="en-US" sz="2000" dirty="0">
                <a:solidFill>
                  <a:schemeClr val="bg1"/>
                </a:solidFill>
                <a:latin typeface="Times New Roman" panose="02020603050405020304" pitchFamily="18" charset="0"/>
                <a:cs typeface="Times New Roman" panose="02020603050405020304" pitchFamily="18" charset="0"/>
              </a:rPr>
              <a:t> Operation</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sz="2000" b="1" dirty="0">
                <a:solidFill>
                  <a:schemeClr val="bg1"/>
                </a:solidFill>
                <a:latin typeface="Times New Roman" panose="02020603050405020304" pitchFamily="18" charset="0"/>
                <a:cs typeface="Times New Roman" panose="02020603050405020304" pitchFamily="18" charset="0"/>
              </a:rPr>
              <a:t>Automated feature extraction</a:t>
            </a:r>
            <a:r>
              <a:rPr lang="en-US" sz="2000" dirty="0">
                <a:solidFill>
                  <a:schemeClr val="bg1"/>
                </a:solidFill>
                <a:latin typeface="Times New Roman" panose="02020603050405020304" pitchFamily="18" charset="0"/>
                <a:cs typeface="Times New Roman" panose="02020603050405020304" pitchFamily="18" charset="0"/>
              </a:rPr>
              <a:t> (area, volume, depth) via Convex Hull</a:t>
            </a:r>
          </a:p>
          <a:p>
            <a:pPr marL="342900" indent="-342900">
              <a:buFont typeface="Wingdings" panose="05000000000000000000" pitchFamily="2" charset="2"/>
              <a:buChar char="v"/>
            </a:pPr>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GNSS-Based </a:t>
            </a:r>
            <a:r>
              <a:rPr lang="en-US" sz="2000" b="1" dirty="0">
                <a:solidFill>
                  <a:schemeClr val="bg1"/>
                </a:solidFill>
                <a:latin typeface="Times New Roman" panose="02020603050405020304" pitchFamily="18" charset="0"/>
                <a:cs typeface="Times New Roman" panose="02020603050405020304" pitchFamily="18" charset="0"/>
              </a:rPr>
              <a:t>Geo-Mapping</a:t>
            </a:r>
            <a:r>
              <a:rPr lang="en-US" sz="2000" dirty="0">
                <a:solidFill>
                  <a:schemeClr val="bg1"/>
                </a:solidFill>
                <a:latin typeface="Times New Roman" panose="02020603050405020304" pitchFamily="18" charset="0"/>
                <a:cs typeface="Times New Roman" panose="02020603050405020304" pitchFamily="18" charset="0"/>
              </a:rPr>
              <a:t> and Visualization</a:t>
            </a:r>
          </a:p>
          <a:p>
            <a:endParaRPr lang="en-US" sz="2000" dirty="0">
              <a:solidFill>
                <a:schemeClr val="bg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US" sz="2000" dirty="0">
                <a:solidFill>
                  <a:schemeClr val="bg1"/>
                </a:solidFill>
                <a:latin typeface="Times New Roman" panose="02020603050405020304" pitchFamily="18" charset="0"/>
                <a:cs typeface="Times New Roman" panose="02020603050405020304" pitchFamily="18" charset="0"/>
              </a:rPr>
              <a:t>Robustness Across Lighting and </a:t>
            </a:r>
            <a:r>
              <a:rPr lang="en-US" sz="2000" b="1" dirty="0">
                <a:solidFill>
                  <a:schemeClr val="bg1"/>
                </a:solidFill>
                <a:latin typeface="Times New Roman" panose="02020603050405020304" pitchFamily="18" charset="0"/>
                <a:cs typeface="Times New Roman" panose="02020603050405020304" pitchFamily="18" charset="0"/>
              </a:rPr>
              <a:t>Environmental</a:t>
            </a:r>
            <a:r>
              <a:rPr lang="en-US" sz="2000"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Conditions</a:t>
            </a:r>
          </a:p>
        </p:txBody>
      </p:sp>
      <p:sp>
        <p:nvSpPr>
          <p:cNvPr id="3" name="TextBox 2">
            <a:extLst>
              <a:ext uri="{FF2B5EF4-FFF2-40B4-BE49-F238E27FC236}">
                <a16:creationId xmlns:a16="http://schemas.microsoft.com/office/drawing/2014/main" id="{851B2CDA-F0D5-859B-1277-B56BBC8DD9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892067" y="258514"/>
            <a:ext cx="15643333"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PROBLEM STATEMENT</a:t>
            </a:r>
          </a:p>
        </p:txBody>
      </p:sp>
      <p:grpSp>
        <p:nvGrpSpPr>
          <p:cNvPr id="21" name="Group 21"/>
          <p:cNvGrpSpPr/>
          <p:nvPr/>
        </p:nvGrpSpPr>
        <p:grpSpPr>
          <a:xfrm>
            <a:off x="1028700" y="1409701"/>
            <a:ext cx="15887700" cy="7848090"/>
            <a:chOff x="0" y="0"/>
            <a:chExt cx="1810563" cy="1283369"/>
          </a:xfrm>
        </p:grpSpPr>
        <p:sp>
          <p:nvSpPr>
            <p:cNvPr id="22" name="Freeform 22"/>
            <p:cNvSpPr/>
            <p:nvPr/>
          </p:nvSpPr>
          <p:spPr>
            <a:xfrm>
              <a:off x="0" y="0"/>
              <a:ext cx="1810563" cy="1283369"/>
            </a:xfrm>
            <a:custGeom>
              <a:avLst/>
              <a:gdLst/>
              <a:ahLst/>
              <a:cxnLst/>
              <a:rect l="l" t="t" r="r" b="b"/>
              <a:pathLst>
                <a:path w="1810563" h="1283369">
                  <a:moveTo>
                    <a:pt x="1650543" y="0"/>
                  </a:moveTo>
                  <a:lnTo>
                    <a:pt x="160020" y="0"/>
                  </a:lnTo>
                  <a:lnTo>
                    <a:pt x="0" y="160020"/>
                  </a:lnTo>
                  <a:lnTo>
                    <a:pt x="0" y="1123349"/>
                  </a:lnTo>
                  <a:lnTo>
                    <a:pt x="160020" y="1283369"/>
                  </a:lnTo>
                  <a:lnTo>
                    <a:pt x="1650543" y="1283369"/>
                  </a:lnTo>
                  <a:lnTo>
                    <a:pt x="1810563" y="1123349"/>
                  </a:lnTo>
                  <a:lnTo>
                    <a:pt x="1810563" y="160020"/>
                  </a:lnTo>
                  <a:lnTo>
                    <a:pt x="1650543"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p:cNvSpPr txBox="1"/>
            <p:nvPr/>
          </p:nvSpPr>
          <p:spPr>
            <a:xfrm>
              <a:off x="63500" y="6350"/>
              <a:ext cx="1683563" cy="1213519"/>
            </a:xfrm>
            <a:prstGeom prst="rect">
              <a:avLst/>
            </a:prstGeom>
          </p:spPr>
          <p:txBody>
            <a:bodyPr lIns="50800" tIns="50800" rIns="50800" bIns="50800" rtlCol="0" anchor="ctr"/>
            <a:lstStyle/>
            <a:p>
              <a:pPr algn="ctr">
                <a:lnSpc>
                  <a:spcPts val="1960"/>
                </a:lnSpc>
              </a:pPr>
              <a:endParaRPr/>
            </a:p>
          </p:txBody>
        </p:sp>
      </p:grpSp>
      <p:sp>
        <p:nvSpPr>
          <p:cNvPr id="24" name="TextBox 24"/>
          <p:cNvSpPr txBox="1"/>
          <p:nvPr/>
        </p:nvSpPr>
        <p:spPr>
          <a:xfrm>
            <a:off x="2076450" y="2240811"/>
            <a:ext cx="13792200" cy="5901103"/>
          </a:xfrm>
          <a:prstGeom prst="rect">
            <a:avLst/>
          </a:prstGeom>
        </p:spPr>
        <p:txBody>
          <a:bodyPr wrap="square" lIns="0" tIns="0" rIns="0" bIns="0" rtlCol="0" anchor="t">
            <a:spAutoFit/>
          </a:bodyPr>
          <a:lstStyle/>
          <a:p>
            <a:pPr marL="457200" indent="-45720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Current vision–LiDAR pothole detection systems are impractical for large-scale deployment due to high LiDAR costs, calibration complexity, reduced reliability in wet/reflective conditions, and heavy computational requirements.</a:t>
            </a:r>
          </a:p>
          <a:p>
            <a:pPr marL="457200" indent="-457200" algn="just">
              <a:lnSpc>
                <a:spcPct val="200000"/>
              </a:lnSpc>
              <a:buFont typeface="+mj-lt"/>
              <a:buAutoNum type="arabicPeriod"/>
            </a:pPr>
            <a:endParaRPr lang="en-US" sz="2800" dirty="0">
              <a:solidFill>
                <a:schemeClr val="bg1"/>
              </a:solidFill>
              <a:latin typeface="Times New Roman" panose="02020603050405020304" pitchFamily="18" charset="0"/>
              <a:cs typeface="Times New Roman" panose="02020603050405020304" pitchFamily="18" charset="0"/>
            </a:endParaRPr>
          </a:p>
          <a:p>
            <a:pPr marL="457200" indent="-45720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There is a need for a low-cost, lightweight, and robust pothole detection solution that can maintain high accuracy using vision-only or minimal-sensor setups, suitable for real-time performance on resource-constrained platforms in diverse environments.</a:t>
            </a:r>
          </a:p>
        </p:txBody>
      </p:sp>
      <p:sp>
        <p:nvSpPr>
          <p:cNvPr id="43" name="TextBox 42">
            <a:extLst>
              <a:ext uri="{FF2B5EF4-FFF2-40B4-BE49-F238E27FC236}">
                <a16:creationId xmlns:a16="http://schemas.microsoft.com/office/drawing/2014/main" id="{65FDB1EB-A397-A9FA-F8F6-982FF34CC98E}"/>
              </a:ext>
            </a:extLst>
          </p:cNvPr>
          <p:cNvSpPr txBox="1"/>
          <p:nvPr/>
        </p:nvSpPr>
        <p:spPr>
          <a:xfrm>
            <a:off x="15544800" y="9328626"/>
            <a:ext cx="2514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11</a:t>
            </a:r>
          </a:p>
        </p:txBody>
      </p:sp>
      <p:sp>
        <p:nvSpPr>
          <p:cNvPr id="3" name="TextBox 2">
            <a:extLst>
              <a:ext uri="{FF2B5EF4-FFF2-40B4-BE49-F238E27FC236}">
                <a16:creationId xmlns:a16="http://schemas.microsoft.com/office/drawing/2014/main" id="{AB0E0F3D-3F3C-B75D-E347-B950DF9C14B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14400"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p:cNvGrpSpPr/>
          <p:nvPr/>
        </p:nvGrpSpPr>
        <p:grpSpPr>
          <a:xfrm>
            <a:off x="381001" y="1257300"/>
            <a:ext cx="17526000" cy="8071326"/>
            <a:chOff x="0" y="0"/>
            <a:chExt cx="2455705" cy="1683476"/>
          </a:xfrm>
        </p:grpSpPr>
        <p:sp>
          <p:nvSpPr>
            <p:cNvPr id="16" name="Freeform 16"/>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p:cNvSpPr txBox="1"/>
          <p:nvPr/>
        </p:nvSpPr>
        <p:spPr>
          <a:xfrm>
            <a:off x="914400" y="2014121"/>
            <a:ext cx="166878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An Enhanced YOLOv8 Model for Real-Time and Accurate Pothole Detection and Measurement</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Potholes are a major form of road surface damage caused by water infiltration, heavy traffic, and weather conditions, posing serious risks to vehicles and road users. Traditional manual inspection methods are slow, costly, and prone to human error. To overcome these limitations, </a:t>
            </a:r>
            <a:r>
              <a:rPr lang="en-US" sz="2800" b="1" dirty="0">
                <a:solidFill>
                  <a:schemeClr val="bg1"/>
                </a:solidFill>
                <a:latin typeface="Times New Roman" panose="02020603050405020304" pitchFamily="18" charset="0"/>
                <a:cs typeface="Times New Roman" panose="02020603050405020304" pitchFamily="18" charset="0"/>
              </a:rPr>
              <a:t>AI- and vision-based detection systems</a:t>
            </a:r>
            <a:r>
              <a:rPr lang="en-US" sz="2800" dirty="0">
                <a:solidFill>
                  <a:schemeClr val="bg1"/>
                </a:solidFill>
                <a:latin typeface="Times New Roman" panose="02020603050405020304" pitchFamily="18" charset="0"/>
                <a:cs typeface="Times New Roman" panose="02020603050405020304" pitchFamily="18" charset="0"/>
              </a:rPr>
              <a:t> offer faster, more accurate, and cost-effective solutions. Technologies such as </a:t>
            </a:r>
            <a:r>
              <a:rPr lang="en-US" sz="2800" b="1" dirty="0">
                <a:solidFill>
                  <a:schemeClr val="bg1"/>
                </a:solidFill>
                <a:latin typeface="Times New Roman" panose="02020603050405020304" pitchFamily="18" charset="0"/>
                <a:cs typeface="Times New Roman" panose="02020603050405020304" pitchFamily="18" charset="0"/>
              </a:rPr>
              <a:t>LiDAR, stereo cameras, and deep learning models</a:t>
            </a:r>
            <a:r>
              <a:rPr lang="en-US" sz="2800" dirty="0">
                <a:solidFill>
                  <a:schemeClr val="bg1"/>
                </a:solidFill>
                <a:latin typeface="Times New Roman" panose="02020603050405020304" pitchFamily="18" charset="0"/>
                <a:cs typeface="Times New Roman" panose="02020603050405020304" pitchFamily="18" charset="0"/>
              </a:rPr>
              <a:t> enable automated pothole identification and measurement, improving maintenance efficiency and road safety.</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created the </a:t>
            </a:r>
            <a:r>
              <a:rPr lang="en-US" sz="2800" dirty="0" err="1">
                <a:solidFill>
                  <a:schemeClr val="bg1"/>
                </a:solidFill>
                <a:latin typeface="Times New Roman" panose="02020603050405020304" pitchFamily="18" charset="0"/>
                <a:cs typeface="Times New Roman" panose="02020603050405020304" pitchFamily="18" charset="0"/>
              </a:rPr>
              <a:t>PothRGBD</a:t>
            </a:r>
            <a:r>
              <a:rPr lang="en-US" sz="2800" dirty="0">
                <a:solidFill>
                  <a:schemeClr val="bg1"/>
                </a:solidFill>
                <a:latin typeface="Times New Roman" panose="02020603050405020304" pitchFamily="18" charset="0"/>
                <a:cs typeface="Times New Roman" panose="02020603050405020304" pitchFamily="18" charset="0"/>
              </a:rPr>
              <a:t> RGB-D dataset and proposed a lightweight YOLOv8n-seg variant that improves segmentation and enables accurate perimeter &amp; depth estimation. Therefore, I can conclude from their paper that integrating </a:t>
            </a:r>
            <a:r>
              <a:rPr lang="en-US" sz="2800" dirty="0" err="1">
                <a:solidFill>
                  <a:schemeClr val="bg1"/>
                </a:solidFill>
                <a:latin typeface="Times New Roman" panose="02020603050405020304" pitchFamily="18" charset="0"/>
                <a:cs typeface="Times New Roman" panose="02020603050405020304" pitchFamily="18" charset="0"/>
              </a:rPr>
              <a:t>DSConv</a:t>
            </a:r>
            <a:r>
              <a:rPr lang="en-US" sz="2800" dirty="0">
                <a:solidFill>
                  <a:schemeClr val="bg1"/>
                </a:solidFill>
                <a:latin typeface="Times New Roman" panose="02020603050405020304" pitchFamily="18" charset="0"/>
                <a:cs typeface="Times New Roman" panose="02020603050405020304" pitchFamily="18" charset="0"/>
              </a:rPr>
              <a:t> and SimAM into a YOLOv8 segmentation yields more accurate pothole masks and reliable physical measurements, which I can apply to my pothole detection project to get precise segmentation masks and direct depth/perimeter estimates.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82B889FF-B6D6-FB88-0B9C-CDEC8DE7851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12</a:t>
            </a:r>
          </a:p>
        </p:txBody>
      </p:sp>
      <p:sp>
        <p:nvSpPr>
          <p:cNvPr id="38" name="TextBox 15"/>
          <p:cNvSpPr txBox="1"/>
          <p:nvPr/>
        </p:nvSpPr>
        <p:spPr>
          <a:xfrm>
            <a:off x="1752600" y="1474676"/>
            <a:ext cx="6858000" cy="269304"/>
          </a:xfrm>
          <a:prstGeom prst="rect">
            <a:avLst/>
          </a:prstGeom>
        </p:spPr>
        <p:txBody>
          <a:bodyPr wrap="square"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1</a:t>
            </a:r>
            <a:endParaRPr lang="en-US" sz="2450" b="1" spc="300" dirty="0">
              <a:solidFill>
                <a:srgbClr val="DEF0FF"/>
              </a:solidFill>
              <a:latin typeface="RQND Pro UltraWide"/>
              <a:ea typeface="RQND Pro UltraWide"/>
              <a:cs typeface="RQND Pro UltraWide"/>
              <a:sym typeface="RQND Pro UltraWide"/>
            </a:endParaRPr>
          </a:p>
        </p:txBody>
      </p:sp>
      <p:grpSp>
        <p:nvGrpSpPr>
          <p:cNvPr id="3" name="Group 10">
            <a:extLst>
              <a:ext uri="{FF2B5EF4-FFF2-40B4-BE49-F238E27FC236}">
                <a16:creationId xmlns:a16="http://schemas.microsoft.com/office/drawing/2014/main" id="{1EF13673-682E-B02D-725D-742FDD38A9AE}"/>
              </a:ext>
            </a:extLst>
          </p:cNvPr>
          <p:cNvGrpSpPr/>
          <p:nvPr/>
        </p:nvGrpSpPr>
        <p:grpSpPr>
          <a:xfrm>
            <a:off x="14305419" y="-135100"/>
            <a:ext cx="3677781" cy="1316200"/>
            <a:chOff x="0" y="-38100"/>
            <a:chExt cx="544098" cy="147884"/>
          </a:xfrm>
        </p:grpSpPr>
        <p:sp>
          <p:nvSpPr>
            <p:cNvPr id="4" name="Freeform 11">
              <a:extLst>
                <a:ext uri="{FF2B5EF4-FFF2-40B4-BE49-F238E27FC236}">
                  <a16:creationId xmlns:a16="http://schemas.microsoft.com/office/drawing/2014/main" id="{F34C783F-A68A-F3B8-551F-B9BDA11BD5C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5" name="TextBox 12">
              <a:extLst>
                <a:ext uri="{FF2B5EF4-FFF2-40B4-BE49-F238E27FC236}">
                  <a16:creationId xmlns:a16="http://schemas.microsoft.com/office/drawing/2014/main" id="{B2A0B525-DB73-FE90-09CB-D2B74E9C53A7}"/>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6" name="TextBox 24">
            <a:extLst>
              <a:ext uri="{FF2B5EF4-FFF2-40B4-BE49-F238E27FC236}">
                <a16:creationId xmlns:a16="http://schemas.microsoft.com/office/drawing/2014/main" id="{09146FB8-E45A-7483-95FE-63C3EA16F49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7" name="TextBox 6">
            <a:extLst>
              <a:ext uri="{FF2B5EF4-FFF2-40B4-BE49-F238E27FC236}">
                <a16:creationId xmlns:a16="http://schemas.microsoft.com/office/drawing/2014/main" id="{C583819C-84B6-BB51-4119-BD72FDE86B0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0F7F0-B544-CCB7-B793-999828ED186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7875CD8-7F4E-B892-19E4-C6544F2D02DD}"/>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8D5D529-D624-648C-B48A-72125515DEE0}"/>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9B857905-A07B-C969-59A9-A87D7AAF240F}"/>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EF47763F-9EF3-8DFC-3834-99164F1BB4D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32E3D53F-70E5-AD7D-046E-CDD7F4984E0A}"/>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59DF3C66-F793-E207-6993-3BE2EC50F964}"/>
              </a:ext>
            </a:extLst>
          </p:cNvPr>
          <p:cNvSpPr txBox="1"/>
          <p:nvPr/>
        </p:nvSpPr>
        <p:spPr>
          <a:xfrm>
            <a:off x="762000" y="2014121"/>
            <a:ext cx="16844208" cy="6894195"/>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Robust Video Based Pothole Detection and Area Estimation for Intelligent Vehicles with Depth Map and Kalman Smoothing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systems require precise road perception for safety and comfort, but potholes remain a major challenge. Existing LiDAR-based methods are accurate but costly, while vision-only approaches struggle with lighting and angle variations. To address this, a </a:t>
            </a:r>
            <a:r>
              <a:rPr lang="en-US" sz="2800" b="1" dirty="0">
                <a:solidFill>
                  <a:schemeClr val="bg1"/>
                </a:solidFill>
                <a:latin typeface="Times New Roman" panose="02020603050405020304" pitchFamily="18" charset="0"/>
                <a:cs typeface="Times New Roman" panose="02020603050405020304" pitchFamily="18" charset="0"/>
              </a:rPr>
              <a:t>robust vision-based framework</a:t>
            </a:r>
            <a:r>
              <a:rPr lang="en-US" sz="2800" dirty="0">
                <a:solidFill>
                  <a:schemeClr val="bg1"/>
                </a:solidFill>
                <a:latin typeface="Times New Roman" panose="02020603050405020304" pitchFamily="18" charset="0"/>
                <a:cs typeface="Times New Roman" panose="02020603050405020304" pitchFamily="18" charset="0"/>
              </a:rPr>
              <a:t> is proposed using </a:t>
            </a:r>
            <a:r>
              <a:rPr lang="en-US" sz="2800" b="1" dirty="0">
                <a:solidFill>
                  <a:schemeClr val="bg1"/>
                </a:solidFill>
                <a:latin typeface="Times New Roman" panose="02020603050405020304" pitchFamily="18" charset="0"/>
                <a:cs typeface="Times New Roman" panose="02020603050405020304" pitchFamily="18" charset="0"/>
              </a:rPr>
              <a:t>ACSH-YOLOv8</a:t>
            </a:r>
            <a:r>
              <a:rPr lang="en-US" sz="2800" dirty="0">
                <a:solidFill>
                  <a:schemeClr val="bg1"/>
                </a:solidFill>
                <a:latin typeface="Times New Roman" panose="02020603050405020304" pitchFamily="18" charset="0"/>
                <a:cs typeface="Times New Roman" panose="02020603050405020304" pitchFamily="18" charset="0"/>
              </a:rPr>
              <a:t> for detection, </a:t>
            </a:r>
            <a:r>
              <a:rPr lang="en-US" sz="2800" b="1" dirty="0" err="1">
                <a:solidFill>
                  <a:schemeClr val="bg1"/>
                </a:solidFill>
                <a:latin typeface="Times New Roman" panose="02020603050405020304" pitchFamily="18" charset="0"/>
                <a:cs typeface="Times New Roman" panose="02020603050405020304" pitchFamily="18" charset="0"/>
              </a:rPr>
              <a:t>DepthAnything</a:t>
            </a:r>
            <a:r>
              <a:rPr lang="en-US" sz="2800" b="1" dirty="0">
                <a:solidFill>
                  <a:schemeClr val="bg1"/>
                </a:solidFill>
                <a:latin typeface="Times New Roman" panose="02020603050405020304" pitchFamily="18" charset="0"/>
                <a:cs typeface="Times New Roman" panose="02020603050405020304" pitchFamily="18" charset="0"/>
              </a:rPr>
              <a:t> V2</a:t>
            </a:r>
            <a:r>
              <a:rPr lang="en-US" sz="2800" dirty="0">
                <a:solidFill>
                  <a:schemeClr val="bg1"/>
                </a:solidFill>
                <a:latin typeface="Times New Roman" panose="02020603050405020304" pitchFamily="18" charset="0"/>
                <a:cs typeface="Times New Roman" panose="02020603050405020304" pitchFamily="18" charset="0"/>
              </a:rPr>
              <a:t> for depth estimation, and a </a:t>
            </a:r>
            <a:r>
              <a:rPr lang="en-US" sz="2800" b="1" dirty="0">
                <a:solidFill>
                  <a:schemeClr val="bg1"/>
                </a:solidFill>
                <a:latin typeface="Times New Roman" panose="02020603050405020304" pitchFamily="18" charset="0"/>
                <a:cs typeface="Times New Roman" panose="02020603050405020304" pitchFamily="18" charset="0"/>
              </a:rPr>
              <a:t>Minimum Bounding Triangulated Pixel (MBTP)</a:t>
            </a:r>
            <a:r>
              <a:rPr lang="en-US" sz="2800" dirty="0">
                <a:solidFill>
                  <a:schemeClr val="bg1"/>
                </a:solidFill>
                <a:latin typeface="Times New Roman" panose="02020603050405020304" pitchFamily="18" charset="0"/>
                <a:cs typeface="Times New Roman" panose="02020603050405020304" pitchFamily="18" charset="0"/>
              </a:rPr>
              <a:t> method for accurate area measurement. A </a:t>
            </a:r>
            <a:r>
              <a:rPr lang="en-US" sz="2800" b="1" dirty="0">
                <a:solidFill>
                  <a:schemeClr val="bg1"/>
                </a:solidFill>
                <a:latin typeface="Times New Roman" panose="02020603050405020304" pitchFamily="18" charset="0"/>
                <a:cs typeface="Times New Roman" panose="02020603050405020304" pitchFamily="18" charset="0"/>
              </a:rPr>
              <a:t>CDKF-based Kalman Filter</a:t>
            </a:r>
            <a:r>
              <a:rPr lang="en-US" sz="2800" dirty="0">
                <a:solidFill>
                  <a:schemeClr val="bg1"/>
                </a:solidFill>
                <a:latin typeface="Times New Roman" panose="02020603050405020304" pitchFamily="18" charset="0"/>
                <a:cs typeface="Times New Roman" panose="02020603050405020304" pitchFamily="18" charset="0"/>
              </a:rPr>
              <a:t> enhances stability across video frames, ensuring reliable pothole detection and area estimation in real-world conditions.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 an end-to-end vision pipeline to achieve accurate and stable pothole area estimation from video frames. I conclude from their paper that integrating enhanced object detection, monocular depth estimation, pixel-level area computation, and Kalman-based smoothing can significantly improve the precision and reliability of pothole detection. </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0A8DCAE-59C6-7773-0C59-A91D118DA41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13</a:t>
            </a:r>
          </a:p>
        </p:txBody>
      </p:sp>
      <p:sp>
        <p:nvSpPr>
          <p:cNvPr id="4" name="TextBox 15">
            <a:extLst>
              <a:ext uri="{FF2B5EF4-FFF2-40B4-BE49-F238E27FC236}">
                <a16:creationId xmlns:a16="http://schemas.microsoft.com/office/drawing/2014/main" id="{7B4AA41A-4B54-54F2-167A-A1E7BE8BA59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2</a:t>
            </a:r>
          </a:p>
        </p:txBody>
      </p:sp>
      <p:grpSp>
        <p:nvGrpSpPr>
          <p:cNvPr id="6" name="Group 10">
            <a:extLst>
              <a:ext uri="{FF2B5EF4-FFF2-40B4-BE49-F238E27FC236}">
                <a16:creationId xmlns:a16="http://schemas.microsoft.com/office/drawing/2014/main" id="{F5A5B036-106A-D890-465E-8CDD65FE216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50A8913E-CC4B-DE90-7CBB-FEC311F02541}"/>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28C97E2-9A22-4E30-0BC9-659E30E9610A}"/>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960E67DB-ABEB-49A8-CBFA-3F30F9D18819}"/>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FEF93DE0-DFC8-DFCB-321A-836E13DC17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54670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D9613-5488-B912-07B0-2ECA7EC3E8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D98FF32-6A53-EDDE-3B56-2B66C6F3638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1A210ECD-6876-D053-3867-E8379985DFAA}"/>
              </a:ext>
            </a:extLst>
          </p:cNvPr>
          <p:cNvSpPr txBox="1"/>
          <p:nvPr/>
        </p:nvSpPr>
        <p:spPr>
          <a:xfrm>
            <a:off x="924983"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8726E276-AF3C-8F4B-7571-CA19B3047B02}"/>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AD56A023-D2F8-A72A-32AF-E223D1B4BD7D}"/>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DA90B794-A9E2-BAFE-301A-CFBE39C0788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784FE57F-118F-9511-FD93-FCF9DD286572}"/>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14</a:t>
            </a:r>
          </a:p>
        </p:txBody>
      </p:sp>
      <p:sp>
        <p:nvSpPr>
          <p:cNvPr id="4" name="TextBox 15">
            <a:extLst>
              <a:ext uri="{FF2B5EF4-FFF2-40B4-BE49-F238E27FC236}">
                <a16:creationId xmlns:a16="http://schemas.microsoft.com/office/drawing/2014/main" id="{47A35598-2BB3-2E1F-B2F0-60A8610B32E6}"/>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3</a:t>
            </a:r>
          </a:p>
        </p:txBody>
      </p:sp>
      <p:grpSp>
        <p:nvGrpSpPr>
          <p:cNvPr id="6" name="Group 10">
            <a:extLst>
              <a:ext uri="{FF2B5EF4-FFF2-40B4-BE49-F238E27FC236}">
                <a16:creationId xmlns:a16="http://schemas.microsoft.com/office/drawing/2014/main" id="{F0F4D219-B2EC-78FB-A8F7-E4CA24BA29BA}"/>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A85C50DB-D54D-EDEA-2097-1DB1BE7C6D9F}"/>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74049992-8292-2A91-6CA5-918823ACF124}"/>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2E79A27-1AD8-D83F-EB41-C14C232C9DEE}"/>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28F9B563-D241-0028-8611-82952A615981}"/>
              </a:ext>
            </a:extLst>
          </p:cNvPr>
          <p:cNvSpPr txBox="1"/>
          <p:nvPr/>
        </p:nvSpPr>
        <p:spPr>
          <a:xfrm>
            <a:off x="685800" y="2019300"/>
            <a:ext cx="16992600"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Mobile3DRecon: Real-time Monocular 3D Reconstruction on a Mobile Phone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Augmented Reality (AR) requires accurate 3D reconstruction to achieve realistic integration of virtual objects with real environments. Existing systems like </a:t>
            </a:r>
            <a:r>
              <a:rPr lang="en-US" sz="2800" dirty="0" err="1">
                <a:solidFill>
                  <a:schemeClr val="bg1"/>
                </a:solidFill>
                <a:latin typeface="Times New Roman" panose="02020603050405020304" pitchFamily="18" charset="0"/>
                <a:cs typeface="Times New Roman" panose="02020603050405020304" pitchFamily="18" charset="0"/>
              </a:rPr>
              <a:t>Kinectic</a:t>
            </a:r>
            <a:r>
              <a:rPr lang="en-US" sz="2800" dirty="0">
                <a:solidFill>
                  <a:schemeClr val="bg1"/>
                </a:solidFill>
                <a:latin typeface="Times New Roman" panose="02020603050405020304" pitchFamily="18" charset="0"/>
                <a:cs typeface="Times New Roman" panose="02020603050405020304" pitchFamily="18" charset="0"/>
              </a:rPr>
              <a:t> Fusion and Bundle Fusion depend on RGB-D cameras and high computational power, making them unsuitable for mid-range mobile devices. To address this, the </a:t>
            </a:r>
            <a:r>
              <a:rPr lang="en-US" sz="2800" b="1" dirty="0">
                <a:solidFill>
                  <a:schemeClr val="bg1"/>
                </a:solidFill>
                <a:latin typeface="Times New Roman" panose="02020603050405020304" pitchFamily="18" charset="0"/>
                <a:cs typeface="Times New Roman" panose="02020603050405020304" pitchFamily="18" charset="0"/>
              </a:rPr>
              <a:t>Mobile3DRecon</a:t>
            </a:r>
            <a:r>
              <a:rPr lang="en-US" sz="2800" dirty="0">
                <a:solidFill>
                  <a:schemeClr val="bg1"/>
                </a:solidFill>
                <a:latin typeface="Times New Roman" panose="02020603050405020304" pitchFamily="18" charset="0"/>
                <a:cs typeface="Times New Roman" panose="02020603050405020304" pitchFamily="18" charset="0"/>
              </a:rPr>
              <a:t> system enables </a:t>
            </a:r>
            <a:r>
              <a:rPr lang="en-US" sz="2800" b="1" dirty="0">
                <a:solidFill>
                  <a:schemeClr val="bg1"/>
                </a:solidFill>
                <a:latin typeface="Times New Roman" panose="02020603050405020304" pitchFamily="18" charset="0"/>
                <a:cs typeface="Times New Roman" panose="02020603050405020304" pitchFamily="18" charset="0"/>
              </a:rPr>
              <a:t>real-time dense 3D surface reconstruction</a:t>
            </a:r>
            <a:r>
              <a:rPr lang="en-US" sz="2800" dirty="0">
                <a:solidFill>
                  <a:schemeClr val="bg1"/>
                </a:solidFill>
                <a:latin typeface="Times New Roman" panose="02020603050405020304" pitchFamily="18" charset="0"/>
                <a:cs typeface="Times New Roman" panose="02020603050405020304" pitchFamily="18" charset="0"/>
              </a:rPr>
              <a:t> using only a </a:t>
            </a:r>
            <a:r>
              <a:rPr lang="en-US" sz="2800" b="1" dirty="0">
                <a:solidFill>
                  <a:schemeClr val="bg1"/>
                </a:solidFill>
                <a:latin typeface="Times New Roman" panose="02020603050405020304" pitchFamily="18" charset="0"/>
                <a:cs typeface="Times New Roman" panose="02020603050405020304" pitchFamily="18" charset="0"/>
              </a:rPr>
              <a:t>monocular camera</a:t>
            </a:r>
            <a:r>
              <a:rPr lang="en-US" sz="2800" dirty="0">
                <a:solidFill>
                  <a:schemeClr val="bg1"/>
                </a:solidFill>
                <a:latin typeface="Times New Roman" panose="02020603050405020304" pitchFamily="18" charset="0"/>
                <a:cs typeface="Times New Roman" panose="02020603050405020304" pitchFamily="18" charset="0"/>
              </a:rPr>
              <a:t>, without extra sensors. It introduces </a:t>
            </a:r>
            <a:r>
              <a:rPr lang="en-US" sz="2800" b="1" dirty="0">
                <a:solidFill>
                  <a:schemeClr val="bg1"/>
                </a:solidFill>
                <a:latin typeface="Times New Roman" panose="02020603050405020304" pitchFamily="18" charset="0"/>
                <a:cs typeface="Times New Roman" panose="02020603050405020304" pitchFamily="18" charset="0"/>
              </a:rPr>
              <a:t>multi-view depth estimation</a:t>
            </a:r>
            <a:r>
              <a:rPr lang="en-US" sz="2800" dirty="0">
                <a:solidFill>
                  <a:schemeClr val="bg1"/>
                </a:solidFill>
                <a:latin typeface="Times New Roman" panose="02020603050405020304" pitchFamily="18" charset="0"/>
                <a:cs typeface="Times New Roman" panose="02020603050405020304" pitchFamily="18" charset="0"/>
              </a:rPr>
              <a:t> and </a:t>
            </a:r>
            <a:r>
              <a:rPr lang="en-US" sz="2800" b="1" dirty="0">
                <a:solidFill>
                  <a:schemeClr val="bg1"/>
                </a:solidFill>
                <a:latin typeface="Times New Roman" panose="02020603050405020304" pitchFamily="18" charset="0"/>
                <a:cs typeface="Times New Roman" panose="02020603050405020304" pitchFamily="18" charset="0"/>
              </a:rPr>
              <a:t>incremental mesh generation</a:t>
            </a:r>
            <a:r>
              <a:rPr lang="en-US" sz="2800" dirty="0">
                <a:solidFill>
                  <a:schemeClr val="bg1"/>
                </a:solidFill>
                <a:latin typeface="Times New Roman" panose="02020603050405020304" pitchFamily="18" charset="0"/>
                <a:cs typeface="Times New Roman" panose="02020603050405020304" pitchFamily="18" charset="0"/>
              </a:rPr>
              <a:t>, allowing seamless, real-time AR performance on standard mobile platforms.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presented a mobile system capable of generating dense</a:t>
            </a:r>
            <a:r>
              <a:rPr lang="en-US" sz="2800">
                <a:solidFill>
                  <a:schemeClr val="bg1"/>
                </a:solidFill>
                <a:latin typeface="Times New Roman" panose="02020603050405020304" pitchFamily="18" charset="0"/>
                <a:cs typeface="Times New Roman" panose="02020603050405020304" pitchFamily="18" charset="0"/>
              </a:rPr>
              <a:t>, real time </a:t>
            </a:r>
            <a:r>
              <a:rPr lang="en-US" sz="2800" dirty="0">
                <a:solidFill>
                  <a:schemeClr val="bg1"/>
                </a:solidFill>
                <a:latin typeface="Times New Roman" panose="02020603050405020304" pitchFamily="18" charset="0"/>
                <a:cs typeface="Times New Roman" panose="02020603050405020304" pitchFamily="18" charset="0"/>
              </a:rPr>
              <a:t>3D surface meshes using only an embedded monocular camera. They show robust results for AR and object interaction on mid-range phones. Therefore, I can conclude that their mobile-focused, CPU-based incremental mesh generation offers techniques and system design ideas directly applicable to resource-constrained 3D reconstruction tasks like pothole mapping or detection.</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9F9EFBDD-1DE7-BF49-36AF-9AFF47C9230D}"/>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844449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D69DC-B442-8963-2B6D-067FCF7C24E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75BF19D-5308-E8C3-E4F1-7DC9A3EDF0C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DFFFE4A6-90D9-252E-F7FD-0427CAA4050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39F63DB8-BCA9-FFB4-AB17-ECF27EE769CC}"/>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0A94B900-4D0C-B583-C826-F7BEB20EABF3}"/>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11AAA872-DDFC-2691-F1FF-37C2D5B562F4}"/>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8" name="TextBox 18">
            <a:extLst>
              <a:ext uri="{FF2B5EF4-FFF2-40B4-BE49-F238E27FC236}">
                <a16:creationId xmlns:a16="http://schemas.microsoft.com/office/drawing/2014/main" id="{C402DAEA-73E7-EDA7-5EFC-E878F3702DC0}"/>
              </a:ext>
            </a:extLst>
          </p:cNvPr>
          <p:cNvSpPr txBox="1"/>
          <p:nvPr/>
        </p:nvSpPr>
        <p:spPr>
          <a:xfrm>
            <a:off x="609601" y="2014121"/>
            <a:ext cx="17110338" cy="6463308"/>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Pothole and Plain Road Classification Using Adaptive Mutation Dipper Throated Optimization and Transfer Learning for Self-Driving Cars. </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Autonomous driving relies on accurate environmental perception to ensure safety, with </a:t>
            </a:r>
            <a:r>
              <a:rPr lang="en-US" sz="2800" b="1" dirty="0">
                <a:solidFill>
                  <a:schemeClr val="bg1"/>
                </a:solidFill>
                <a:latin typeface="Times New Roman" panose="02020603050405020304" pitchFamily="18" charset="0"/>
                <a:cs typeface="Times New Roman" panose="02020603050405020304" pitchFamily="18" charset="0"/>
              </a:rPr>
              <a:t>pothole detection</a:t>
            </a:r>
            <a:r>
              <a:rPr lang="en-US" sz="2800" dirty="0">
                <a:solidFill>
                  <a:schemeClr val="bg1"/>
                </a:solidFill>
                <a:latin typeface="Times New Roman" panose="02020603050405020304" pitchFamily="18" charset="0"/>
                <a:cs typeface="Times New Roman" panose="02020603050405020304" pitchFamily="18" charset="0"/>
              </a:rPr>
              <a:t> being a critical component. Traditional sensor- and vision-based methods face challenges such as high cost, computational complexity, and limited accuracy under varying conditions. To overcome these, this study proposes a </a:t>
            </a:r>
            <a:r>
              <a:rPr lang="en-US" sz="2800" b="1" dirty="0">
                <a:solidFill>
                  <a:schemeClr val="bg1"/>
                </a:solidFill>
                <a:latin typeface="Times New Roman" panose="02020603050405020304" pitchFamily="18" charset="0"/>
                <a:cs typeface="Times New Roman" panose="02020603050405020304" pitchFamily="18" charset="0"/>
              </a:rPr>
              <a:t>deep learning–based pothole detection system</a:t>
            </a:r>
            <a:r>
              <a:rPr lang="en-US" sz="2800" dirty="0">
                <a:solidFill>
                  <a:schemeClr val="bg1"/>
                </a:solidFill>
                <a:latin typeface="Times New Roman" panose="02020603050405020304" pitchFamily="18" charset="0"/>
                <a:cs typeface="Times New Roman" panose="02020603050405020304" pitchFamily="18" charset="0"/>
              </a:rPr>
              <a:t> using a </a:t>
            </a:r>
            <a:r>
              <a:rPr lang="en-US" sz="2800" b="1" dirty="0">
                <a:solidFill>
                  <a:schemeClr val="bg1"/>
                </a:solidFill>
                <a:latin typeface="Times New Roman" panose="02020603050405020304" pitchFamily="18" charset="0"/>
                <a:cs typeface="Times New Roman" panose="02020603050405020304" pitchFamily="18" charset="0"/>
              </a:rPr>
              <a:t>convolutional neural network (CNN)</a:t>
            </a:r>
            <a:r>
              <a:rPr lang="en-US" sz="2800" dirty="0">
                <a:solidFill>
                  <a:schemeClr val="bg1"/>
                </a:solidFill>
                <a:latin typeface="Times New Roman" panose="02020603050405020304" pitchFamily="18" charset="0"/>
                <a:cs typeface="Times New Roman" panose="02020603050405020304" pitchFamily="18" charset="0"/>
              </a:rPr>
              <a:t> for feature extraction and a </a:t>
            </a:r>
            <a:r>
              <a:rPr lang="en-US" sz="2800" b="1" dirty="0">
                <a:solidFill>
                  <a:schemeClr val="bg1"/>
                </a:solidFill>
                <a:latin typeface="Times New Roman" panose="02020603050405020304" pitchFamily="18" charset="0"/>
                <a:cs typeface="Times New Roman" panose="02020603050405020304" pitchFamily="18" charset="0"/>
              </a:rPr>
              <a:t>Random Forest classifier</a:t>
            </a:r>
            <a:r>
              <a:rPr lang="en-US" sz="2800" dirty="0">
                <a:solidFill>
                  <a:schemeClr val="bg1"/>
                </a:solidFill>
                <a:latin typeface="Times New Roman" panose="02020603050405020304" pitchFamily="18" charset="0"/>
                <a:cs typeface="Times New Roman" panose="02020603050405020304" pitchFamily="18" charset="0"/>
              </a:rPr>
              <a:t> optimized through </a:t>
            </a:r>
            <a:r>
              <a:rPr lang="en-US" sz="2800" b="1" dirty="0">
                <a:solidFill>
                  <a:schemeClr val="bg1"/>
                </a:solidFill>
                <a:latin typeface="Times New Roman" panose="02020603050405020304" pitchFamily="18" charset="0"/>
                <a:cs typeface="Times New Roman" panose="02020603050405020304" pitchFamily="18" charset="0"/>
              </a:rPr>
              <a:t>Adaptive Mutation Dipper Throated Optimization (AMDTO)</a:t>
            </a:r>
            <a:r>
              <a:rPr lang="en-US" sz="2800" dirty="0">
                <a:solidFill>
                  <a:schemeClr val="bg1"/>
                </a:solidFill>
                <a:latin typeface="Times New Roman" panose="02020603050405020304" pitchFamily="18" charset="0"/>
                <a:cs typeface="Times New Roman" panose="02020603050405020304" pitchFamily="18" charset="0"/>
              </a:rPr>
              <a:t>. This approach enhances detection accuracy, robustness, and real-time performance for self-driving vehicles.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This study showed a pipeline that combines transfer-learning feature extraction. Therefore, I can conclude from their paper that applying metaheuristic optimization for feature selection and classifier tuning together with an improved SMOTE balancing step can dramatically boost pothole vs plain-road classification accuracy.</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36" name="TextBox 35">
            <a:extLst>
              <a:ext uri="{FF2B5EF4-FFF2-40B4-BE49-F238E27FC236}">
                <a16:creationId xmlns:a16="http://schemas.microsoft.com/office/drawing/2014/main" id="{C3D7297D-1F0D-7BE8-0FB2-E6ED61FF4A3B}"/>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15</a:t>
            </a:r>
          </a:p>
        </p:txBody>
      </p:sp>
      <p:sp>
        <p:nvSpPr>
          <p:cNvPr id="4" name="TextBox 15">
            <a:extLst>
              <a:ext uri="{FF2B5EF4-FFF2-40B4-BE49-F238E27FC236}">
                <a16:creationId xmlns:a16="http://schemas.microsoft.com/office/drawing/2014/main" id="{746EE7D4-27AE-5066-9320-0472D00A7641}"/>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4</a:t>
            </a:r>
          </a:p>
        </p:txBody>
      </p:sp>
      <p:grpSp>
        <p:nvGrpSpPr>
          <p:cNvPr id="6" name="Group 10">
            <a:extLst>
              <a:ext uri="{FF2B5EF4-FFF2-40B4-BE49-F238E27FC236}">
                <a16:creationId xmlns:a16="http://schemas.microsoft.com/office/drawing/2014/main" id="{22DDBC9A-A08B-7380-86AA-0937DA7F447F}"/>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455010C5-921C-4C28-FC9E-C7B9B5F2E535}"/>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2B58EE57-9112-16C7-D3BA-B5112DA3FAC1}"/>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6F8AC115-71C2-38C8-4949-71993C6080F0}"/>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2">
            <a:extLst>
              <a:ext uri="{FF2B5EF4-FFF2-40B4-BE49-F238E27FC236}">
                <a16:creationId xmlns:a16="http://schemas.microsoft.com/office/drawing/2014/main" id="{D8F9A5F8-F896-876E-76EE-A671D947867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38277348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8D058-79E5-701C-9DF0-90572E41A78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D81C0FA-6A9A-5B70-C36A-D5894801A335}"/>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B46C8557-6856-A3CA-C51D-51D7C9FEBFA1}"/>
              </a:ext>
            </a:extLst>
          </p:cNvPr>
          <p:cNvSpPr txBox="1"/>
          <p:nvPr/>
        </p:nvSpPr>
        <p:spPr>
          <a:xfrm>
            <a:off x="930656" y="266700"/>
            <a:ext cx="10886017" cy="863441"/>
          </a:xfrm>
          <a:prstGeom prst="rect">
            <a:avLst/>
          </a:prstGeom>
        </p:spPr>
        <p:txBody>
          <a:bodyPr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a:t>
            </a:r>
          </a:p>
        </p:txBody>
      </p:sp>
      <p:grpSp>
        <p:nvGrpSpPr>
          <p:cNvPr id="15" name="Group 15">
            <a:extLst>
              <a:ext uri="{FF2B5EF4-FFF2-40B4-BE49-F238E27FC236}">
                <a16:creationId xmlns:a16="http://schemas.microsoft.com/office/drawing/2014/main" id="{1170633B-C924-CB5B-A2CC-782BD61A5C64}"/>
              </a:ext>
            </a:extLst>
          </p:cNvPr>
          <p:cNvGrpSpPr/>
          <p:nvPr/>
        </p:nvGrpSpPr>
        <p:grpSpPr>
          <a:xfrm>
            <a:off x="381001" y="1257300"/>
            <a:ext cx="17526000" cy="8071326"/>
            <a:chOff x="0" y="0"/>
            <a:chExt cx="2455705" cy="1683476"/>
          </a:xfrm>
        </p:grpSpPr>
        <p:sp>
          <p:nvSpPr>
            <p:cNvPr id="16" name="Freeform 16">
              <a:extLst>
                <a:ext uri="{FF2B5EF4-FFF2-40B4-BE49-F238E27FC236}">
                  <a16:creationId xmlns:a16="http://schemas.microsoft.com/office/drawing/2014/main" id="{747FD59F-FEDC-D1A7-83AA-B57798FF1CD5}"/>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17" name="TextBox 17">
              <a:extLst>
                <a:ext uri="{FF2B5EF4-FFF2-40B4-BE49-F238E27FC236}">
                  <a16:creationId xmlns:a16="http://schemas.microsoft.com/office/drawing/2014/main" id="{0EF2004F-B3C6-DAAF-C581-29482478FE4E}"/>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36" name="TextBox 35">
            <a:extLst>
              <a:ext uri="{FF2B5EF4-FFF2-40B4-BE49-F238E27FC236}">
                <a16:creationId xmlns:a16="http://schemas.microsoft.com/office/drawing/2014/main" id="{1DB1FA5B-E0BE-D030-D9E4-9978C2539F65}"/>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16</a:t>
            </a:r>
          </a:p>
        </p:txBody>
      </p:sp>
      <p:sp>
        <p:nvSpPr>
          <p:cNvPr id="4" name="TextBox 15">
            <a:extLst>
              <a:ext uri="{FF2B5EF4-FFF2-40B4-BE49-F238E27FC236}">
                <a16:creationId xmlns:a16="http://schemas.microsoft.com/office/drawing/2014/main" id="{CDE5A121-535D-C103-F1C3-61E68F1CFBF3}"/>
              </a:ext>
            </a:extLst>
          </p:cNvPr>
          <p:cNvSpPr txBox="1"/>
          <p:nvPr/>
        </p:nvSpPr>
        <p:spPr>
          <a:xfrm>
            <a:off x="1752600" y="1474676"/>
            <a:ext cx="4437969" cy="269304"/>
          </a:xfrm>
          <a:prstGeom prst="rect">
            <a:avLst/>
          </a:prstGeom>
        </p:spPr>
        <p:txBody>
          <a:bodyPr lIns="0" tIns="0" rIns="0" bIns="0" rtlCol="0" anchor="t">
            <a:spAutoFit/>
          </a:bodyPr>
          <a:lstStyle/>
          <a:p>
            <a:pPr algn="l">
              <a:lnSpc>
                <a:spcPts val="2058"/>
              </a:lnSpc>
            </a:pPr>
            <a:r>
              <a:rPr lang="en-US" sz="2450" spc="1428" dirty="0">
                <a:solidFill>
                  <a:srgbClr val="DEF0FF"/>
                </a:solidFill>
                <a:latin typeface="RQND Pro UltraWide"/>
                <a:ea typeface="RQND Pro UltraWide"/>
                <a:cs typeface="RQND Pro UltraWide"/>
                <a:sym typeface="RQND Pro UltraWide"/>
              </a:rPr>
              <a:t>PAPER 5</a:t>
            </a:r>
          </a:p>
        </p:txBody>
      </p:sp>
      <p:grpSp>
        <p:nvGrpSpPr>
          <p:cNvPr id="6" name="Group 10">
            <a:extLst>
              <a:ext uri="{FF2B5EF4-FFF2-40B4-BE49-F238E27FC236}">
                <a16:creationId xmlns:a16="http://schemas.microsoft.com/office/drawing/2014/main" id="{8AF59A56-11CC-2245-749B-E66D9F999851}"/>
              </a:ext>
            </a:extLst>
          </p:cNvPr>
          <p:cNvGrpSpPr/>
          <p:nvPr/>
        </p:nvGrpSpPr>
        <p:grpSpPr>
          <a:xfrm>
            <a:off x="14305419" y="-135100"/>
            <a:ext cx="3677781" cy="1316200"/>
            <a:chOff x="0" y="-38100"/>
            <a:chExt cx="544098" cy="147884"/>
          </a:xfrm>
        </p:grpSpPr>
        <p:sp>
          <p:nvSpPr>
            <p:cNvPr id="7" name="Freeform 11">
              <a:extLst>
                <a:ext uri="{FF2B5EF4-FFF2-40B4-BE49-F238E27FC236}">
                  <a16:creationId xmlns:a16="http://schemas.microsoft.com/office/drawing/2014/main" id="{DB7F0CA8-C4AB-E5D4-3A87-A0EE2A289888}"/>
                </a:ext>
              </a:extLst>
            </p:cNvPr>
            <p:cNvSpPr/>
            <p:nvPr/>
          </p:nvSpPr>
          <p:spPr>
            <a:xfrm>
              <a:off x="0" y="0"/>
              <a:ext cx="544098" cy="109784"/>
            </a:xfrm>
            <a:custGeom>
              <a:avLst/>
              <a:gdLst/>
              <a:ahLst/>
              <a:cxnLst/>
              <a:rect l="l" t="t" r="r" b="b"/>
              <a:pathLst>
                <a:path w="544098" h="109784">
                  <a:moveTo>
                    <a:pt x="54892" y="0"/>
                  </a:moveTo>
                  <a:lnTo>
                    <a:pt x="489206" y="0"/>
                  </a:lnTo>
                  <a:cubicBezTo>
                    <a:pt x="519522" y="0"/>
                    <a:pt x="544098" y="24576"/>
                    <a:pt x="544098" y="54892"/>
                  </a:cubicBezTo>
                  <a:lnTo>
                    <a:pt x="544098" y="54892"/>
                  </a:lnTo>
                  <a:cubicBezTo>
                    <a:pt x="544098" y="69450"/>
                    <a:pt x="538315" y="83412"/>
                    <a:pt x="528021" y="93706"/>
                  </a:cubicBezTo>
                  <a:cubicBezTo>
                    <a:pt x="517726" y="104001"/>
                    <a:pt x="503764" y="109784"/>
                    <a:pt x="489206" y="109784"/>
                  </a:cubicBezTo>
                  <a:lnTo>
                    <a:pt x="54892" y="109784"/>
                  </a:lnTo>
                  <a:cubicBezTo>
                    <a:pt x="40334" y="109784"/>
                    <a:pt x="26372" y="104001"/>
                    <a:pt x="16077" y="93706"/>
                  </a:cubicBezTo>
                  <a:cubicBezTo>
                    <a:pt x="5783" y="83412"/>
                    <a:pt x="0" y="69450"/>
                    <a:pt x="0" y="54892"/>
                  </a:cubicBezTo>
                  <a:lnTo>
                    <a:pt x="0" y="54892"/>
                  </a:lnTo>
                  <a:cubicBezTo>
                    <a:pt x="0" y="40334"/>
                    <a:pt x="5783" y="26372"/>
                    <a:pt x="16077" y="16077"/>
                  </a:cubicBezTo>
                  <a:cubicBezTo>
                    <a:pt x="26372" y="5783"/>
                    <a:pt x="40334" y="0"/>
                    <a:pt x="54892" y="0"/>
                  </a:cubicBezTo>
                  <a:close/>
                </a:path>
              </a:pathLst>
            </a:custGeom>
            <a:solidFill>
              <a:srgbClr val="000000">
                <a:alpha val="0"/>
              </a:srgbClr>
            </a:solidFill>
            <a:ln w="9525" cap="rnd">
              <a:solidFill>
                <a:srgbClr val="3B4C7D"/>
              </a:solidFill>
              <a:prstDash val="solid"/>
              <a:round/>
            </a:ln>
          </p:spPr>
          <p:txBody>
            <a:bodyPr/>
            <a:lstStyle/>
            <a:p>
              <a:endParaRPr lang="en-US" sz="1050" dirty="0"/>
            </a:p>
          </p:txBody>
        </p:sp>
        <p:sp>
          <p:nvSpPr>
            <p:cNvPr id="8" name="TextBox 12">
              <a:extLst>
                <a:ext uri="{FF2B5EF4-FFF2-40B4-BE49-F238E27FC236}">
                  <a16:creationId xmlns:a16="http://schemas.microsoft.com/office/drawing/2014/main" id="{A8C77CFE-A731-CF80-C06D-1FCC3631A49C}"/>
                </a:ext>
              </a:extLst>
            </p:cNvPr>
            <p:cNvSpPr txBox="1"/>
            <p:nvPr/>
          </p:nvSpPr>
          <p:spPr>
            <a:xfrm>
              <a:off x="0" y="-38100"/>
              <a:ext cx="544098" cy="147884"/>
            </a:xfrm>
            <a:prstGeom prst="rect">
              <a:avLst/>
            </a:prstGeom>
          </p:spPr>
          <p:txBody>
            <a:bodyPr lIns="50800" tIns="50800" rIns="50800" bIns="50800" rtlCol="0" anchor="ctr"/>
            <a:lstStyle/>
            <a:p>
              <a:pPr algn="ctr">
                <a:lnSpc>
                  <a:spcPts val="2659"/>
                </a:lnSpc>
                <a:spcBef>
                  <a:spcPct val="0"/>
                </a:spcBef>
              </a:pPr>
              <a:endParaRPr sz="1050"/>
            </a:p>
          </p:txBody>
        </p:sp>
      </p:grpSp>
      <p:sp>
        <p:nvSpPr>
          <p:cNvPr id="9" name="TextBox 24">
            <a:extLst>
              <a:ext uri="{FF2B5EF4-FFF2-40B4-BE49-F238E27FC236}">
                <a16:creationId xmlns:a16="http://schemas.microsoft.com/office/drawing/2014/main" id="{DE140A65-305C-F3D1-9DEF-2F7C40384232}"/>
              </a:ext>
            </a:extLst>
          </p:cNvPr>
          <p:cNvSpPr txBox="1"/>
          <p:nvPr/>
        </p:nvSpPr>
        <p:spPr>
          <a:xfrm>
            <a:off x="14780927" y="477628"/>
            <a:ext cx="2939012" cy="430887"/>
          </a:xfrm>
          <a:prstGeom prst="rect">
            <a:avLst/>
          </a:prstGeom>
        </p:spPr>
        <p:txBody>
          <a:bodyPr wrap="square" lIns="0" tIns="0" rIns="0" bIns="0" rtlCol="0" anchor="t">
            <a:spAutoFit/>
          </a:bodyPr>
          <a:lstStyle/>
          <a:p>
            <a:pPr algn="ctr">
              <a:spcBef>
                <a:spcPct val="0"/>
              </a:spcBef>
            </a:pPr>
            <a:r>
              <a:rPr lang="en-US" sz="2800" b="1" spc="-56" dirty="0">
                <a:solidFill>
                  <a:srgbClr val="DEF0FF"/>
                </a:solidFill>
                <a:latin typeface="Times New Roman" panose="02020603050405020304" pitchFamily="18" charset="0"/>
                <a:ea typeface="Telegraf"/>
                <a:cs typeface="Times New Roman" panose="02020603050405020304" pitchFamily="18" charset="0"/>
                <a:sym typeface="Telegraf"/>
              </a:rPr>
              <a:t>BATCH - 02</a:t>
            </a:r>
          </a:p>
        </p:txBody>
      </p:sp>
      <p:sp>
        <p:nvSpPr>
          <p:cNvPr id="3" name="TextBox 18">
            <a:extLst>
              <a:ext uri="{FF2B5EF4-FFF2-40B4-BE49-F238E27FC236}">
                <a16:creationId xmlns:a16="http://schemas.microsoft.com/office/drawing/2014/main" id="{A3EA4A4E-74B0-A10B-0B65-A869BF2B52E8}"/>
              </a:ext>
            </a:extLst>
          </p:cNvPr>
          <p:cNvSpPr txBox="1"/>
          <p:nvPr/>
        </p:nvSpPr>
        <p:spPr>
          <a:xfrm>
            <a:off x="834189" y="1866900"/>
            <a:ext cx="16844211" cy="7325082"/>
          </a:xfrm>
          <a:prstGeom prst="rect">
            <a:avLst/>
          </a:prstGeom>
        </p:spPr>
        <p:txBody>
          <a:bodyPr wrap="square" lIns="0" tIns="0" rIns="0" bIns="0" rtlCol="0" anchor="t">
            <a:sp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TITLE: </a:t>
            </a:r>
            <a:r>
              <a:rPr lang="en-US" sz="2800" dirty="0">
                <a:solidFill>
                  <a:schemeClr val="bg1"/>
                </a:solidFill>
                <a:latin typeface="Times New Roman" panose="02020603050405020304" pitchFamily="18" charset="0"/>
                <a:cs typeface="Times New Roman" panose="02020603050405020304" pitchFamily="18" charset="0"/>
              </a:rPr>
              <a:t>Real-time scene reconstruction and triangle mesh generation using multiple RGB-D cameras</a:t>
            </a:r>
          </a:p>
          <a:p>
            <a:pPr algn="just"/>
            <a:endParaRPr lang="en-US" sz="2800"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INTRODUCTION: </a:t>
            </a:r>
          </a:p>
          <a:p>
            <a:pPr algn="just"/>
            <a:r>
              <a:rPr lang="en-US" sz="2800" dirty="0">
                <a:solidFill>
                  <a:schemeClr val="bg1"/>
                </a:solidFill>
                <a:latin typeface="Times New Roman" panose="02020603050405020304" pitchFamily="18" charset="0"/>
                <a:cs typeface="Times New Roman" panose="02020603050405020304" pitchFamily="18" charset="0"/>
              </a:rPr>
              <a:t>	3D surface reconstruction and meshing have been extensively studied in computer vision and graphics, with applications in fields like archaeology, cinematography, and robotics. While most work focuses on static scenes, dynamic environments—required in applications like telepresence—pose additional challenges. 3D reconstruction typically involves three stages: data acquisition, surface reconstruction, and geometry extraction. RGB-D sensors enable real-time reconstruction but introduce noise and limited coverage. This work enhances a moving least squares (MLS) surface reconstruction method and generates triangle meshes, a common and view-independent representation in graphics.</a:t>
            </a:r>
          </a:p>
          <a:p>
            <a:pPr algn="just"/>
            <a:endParaRPr lang="en-US" sz="2800" b="1" dirty="0">
              <a:solidFill>
                <a:schemeClr val="bg1"/>
              </a:solidFill>
              <a:latin typeface="Times New Roman" panose="02020603050405020304" pitchFamily="18" charset="0"/>
              <a:cs typeface="Times New Roman" panose="02020603050405020304" pitchFamily="18" charset="0"/>
            </a:endParaRPr>
          </a:p>
          <a:p>
            <a:pPr algn="just"/>
            <a:r>
              <a:rPr lang="en-US" sz="2800" b="1" dirty="0">
                <a:solidFill>
                  <a:schemeClr val="bg1"/>
                </a:solidFill>
                <a:latin typeface="Times New Roman" panose="02020603050405020304" pitchFamily="18" charset="0"/>
                <a:cs typeface="Times New Roman" panose="02020603050405020304" pitchFamily="18" charset="0"/>
              </a:rPr>
              <a:t>CONCLUSION:  </a:t>
            </a:r>
          </a:p>
          <a:p>
            <a:pPr algn="just"/>
            <a:r>
              <a:rPr lang="en-US" sz="2800" dirty="0">
                <a:solidFill>
                  <a:schemeClr val="bg1"/>
                </a:solidFill>
                <a:latin typeface="Times New Roman" panose="02020603050405020304" pitchFamily="18" charset="0"/>
                <a:cs typeface="Times New Roman" panose="02020603050405020304" pitchFamily="18" charset="0"/>
              </a:rPr>
              <a:t>	They proposed a real-time 3D reconstruction method with a GPU-optimized mesh merging method. They demonstrate both high mesh quality and significant acceleration compared to CPU based methods. I can conclude that their GPU parallel mesh approach, especially the MLS point cloud smoothing and mesh merging, gives insight into achieving fast, reliable surface modeling— knowledge that is valuable for enhancing the efficiency of mesh processing in pothole detection systems.</a:t>
            </a:r>
            <a:endParaRPr lang="en-US" sz="2800" spc="73" dirty="0">
              <a:solidFill>
                <a:schemeClr val="bg1"/>
              </a:solidFill>
              <a:latin typeface="Times New Roman" panose="02020603050405020304" pitchFamily="18" charset="0"/>
              <a:ea typeface="RQND Pro UltraWide"/>
              <a:cs typeface="Times New Roman" panose="02020603050405020304" pitchFamily="18" charset="0"/>
              <a:sym typeface="RQND Pro UltraWide"/>
            </a:endParaRPr>
          </a:p>
        </p:txBody>
      </p:sp>
      <p:sp>
        <p:nvSpPr>
          <p:cNvPr id="5" name="TextBox 4">
            <a:extLst>
              <a:ext uri="{FF2B5EF4-FFF2-40B4-BE49-F238E27FC236}">
                <a16:creationId xmlns:a16="http://schemas.microsoft.com/office/drawing/2014/main" id="{3021226E-D9B8-B425-D54B-34B2AC468872}"/>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407592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87C0-ACF6-CF08-9B73-56A4793C08D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7380544-38C4-378E-6090-F4B93B12639E}"/>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4084323A-AAF2-768F-4845-37A0A6593A15}"/>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9393BAA4-22F4-5705-9BA6-EB296C2339AD}"/>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17</a:t>
            </a:r>
          </a:p>
        </p:txBody>
      </p:sp>
      <p:graphicFrame>
        <p:nvGraphicFramePr>
          <p:cNvPr id="6" name="Table 5">
            <a:extLst>
              <a:ext uri="{FF2B5EF4-FFF2-40B4-BE49-F238E27FC236}">
                <a16:creationId xmlns:a16="http://schemas.microsoft.com/office/drawing/2014/main" id="{6E6D486F-494A-F127-8859-1367CC199FFB}"/>
              </a:ext>
            </a:extLst>
          </p:cNvPr>
          <p:cNvGraphicFramePr>
            <a:graphicFrameLocks noGrp="1"/>
          </p:cNvGraphicFramePr>
          <p:nvPr>
            <p:extLst>
              <p:ext uri="{D42A27DB-BD31-4B8C-83A1-F6EECF244321}">
                <p14:modId xmlns:p14="http://schemas.microsoft.com/office/powerpoint/2010/main" val="3562419708"/>
              </p:ext>
            </p:extLst>
          </p:nvPr>
        </p:nvGraphicFramePr>
        <p:xfrm>
          <a:off x="685800" y="1181100"/>
          <a:ext cx="16920409" cy="83312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55513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ctr">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305582789"/>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1</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An Enhanced YOLOv8 Model for Real-Time and Accurate Pothole Detection and Measurement.</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YOLOv8n-seg,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Dynamic Snake Convolution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Simple Attention Module (SimAM),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GELU activation.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created the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PothRGBD</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RGB-D dataset and proposed a lightweight YOLOv8n-seg variant that improves segmentation and enables accurate perimeter &amp; depth estimation. </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integrating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DSConv</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and SimAM into a YOLOv8 segmentation yields more accurate pothole masks and reliable physical measurements, which I can apply to my pothole-detection project to get precise segmentation masks and direct depth/perimeter estimates.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rgbClr val="050E2F"/>
                    </a:solidFill>
                  </a:tcPr>
                </a:tc>
                <a:extLst>
                  <a:ext uri="{0D108BD9-81ED-4DB2-BD59-A6C34878D82A}">
                    <a16:rowId xmlns:a16="http://schemas.microsoft.com/office/drawing/2014/main" val="2663050996"/>
                  </a:ext>
                </a:extLst>
              </a:tr>
              <a:tr h="1942977">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Robust Video-Based Pothole Detection and Area Estimation for Intelligent Vehicles with Depth Map and Kalman Smoothing</a:t>
                      </a:r>
                    </a:p>
                  </a:txBody>
                  <a:tcPr marL="9525" marR="9525" marT="9525" marB="9525">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ACSH-YOLOv8,</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BoT</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-SORT,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Ego-motion compensation,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DepthAnything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MBTP,</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CDKF (Confidence–Distance Kalman Filter).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 an end-to-end vision pipeline to achieve accurate and stable pothole area estimation from video frames.</a:t>
                      </a:r>
                    </a:p>
                    <a:p>
                      <a:pPr marL="0" marR="0" algn="just">
                        <a:lnSpc>
                          <a:spcPct val="100000"/>
                        </a:lnSpc>
                        <a:spcAft>
                          <a:spcPts val="800"/>
                        </a:spcAft>
                        <a:buNone/>
                      </a:pPr>
                      <a:r>
                        <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conclude from their paper that integrating enhanced object detection, monocular depth estimation, pixel-level area computation, and Kalman-based smoothing can significantly improve the precision and reliability of pothole detection.</a:t>
                      </a: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2470108417"/>
                  </a:ext>
                </a:extLst>
              </a:tr>
              <a:tr h="2045781">
                <a:tc>
                  <a:txBody>
                    <a:bodyPr/>
                    <a:lstStyle/>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3</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Mobile3DRecon: Real-time Monocular 3D Reconstruction on a Mobile Phone</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0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2020</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Monocular camera,</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6DoF SLAM system,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Semi-global matching (SGM),</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DNN-based depth refinement,</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Scalable TSDF voxel fusion,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generation algorithm on mobile CPUs.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tc>
                  <a:txBody>
                    <a:bodyPr/>
                    <a:lstStyle/>
                    <a:p>
                      <a:pPr marL="0" marR="0" algn="just">
                        <a:lnSpc>
                          <a:spcPct val="100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presented a mobile system capable of generating dense, real-time 3D surface meshes using only an embedded monocular camera. They show robust results for AR and object interaction on mid-range phones.</a:t>
                      </a:r>
                    </a:p>
                    <a:p>
                      <a:pPr marL="0" marR="0" algn="just">
                        <a:lnSpc>
                          <a:spcPct val="100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that their mobile-focused, CPU-based incremental mesh generation offers techniques and system design ideas directly applicable to resource-constrained 3D reconstruction tasks like pothole mapping or detection.</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blipFill dpi="0" rotWithShape="1">
                      <a:blip r:embed="rId3">
                        <a:alphaModFix amt="0"/>
                      </a:blip>
                      <a:srcRect/>
                      <a:tile tx="0" ty="0" sx="100000" sy="100000" flip="none" algn="tl"/>
                    </a:blipFill>
                  </a:tcPr>
                </a:tc>
                <a:extLst>
                  <a:ext uri="{0D108BD9-81ED-4DB2-BD59-A6C34878D82A}">
                    <a16:rowId xmlns:a16="http://schemas.microsoft.com/office/drawing/2014/main" val="1538947089"/>
                  </a:ext>
                </a:extLst>
              </a:tr>
            </a:tbl>
          </a:graphicData>
        </a:graphic>
      </p:graphicFrame>
      <p:sp>
        <p:nvSpPr>
          <p:cNvPr id="3" name="TextBox 2">
            <a:extLst>
              <a:ext uri="{FF2B5EF4-FFF2-40B4-BE49-F238E27FC236}">
                <a16:creationId xmlns:a16="http://schemas.microsoft.com/office/drawing/2014/main" id="{9AA4C902-47DC-060C-2820-915179438D2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0342569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882B6-C8B2-D987-050B-3E923975EB8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8FBE37-D040-D690-4173-30914566FE9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BB4391B-48D5-FBFC-BB33-6554E3301594}"/>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LITERTURE SURVEY TABLE</a:t>
            </a:r>
          </a:p>
        </p:txBody>
      </p:sp>
      <p:sp>
        <p:nvSpPr>
          <p:cNvPr id="36" name="TextBox 35">
            <a:extLst>
              <a:ext uri="{FF2B5EF4-FFF2-40B4-BE49-F238E27FC236}">
                <a16:creationId xmlns:a16="http://schemas.microsoft.com/office/drawing/2014/main" id="{08CB34C0-6997-E9D3-EA80-11E34866AEE0}"/>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18</a:t>
            </a:r>
          </a:p>
        </p:txBody>
      </p:sp>
      <p:graphicFrame>
        <p:nvGraphicFramePr>
          <p:cNvPr id="6" name="Table 5">
            <a:extLst>
              <a:ext uri="{FF2B5EF4-FFF2-40B4-BE49-F238E27FC236}">
                <a16:creationId xmlns:a16="http://schemas.microsoft.com/office/drawing/2014/main" id="{765E5F91-F4CF-2679-A4F7-0FBD8691E678}"/>
              </a:ext>
            </a:extLst>
          </p:cNvPr>
          <p:cNvGraphicFramePr>
            <a:graphicFrameLocks noGrp="1"/>
          </p:cNvGraphicFramePr>
          <p:nvPr>
            <p:extLst>
              <p:ext uri="{D42A27DB-BD31-4B8C-83A1-F6EECF244321}">
                <p14:modId xmlns:p14="http://schemas.microsoft.com/office/powerpoint/2010/main" val="1739714716"/>
              </p:ext>
            </p:extLst>
          </p:nvPr>
        </p:nvGraphicFramePr>
        <p:xfrm>
          <a:off x="681791" y="1181100"/>
          <a:ext cx="16920409" cy="8305800"/>
        </p:xfrm>
        <a:graphic>
          <a:graphicData uri="http://schemas.openxmlformats.org/drawingml/2006/table">
            <a:tbl>
              <a:tblPr firstRow="1" bandRow="1">
                <a:tableStyleId>{5C22544A-7EE6-4342-B048-85BDC9FD1C3A}</a:tableStyleId>
              </a:tblPr>
              <a:tblGrid>
                <a:gridCol w="697597">
                  <a:extLst>
                    <a:ext uri="{9D8B030D-6E8A-4147-A177-3AD203B41FA5}">
                      <a16:colId xmlns:a16="http://schemas.microsoft.com/office/drawing/2014/main" val="3416090625"/>
                    </a:ext>
                  </a:extLst>
                </a:gridCol>
                <a:gridCol w="2538061">
                  <a:extLst>
                    <a:ext uri="{9D8B030D-6E8A-4147-A177-3AD203B41FA5}">
                      <a16:colId xmlns:a16="http://schemas.microsoft.com/office/drawing/2014/main" val="1524929334"/>
                    </a:ext>
                  </a:extLst>
                </a:gridCol>
                <a:gridCol w="2044549">
                  <a:extLst>
                    <a:ext uri="{9D8B030D-6E8A-4147-A177-3AD203B41FA5}">
                      <a16:colId xmlns:a16="http://schemas.microsoft.com/office/drawing/2014/main" val="2459214478"/>
                    </a:ext>
                  </a:extLst>
                </a:gridCol>
                <a:gridCol w="2961072">
                  <a:extLst>
                    <a:ext uri="{9D8B030D-6E8A-4147-A177-3AD203B41FA5}">
                      <a16:colId xmlns:a16="http://schemas.microsoft.com/office/drawing/2014/main" val="3834541479"/>
                    </a:ext>
                  </a:extLst>
                </a:gridCol>
                <a:gridCol w="8679130">
                  <a:extLst>
                    <a:ext uri="{9D8B030D-6E8A-4147-A177-3AD203B41FA5}">
                      <a16:colId xmlns:a16="http://schemas.microsoft.com/office/drawing/2014/main" val="1145280121"/>
                    </a:ext>
                  </a:extLst>
                </a:gridCol>
              </a:tblGrid>
              <a:tr h="798179">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SL. NO</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TITLE</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YEAR OF PUBLISHING</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TECHNOLOGY USED</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tc>
                  <a:txBody>
                    <a:bodyPr/>
                    <a:lstStyle/>
                    <a:p>
                      <a:pPr marL="0" marR="0" algn="ctr">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CONCLUSION</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alpha val="0"/>
                      </a:schemeClr>
                    </a:solidFill>
                  </a:tcPr>
                </a:tc>
                <a:extLst>
                  <a:ext uri="{0D108BD9-81ED-4DB2-BD59-A6C34878D82A}">
                    <a16:rowId xmlns:a16="http://schemas.microsoft.com/office/drawing/2014/main" val="305582789"/>
                  </a:ext>
                </a:extLst>
              </a:tr>
              <a:tr h="3689474">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4</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Pothole and Plain Road Classification Using Adaptive Mutation Dipper Throated Optimization and Transfer Learning for Self-Driving Cars.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2022</a:t>
                      </a:r>
                      <a:endParaRPr lang="en-US" sz="2000" b="0" kern="10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ResNet-50, </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Binary Advanced Mutation,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Dipper Throated Optimization,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Optimized hashing SMOTE,</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Random Forest (RF),</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AMDTO optimizer.</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This study showed a pipeline that combines transfer-learning feature extraction. </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Therefore, I can conclude from their paper that applying meta-heuristic optimization for feature selection and classifier tuning together with an improved SMOTE balancing step can dramatically boost pothole vs plain-road classification accuracy.</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40000"/>
                        <a:alpha val="0"/>
                      </a:schemeClr>
                    </a:solidFill>
                  </a:tcPr>
                </a:tc>
                <a:extLst>
                  <a:ext uri="{0D108BD9-81ED-4DB2-BD59-A6C34878D82A}">
                    <a16:rowId xmlns:a16="http://schemas.microsoft.com/office/drawing/2014/main" val="1909781259"/>
                  </a:ext>
                </a:extLst>
              </a:tr>
              <a:tr h="3818147">
                <a:tc>
                  <a:txBody>
                    <a:bodyPr/>
                    <a:lstStyle/>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ctr">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5</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Real-time scene reconstruction and triangle mesh generation using multiple RGB-D cameras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2017</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Point cloud smoothing,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zippering,</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Direct triangle mesh generation,</a:t>
                      </a: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Mesh merging.</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tc>
                  <a:txBody>
                    <a:bodyPr/>
                    <a:lstStyle/>
                    <a:p>
                      <a:pPr marL="0" marR="0" algn="just">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They proposed a real-time 3D reconstruction method with a GPU-optimized mesh merging method. They demonstrate both high mesh quality and significant acceleration compared to CPU-based methods.</a:t>
                      </a:r>
                    </a:p>
                    <a:p>
                      <a:pPr marL="0" marR="0" algn="just">
                        <a:lnSpc>
                          <a:spcPct val="107000"/>
                        </a:lnSpc>
                        <a:spcAft>
                          <a:spcPts val="800"/>
                        </a:spcAft>
                        <a:buNone/>
                      </a:pPr>
                      <a:b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b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I can conclude that their GPU-parallel mesh approach, especially the MLS point cloud smoothing and mesh merging, gives insight into achieving fast, reliable surface </a:t>
                      </a:r>
                      <a:r>
                        <a:rPr lang="en-IN" sz="2000" b="0" kern="100" dirty="0" err="1">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modeling</a:t>
                      </a: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—knowledge that is valuable for enhancing the efficiency of mesh processing in pothole detection systems.</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IN"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2000" b="0" kern="1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tint val="20000"/>
                        <a:alpha val="0"/>
                      </a:schemeClr>
                    </a:solidFill>
                  </a:tcPr>
                </a:tc>
                <a:extLst>
                  <a:ext uri="{0D108BD9-81ED-4DB2-BD59-A6C34878D82A}">
                    <a16:rowId xmlns:a16="http://schemas.microsoft.com/office/drawing/2014/main" val="2176688559"/>
                  </a:ext>
                </a:extLst>
              </a:tr>
            </a:tbl>
          </a:graphicData>
        </a:graphic>
      </p:graphicFrame>
      <p:sp>
        <p:nvSpPr>
          <p:cNvPr id="3" name="TextBox 2">
            <a:extLst>
              <a:ext uri="{FF2B5EF4-FFF2-40B4-BE49-F238E27FC236}">
                <a16:creationId xmlns:a16="http://schemas.microsoft.com/office/drawing/2014/main" id="{65B888CF-0BF8-31E1-F744-F7A572863CC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6983332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FD8CC-352C-8A62-77DB-9830CD365CE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17F9435-DC86-7206-D4CC-6ABFBFA0BB3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71F496A-4861-3D98-90E5-6BAF807011D9}"/>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SOLUTION</a:t>
            </a:r>
          </a:p>
        </p:txBody>
      </p:sp>
      <p:sp>
        <p:nvSpPr>
          <p:cNvPr id="36" name="TextBox 35">
            <a:extLst>
              <a:ext uri="{FF2B5EF4-FFF2-40B4-BE49-F238E27FC236}">
                <a16:creationId xmlns:a16="http://schemas.microsoft.com/office/drawing/2014/main" id="{32E5433A-0FE6-B231-9180-FE056F3C78C6}"/>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19</a:t>
            </a:r>
          </a:p>
        </p:txBody>
      </p:sp>
      <p:sp>
        <p:nvSpPr>
          <p:cNvPr id="6" name="TextBox 17">
            <a:extLst>
              <a:ext uri="{FF2B5EF4-FFF2-40B4-BE49-F238E27FC236}">
                <a16:creationId xmlns:a16="http://schemas.microsoft.com/office/drawing/2014/main" id="{C55E4182-E463-1735-441F-EEFE2425BBCD}"/>
              </a:ext>
            </a:extLst>
          </p:cNvPr>
          <p:cNvSpPr txBox="1"/>
          <p:nvPr/>
        </p:nvSpPr>
        <p:spPr>
          <a:xfrm>
            <a:off x="834191" y="1287745"/>
            <a:ext cx="16619620" cy="7736434"/>
          </a:xfrm>
          <a:prstGeom prst="rect">
            <a:avLst/>
          </a:prstGeom>
        </p:spPr>
        <p:txBody>
          <a:bodyPr lIns="50800" tIns="50800" rIns="50800" bIns="50800" rtlCol="0" anchor="ctr"/>
          <a:lstStyle/>
          <a:p>
            <a:pPr algn="ctr">
              <a:lnSpc>
                <a:spcPts val="1960"/>
              </a:lnSpc>
            </a:pPr>
            <a:endParaRPr/>
          </a:p>
        </p:txBody>
      </p:sp>
      <p:grpSp>
        <p:nvGrpSpPr>
          <p:cNvPr id="10" name="Group 15">
            <a:extLst>
              <a:ext uri="{FF2B5EF4-FFF2-40B4-BE49-F238E27FC236}">
                <a16:creationId xmlns:a16="http://schemas.microsoft.com/office/drawing/2014/main" id="{05C8C018-9A4F-3245-D3DE-C2B5C15AF22E}"/>
              </a:ext>
            </a:extLst>
          </p:cNvPr>
          <p:cNvGrpSpPr/>
          <p:nvPr/>
        </p:nvGrpSpPr>
        <p:grpSpPr>
          <a:xfrm>
            <a:off x="381001" y="1257300"/>
            <a:ext cx="17526000" cy="8071326"/>
            <a:chOff x="0" y="0"/>
            <a:chExt cx="2455705" cy="1683476"/>
          </a:xfrm>
        </p:grpSpPr>
        <p:sp>
          <p:nvSpPr>
            <p:cNvPr id="11" name="Freeform 16">
              <a:extLst>
                <a:ext uri="{FF2B5EF4-FFF2-40B4-BE49-F238E27FC236}">
                  <a16:creationId xmlns:a16="http://schemas.microsoft.com/office/drawing/2014/main" id="{86BF88BE-C03C-0452-1EB1-267662A714F8}"/>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txBody>
            <a:bodyPr/>
            <a:lstStyle/>
            <a:p>
              <a:endParaRPr lang="en-US" dirty="0">
                <a:solidFill>
                  <a:schemeClr val="bg1"/>
                </a:solidFill>
              </a:endParaRPr>
            </a:p>
          </p:txBody>
        </p:sp>
        <p:sp>
          <p:nvSpPr>
            <p:cNvPr id="12" name="TextBox 17">
              <a:extLst>
                <a:ext uri="{FF2B5EF4-FFF2-40B4-BE49-F238E27FC236}">
                  <a16:creationId xmlns:a16="http://schemas.microsoft.com/office/drawing/2014/main" id="{7325E34E-4BE9-C3FF-37F6-DCDC6A7475BC}"/>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13" name="TextBox 12">
            <a:extLst>
              <a:ext uri="{FF2B5EF4-FFF2-40B4-BE49-F238E27FC236}">
                <a16:creationId xmlns:a16="http://schemas.microsoft.com/office/drawing/2014/main" id="{5EB14B94-27AF-9CD1-6B60-B3D5E640BFBB}"/>
              </a:ext>
            </a:extLst>
          </p:cNvPr>
          <p:cNvSpPr txBox="1"/>
          <p:nvPr/>
        </p:nvSpPr>
        <p:spPr>
          <a:xfrm>
            <a:off x="930655" y="1943100"/>
            <a:ext cx="16138145" cy="5993436"/>
          </a:xfrm>
          <a:prstGeom prst="rect">
            <a:avLst/>
          </a:prstGeom>
          <a:noFill/>
        </p:spPr>
        <p:txBody>
          <a:bodyPr wrap="square" rtlCol="0">
            <a:spAutoFit/>
          </a:bodyPr>
          <a:lstStyle/>
          <a:p>
            <a:pPr marL="514350" indent="-51435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Develop a real-time, low-cost, vision-only perception pipeline that uses a monocular RGB camera with YOLOv8-Seg for pixel-level anomaly detection,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 for depth estimation, Open3D for wireframe mesh reconstruction, and a geometry module to compute pothole dimensions accurately.</a:t>
            </a:r>
          </a:p>
          <a:p>
            <a:pPr marL="514350" indent="-514350" algn="just">
              <a:lnSpc>
                <a:spcPct val="200000"/>
              </a:lnSpc>
              <a:buFont typeface="+mj-lt"/>
              <a:buAutoNum type="arabicPeriod"/>
            </a:pPr>
            <a:endParaRPr lang="en-US" sz="2800" dirty="0">
              <a:solidFill>
                <a:schemeClr val="bg1"/>
              </a:solidFill>
              <a:latin typeface="Times New Roman" panose="02020603050405020304" pitchFamily="18" charset="0"/>
              <a:cs typeface="Times New Roman" panose="02020603050405020304" pitchFamily="18" charset="0"/>
            </a:endParaRPr>
          </a:p>
          <a:p>
            <a:pPr marL="514350" indent="-514350" algn="just">
              <a:lnSpc>
                <a:spcPct val="200000"/>
              </a:lnSpc>
              <a:buFont typeface="+mj-lt"/>
              <a:buAutoNum type="arabicPeriod"/>
            </a:pPr>
            <a:r>
              <a:rPr lang="en-US" sz="2800" dirty="0">
                <a:solidFill>
                  <a:schemeClr val="bg1"/>
                </a:solidFill>
                <a:latin typeface="Times New Roman" panose="02020603050405020304" pitchFamily="18" charset="0"/>
                <a:cs typeface="Times New Roman" panose="02020603050405020304" pitchFamily="18" charset="0"/>
              </a:rPr>
              <a:t>Implement a lightweight decision engine that interprets the 3D pothole metrics to trigger safe responses—such as slow-down, micro-avoidance, or logging—offering a sensor-efficient, LiDAR-free solution suitable for autonomous vehicles and large-scale road-mapping deployment.</a:t>
            </a:r>
          </a:p>
        </p:txBody>
      </p:sp>
      <p:sp>
        <p:nvSpPr>
          <p:cNvPr id="3" name="TextBox 2">
            <a:extLst>
              <a:ext uri="{FF2B5EF4-FFF2-40B4-BE49-F238E27FC236}">
                <a16:creationId xmlns:a16="http://schemas.microsoft.com/office/drawing/2014/main" id="{D04B884E-1A98-4782-9BDF-D72BAB226DF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7002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E177-00C4-0846-6DB4-7DADD15864E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D831D7-434A-E277-B51C-9C1CEC484549}"/>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3BC179F4-8CEE-28F6-D58B-1D4BABC41853}"/>
              </a:ext>
            </a:extLst>
          </p:cNvPr>
          <p:cNvSpPr txBox="1"/>
          <p:nvPr/>
        </p:nvSpPr>
        <p:spPr>
          <a:xfrm>
            <a:off x="930656" y="266700"/>
            <a:ext cx="12861544" cy="863441"/>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a:t>
            </a:r>
          </a:p>
        </p:txBody>
      </p:sp>
      <p:sp>
        <p:nvSpPr>
          <p:cNvPr id="36" name="TextBox 35">
            <a:extLst>
              <a:ext uri="{FF2B5EF4-FFF2-40B4-BE49-F238E27FC236}">
                <a16:creationId xmlns:a16="http://schemas.microsoft.com/office/drawing/2014/main" id="{CD5C354E-27DC-FC44-2E89-81D3C259041C}"/>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20</a:t>
            </a:r>
          </a:p>
        </p:txBody>
      </p:sp>
      <p:grpSp>
        <p:nvGrpSpPr>
          <p:cNvPr id="3" name="Group 15">
            <a:extLst>
              <a:ext uri="{FF2B5EF4-FFF2-40B4-BE49-F238E27FC236}">
                <a16:creationId xmlns:a16="http://schemas.microsoft.com/office/drawing/2014/main" id="{A96F8511-44D5-074B-F3BC-2A6765F972D4}"/>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EA9C4DE3-1B30-7D1B-4007-030BDAE167D6}"/>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1DCA689-93F0-E8A5-BC11-F0069CB0A72B}"/>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6" name="TextBox 5">
            <a:extLst>
              <a:ext uri="{FF2B5EF4-FFF2-40B4-BE49-F238E27FC236}">
                <a16:creationId xmlns:a16="http://schemas.microsoft.com/office/drawing/2014/main" id="{1378C8D9-01F2-2EC2-4000-94F2247220F5}"/>
              </a:ext>
            </a:extLst>
          </p:cNvPr>
          <p:cNvSpPr txBox="1"/>
          <p:nvPr/>
        </p:nvSpPr>
        <p:spPr>
          <a:xfrm>
            <a:off x="1278134" y="1546784"/>
            <a:ext cx="7256266" cy="7109639"/>
          </a:xfrm>
          <a:prstGeom prst="rect">
            <a:avLst/>
          </a:prstGeom>
          <a:noFill/>
        </p:spPr>
        <p:txBody>
          <a:bodyPr wrap="square" rtlCol="0">
            <a:spAutoFit/>
          </a:bodyPr>
          <a:lstStyle/>
          <a:p>
            <a:r>
              <a:rPr lang="en-US" sz="2400" dirty="0">
                <a:solidFill>
                  <a:schemeClr val="bg1"/>
                </a:solidFill>
                <a:latin typeface="Times New Roman" panose="02020603050405020304" pitchFamily="18" charset="0"/>
                <a:cs typeface="Times New Roman" panose="02020603050405020304" pitchFamily="18" charset="0"/>
              </a:rPr>
              <a:t>The system processes live video input from an onboard monocular camera and converts it into a 3D wireframe model for pothole detection and analysis.</a:t>
            </a:r>
          </a:p>
          <a:p>
            <a:endParaRPr lang="en-US" sz="2400" dirty="0">
              <a:solidFill>
                <a:schemeClr val="bg1"/>
              </a:solidFill>
              <a:latin typeface="Times New Roman" panose="02020603050405020304" pitchFamily="18" charset="0"/>
              <a:cs typeface="Times New Roman" panose="02020603050405020304" pitchFamily="18" charset="0"/>
            </a:endParaRP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1. Input Capture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Continuous RGB frames from the monocular camera mounted on the vehicle.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2. Object Detection &amp; Segmentation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YOLOv8 detects potholes, cracks, and bumps with segmentation masks.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3. Depth Estimation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predicts dense depth maps for each frame.</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4. 3D Point Cloud Formation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The depth map + segmentation mask is converted into a localized point cloud.</a:t>
            </a:r>
          </a:p>
        </p:txBody>
      </p:sp>
      <p:sp>
        <p:nvSpPr>
          <p:cNvPr id="7" name="TextBox 6">
            <a:extLst>
              <a:ext uri="{FF2B5EF4-FFF2-40B4-BE49-F238E27FC236}">
                <a16:creationId xmlns:a16="http://schemas.microsoft.com/office/drawing/2014/main" id="{2527F88D-0FA1-E917-61B4-9947C2201AD8}"/>
              </a:ext>
            </a:extLst>
          </p:cNvPr>
          <p:cNvSpPr txBox="1"/>
          <p:nvPr/>
        </p:nvSpPr>
        <p:spPr>
          <a:xfrm>
            <a:off x="9169400" y="3089195"/>
            <a:ext cx="7467600" cy="6001643"/>
          </a:xfrm>
          <a:prstGeom prst="rect">
            <a:avLst/>
          </a:prstGeom>
          <a:noFill/>
        </p:spPr>
        <p:txBody>
          <a:bodyPr wrap="square" rtlCol="0">
            <a:spAutoFit/>
          </a:bodyPr>
          <a:lstStyle/>
          <a:p>
            <a:r>
              <a:rPr lang="en-US" sz="2400" b="1" dirty="0">
                <a:solidFill>
                  <a:schemeClr val="bg1"/>
                </a:solidFill>
                <a:latin typeface="Times New Roman" panose="02020603050405020304" pitchFamily="18" charset="0"/>
                <a:cs typeface="Times New Roman" panose="02020603050405020304" pitchFamily="18" charset="0"/>
              </a:rPr>
              <a:t>5. Wireframe &amp; Mesh Reconstruction</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Open3D generates a surface mesh for shape and structure analysis.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6. Pothole Geometry Analysis</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Depth, width, perimeter, and volume are computed using mesh features.</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7. Decision Engine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Provides real-time action: slow down, steering adjustment, or event logging.</a:t>
            </a:r>
          </a:p>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Purpose</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To achieve </a:t>
            </a:r>
            <a:r>
              <a:rPr lang="en-US" sz="2400" b="1" dirty="0">
                <a:solidFill>
                  <a:schemeClr val="bg1"/>
                </a:solidFill>
                <a:latin typeface="Times New Roman" panose="02020603050405020304" pitchFamily="18" charset="0"/>
                <a:cs typeface="Times New Roman" panose="02020603050405020304" pitchFamily="18" charset="0"/>
              </a:rPr>
              <a:t>accurate</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low-cost</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real-time</a:t>
            </a:r>
            <a:r>
              <a:rPr lang="en-US" sz="2400" dirty="0">
                <a:solidFill>
                  <a:schemeClr val="bg1"/>
                </a:solidFill>
                <a:latin typeface="Times New Roman" panose="02020603050405020304" pitchFamily="18" charset="0"/>
                <a:cs typeface="Times New Roman" panose="02020603050405020304" pitchFamily="18" charset="0"/>
              </a:rPr>
              <a:t> pothole detection suitable for autonomous vehicles and road maintenance authorities.</a:t>
            </a:r>
          </a:p>
        </p:txBody>
      </p:sp>
      <p:sp>
        <p:nvSpPr>
          <p:cNvPr id="8" name="TextBox 7">
            <a:extLst>
              <a:ext uri="{FF2B5EF4-FFF2-40B4-BE49-F238E27FC236}">
                <a16:creationId xmlns:a16="http://schemas.microsoft.com/office/drawing/2014/main" id="{CB3FDC95-D311-5278-B37B-0F68B169928B}"/>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26670574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4359B-6E3F-E3B1-1084-124F6C04C31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93F5292-B97B-244C-ECF0-80309E0E85E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A18ECE55-8D60-063F-426F-AA1FB2BC0FBA}"/>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PROPOSED SYSTEM ARCHITECTURE</a:t>
            </a:r>
          </a:p>
        </p:txBody>
      </p:sp>
      <p:sp>
        <p:nvSpPr>
          <p:cNvPr id="36" name="TextBox 35">
            <a:extLst>
              <a:ext uri="{FF2B5EF4-FFF2-40B4-BE49-F238E27FC236}">
                <a16:creationId xmlns:a16="http://schemas.microsoft.com/office/drawing/2014/main" id="{BE0DD9B8-4453-0D72-5091-712A2644A66A}"/>
              </a:ext>
            </a:extLst>
          </p:cNvPr>
          <p:cNvSpPr txBox="1"/>
          <p:nvPr/>
        </p:nvSpPr>
        <p:spPr>
          <a:xfrm>
            <a:off x="15544800" y="9328626"/>
            <a:ext cx="26670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21</a:t>
            </a:r>
          </a:p>
        </p:txBody>
      </p:sp>
      <p:grpSp>
        <p:nvGrpSpPr>
          <p:cNvPr id="3" name="Group 15">
            <a:extLst>
              <a:ext uri="{FF2B5EF4-FFF2-40B4-BE49-F238E27FC236}">
                <a16:creationId xmlns:a16="http://schemas.microsoft.com/office/drawing/2014/main" id="{48F0D6C8-48D0-C3F6-4F76-1266164AFA89}"/>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1CBED196-59D3-40BB-645A-404CE6A1A8E4}"/>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A3B2FB23-3C20-E350-ADCF-E4D5E31BD28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pic>
        <p:nvPicPr>
          <p:cNvPr id="13" name="Picture 12">
            <a:extLst>
              <a:ext uri="{FF2B5EF4-FFF2-40B4-BE49-F238E27FC236}">
                <a16:creationId xmlns:a16="http://schemas.microsoft.com/office/drawing/2014/main" id="{412A5098-B56A-97E2-3AB1-C0ADA300FC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295400" y="1329534"/>
            <a:ext cx="15163800" cy="7999092"/>
          </a:xfrm>
          <a:prstGeom prst="rect">
            <a:avLst/>
          </a:prstGeom>
        </p:spPr>
      </p:pic>
      <p:sp>
        <p:nvSpPr>
          <p:cNvPr id="6" name="TextBox 5">
            <a:extLst>
              <a:ext uri="{FF2B5EF4-FFF2-40B4-BE49-F238E27FC236}">
                <a16:creationId xmlns:a16="http://schemas.microsoft.com/office/drawing/2014/main" id="{34F85CEF-6A4F-198C-2BDF-BCE167706335}"/>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1725673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3D7C-7368-C4C6-FE04-EB9CE59E030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2678DE2-D66C-C0A4-7AC8-279749EBCD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EE664B4-4B7A-EB5B-82A1-578E32F45682}"/>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SYSTEM REQUIREMENT</a:t>
            </a:r>
          </a:p>
        </p:txBody>
      </p:sp>
      <p:sp>
        <p:nvSpPr>
          <p:cNvPr id="36" name="TextBox 35">
            <a:extLst>
              <a:ext uri="{FF2B5EF4-FFF2-40B4-BE49-F238E27FC236}">
                <a16:creationId xmlns:a16="http://schemas.microsoft.com/office/drawing/2014/main" id="{A4320CA7-23A7-0F3C-A5DC-03956B76500B}"/>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22</a:t>
            </a:r>
          </a:p>
        </p:txBody>
      </p:sp>
      <p:grpSp>
        <p:nvGrpSpPr>
          <p:cNvPr id="3" name="Group 15">
            <a:extLst>
              <a:ext uri="{FF2B5EF4-FFF2-40B4-BE49-F238E27FC236}">
                <a16:creationId xmlns:a16="http://schemas.microsoft.com/office/drawing/2014/main" id="{7FAAF1E8-B98C-3568-08C9-43905E3DA181}"/>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3D369DE9-07BB-494F-61DE-43F83A290C1A}"/>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4ABEA779-E841-E45F-5BC2-C2DA42125326}"/>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graphicFrame>
        <p:nvGraphicFramePr>
          <p:cNvPr id="6" name="Table 5">
            <a:extLst>
              <a:ext uri="{FF2B5EF4-FFF2-40B4-BE49-F238E27FC236}">
                <a16:creationId xmlns:a16="http://schemas.microsoft.com/office/drawing/2014/main" id="{1F9DFA9C-0E07-4282-2FEA-6D65EE390D82}"/>
              </a:ext>
            </a:extLst>
          </p:cNvPr>
          <p:cNvGraphicFramePr>
            <a:graphicFrameLocks noGrp="1"/>
          </p:cNvGraphicFramePr>
          <p:nvPr>
            <p:extLst>
              <p:ext uri="{D42A27DB-BD31-4B8C-83A1-F6EECF244321}">
                <p14:modId xmlns:p14="http://schemas.microsoft.com/office/powerpoint/2010/main" val="3798248823"/>
              </p:ext>
            </p:extLst>
          </p:nvPr>
        </p:nvGraphicFramePr>
        <p:xfrm>
          <a:off x="1132764" y="1772523"/>
          <a:ext cx="8229600" cy="7040880"/>
        </p:xfrm>
        <a:graphic>
          <a:graphicData uri="http://schemas.openxmlformats.org/drawingml/2006/table">
            <a:tbl>
              <a:tblPr/>
              <a:tblGrid>
                <a:gridCol w="4114800">
                  <a:extLst>
                    <a:ext uri="{9D8B030D-6E8A-4147-A177-3AD203B41FA5}">
                      <a16:colId xmlns:a16="http://schemas.microsoft.com/office/drawing/2014/main" val="906871818"/>
                    </a:ext>
                  </a:extLst>
                </a:gridCol>
                <a:gridCol w="4114800">
                  <a:extLst>
                    <a:ext uri="{9D8B030D-6E8A-4147-A177-3AD203B41FA5}">
                      <a16:colId xmlns:a16="http://schemas.microsoft.com/office/drawing/2014/main" val="4015078817"/>
                    </a:ext>
                  </a:extLst>
                </a:gridCol>
              </a:tblGrid>
              <a:tr h="0">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Component</a:t>
                      </a: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Specification</a:t>
                      </a:r>
                    </a:p>
                  </a:txBody>
                  <a:tcPr anchor="ctr">
                    <a:lnL>
                      <a:noFill/>
                    </a:lnL>
                    <a:lnR>
                      <a:noFill/>
                    </a:lnR>
                    <a:lnT>
                      <a:noFill/>
                    </a:lnT>
                    <a:lnB>
                      <a:noFill/>
                    </a:lnB>
                    <a:noFill/>
                  </a:tcPr>
                </a:tc>
                <a:extLst>
                  <a:ext uri="{0D108BD9-81ED-4DB2-BD59-A6C34878D82A}">
                    <a16:rowId xmlns:a16="http://schemas.microsoft.com/office/drawing/2014/main" val="800968497"/>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Camera</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Monocular RGB camera, 1080p@30–60 FPS, wide-angle 120° FOV</a:t>
                      </a:r>
                    </a:p>
                  </a:txBody>
                  <a:tcPr anchor="ctr">
                    <a:lnL>
                      <a:noFill/>
                    </a:lnL>
                    <a:lnR>
                      <a:noFill/>
                    </a:lnR>
                    <a:lnT>
                      <a:noFill/>
                    </a:lnT>
                    <a:lnB>
                      <a:noFill/>
                    </a:lnB>
                    <a:noFill/>
                  </a:tcPr>
                </a:tc>
                <a:extLst>
                  <a:ext uri="{0D108BD9-81ED-4DB2-BD59-A6C34878D82A}">
                    <a16:rowId xmlns:a16="http://schemas.microsoft.com/office/drawing/2014/main" val="2011109575"/>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Processing Unit</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NVIDIA Jetson Nano / Xavier NX </a:t>
                      </a:r>
                      <a:r>
                        <a:rPr lang="en-US" sz="2800" b="1" dirty="0">
                          <a:solidFill>
                            <a:schemeClr val="bg1"/>
                          </a:solidFill>
                          <a:latin typeface="Times New Roman" panose="02020603050405020304" pitchFamily="18" charset="0"/>
                          <a:cs typeface="Times New Roman" panose="02020603050405020304" pitchFamily="18" charset="0"/>
                        </a:rPr>
                        <a:t>or</a:t>
                      </a:r>
                      <a:r>
                        <a:rPr lang="en-US" sz="2800" dirty="0">
                          <a:solidFill>
                            <a:schemeClr val="bg1"/>
                          </a:solidFill>
                          <a:latin typeface="Times New Roman" panose="02020603050405020304" pitchFamily="18" charset="0"/>
                          <a:cs typeface="Times New Roman" panose="02020603050405020304" pitchFamily="18" charset="0"/>
                        </a:rPr>
                        <a:t> Laptop GPU (RTX 3060+)</a:t>
                      </a:r>
                    </a:p>
                  </a:txBody>
                  <a:tcPr anchor="ctr">
                    <a:lnL>
                      <a:noFill/>
                    </a:lnL>
                    <a:lnR>
                      <a:noFill/>
                    </a:lnR>
                    <a:lnT>
                      <a:noFill/>
                    </a:lnT>
                    <a:lnB>
                      <a:noFill/>
                    </a:lnB>
                    <a:noFill/>
                  </a:tcPr>
                </a:tc>
                <a:extLst>
                  <a:ext uri="{0D108BD9-81ED-4DB2-BD59-A6C34878D82A}">
                    <a16:rowId xmlns:a16="http://schemas.microsoft.com/office/drawing/2014/main" val="1562379906"/>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CPU</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Quad-core 2.0 GHz or above</a:t>
                      </a:r>
                    </a:p>
                  </a:txBody>
                  <a:tcPr anchor="ctr">
                    <a:lnL>
                      <a:noFill/>
                    </a:lnL>
                    <a:lnR>
                      <a:noFill/>
                    </a:lnR>
                    <a:lnT>
                      <a:noFill/>
                    </a:lnT>
                    <a:lnB>
                      <a:noFill/>
                    </a:lnB>
                    <a:noFill/>
                  </a:tcPr>
                </a:tc>
                <a:extLst>
                  <a:ext uri="{0D108BD9-81ED-4DB2-BD59-A6C34878D82A}">
                    <a16:rowId xmlns:a16="http://schemas.microsoft.com/office/drawing/2014/main" val="1237680021"/>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RAM</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Minimum 8 GB (Recommended 16 GB)</a:t>
                      </a:r>
                    </a:p>
                  </a:txBody>
                  <a:tcPr anchor="ctr">
                    <a:lnL>
                      <a:noFill/>
                    </a:lnL>
                    <a:lnR>
                      <a:noFill/>
                    </a:lnR>
                    <a:lnT>
                      <a:noFill/>
                    </a:lnT>
                    <a:lnB>
                      <a:noFill/>
                    </a:lnB>
                    <a:noFill/>
                  </a:tcPr>
                </a:tc>
                <a:extLst>
                  <a:ext uri="{0D108BD9-81ED-4DB2-BD59-A6C34878D82A}">
                    <a16:rowId xmlns:a16="http://schemas.microsoft.com/office/drawing/2014/main" val="1431238812"/>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Storage</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a:solidFill>
                            <a:schemeClr val="bg1"/>
                          </a:solidFill>
                          <a:latin typeface="Times New Roman" panose="02020603050405020304" pitchFamily="18" charset="0"/>
                          <a:cs typeface="Times New Roman" panose="02020603050405020304" pitchFamily="18" charset="0"/>
                        </a:rPr>
                        <a:t>256 GB SSD for datasets + logs</a:t>
                      </a:r>
                    </a:p>
                  </a:txBody>
                  <a:tcPr anchor="ctr">
                    <a:lnL>
                      <a:noFill/>
                    </a:lnL>
                    <a:lnR>
                      <a:noFill/>
                    </a:lnR>
                    <a:lnT>
                      <a:noFill/>
                    </a:lnT>
                    <a:lnB>
                      <a:noFill/>
                    </a:lnB>
                    <a:noFill/>
                  </a:tcPr>
                </a:tc>
                <a:extLst>
                  <a:ext uri="{0D108BD9-81ED-4DB2-BD59-A6C34878D82A}">
                    <a16:rowId xmlns:a16="http://schemas.microsoft.com/office/drawing/2014/main" val="1314372863"/>
                  </a:ext>
                </a:extLst>
              </a:tr>
              <a:tr h="0">
                <a:tc>
                  <a:txBody>
                    <a:bodyPr/>
                    <a:lstStyle/>
                    <a:p>
                      <a:pPr>
                        <a:buNone/>
                      </a:pPr>
                      <a:r>
                        <a:rPr lang="en-US" sz="2800" b="1">
                          <a:solidFill>
                            <a:schemeClr val="bg1"/>
                          </a:solidFill>
                          <a:latin typeface="Times New Roman" panose="02020603050405020304" pitchFamily="18" charset="0"/>
                          <a:cs typeface="Times New Roman" panose="02020603050405020304" pitchFamily="18" charset="0"/>
                        </a:rPr>
                        <a:t>Optional Sensors</a:t>
                      </a:r>
                      <a:endParaRPr lang="en-US" sz="2800">
                        <a:solidFill>
                          <a:schemeClr val="bg1"/>
                        </a:solidFill>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800" dirty="0">
                          <a:solidFill>
                            <a:schemeClr val="bg1"/>
                          </a:solidFill>
                          <a:latin typeface="Times New Roman" panose="02020603050405020304" pitchFamily="18" charset="0"/>
                          <a:cs typeface="Times New Roman" panose="02020603050405020304" pitchFamily="18" charset="0"/>
                        </a:rPr>
                        <a:t>GNSS module for mapping pothole locations</a:t>
                      </a:r>
                    </a:p>
                  </a:txBody>
                  <a:tcPr anchor="ctr">
                    <a:lnL>
                      <a:noFill/>
                    </a:lnL>
                    <a:lnR>
                      <a:noFill/>
                    </a:lnR>
                    <a:lnT>
                      <a:noFill/>
                    </a:lnT>
                    <a:lnB>
                      <a:noFill/>
                    </a:lnB>
                    <a:noFill/>
                  </a:tcPr>
                </a:tc>
                <a:extLst>
                  <a:ext uri="{0D108BD9-81ED-4DB2-BD59-A6C34878D82A}">
                    <a16:rowId xmlns:a16="http://schemas.microsoft.com/office/drawing/2014/main" val="2492650137"/>
                  </a:ext>
                </a:extLst>
              </a:tr>
            </a:tbl>
          </a:graphicData>
        </a:graphic>
      </p:graphicFrame>
      <p:sp>
        <p:nvSpPr>
          <p:cNvPr id="7" name="TextBox 6">
            <a:extLst>
              <a:ext uri="{FF2B5EF4-FFF2-40B4-BE49-F238E27FC236}">
                <a16:creationId xmlns:a16="http://schemas.microsoft.com/office/drawing/2014/main" id="{A5B9EED0-375E-CA2C-69DF-3E9EBD8D461B}"/>
              </a:ext>
            </a:extLst>
          </p:cNvPr>
          <p:cNvSpPr txBox="1"/>
          <p:nvPr/>
        </p:nvSpPr>
        <p:spPr>
          <a:xfrm>
            <a:off x="10367480" y="1606764"/>
            <a:ext cx="6758186" cy="7417415"/>
          </a:xfrm>
          <a:prstGeom prst="rect">
            <a:avLst/>
          </a:prstGeom>
          <a:noFill/>
        </p:spPr>
        <p:txBody>
          <a:bodyPr wrap="square" rtlCol="0">
            <a:spAutoFit/>
          </a:bodyPr>
          <a:lstStyle/>
          <a:p>
            <a:r>
              <a:rPr lang="en-US" sz="2800" b="1" dirty="0">
                <a:solidFill>
                  <a:schemeClr val="bg1"/>
                </a:solidFill>
                <a:latin typeface="Times New Roman" panose="02020603050405020304" pitchFamily="18" charset="0"/>
                <a:cs typeface="Times New Roman" panose="02020603050405020304" pitchFamily="18" charset="0"/>
              </a:rPr>
              <a:t>Software Requirements</a:t>
            </a:r>
          </a:p>
          <a:p>
            <a:endParaRPr lang="en-US" sz="2800" b="1"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Programming Language:</a:t>
            </a:r>
            <a:r>
              <a:rPr lang="en-US" sz="2800" dirty="0">
                <a:solidFill>
                  <a:schemeClr val="bg1"/>
                </a:solidFill>
                <a:latin typeface="Times New Roman" panose="02020603050405020304" pitchFamily="18" charset="0"/>
                <a:cs typeface="Times New Roman" panose="02020603050405020304" pitchFamily="18" charset="0"/>
              </a:rPr>
              <a:t> Python 3.10+</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Deep Learning Framework:</a:t>
            </a:r>
            <a:r>
              <a:rPr lang="en-US" sz="2800" dirty="0">
                <a:solidFill>
                  <a:schemeClr val="bg1"/>
                </a:solidFill>
                <a:latin typeface="Times New Roman" panose="02020603050405020304" pitchFamily="18" charset="0"/>
                <a:cs typeface="Times New Roman" panose="02020603050405020304" pitchFamily="18" charset="0"/>
              </a:rPr>
              <a:t> </a:t>
            </a:r>
            <a:r>
              <a:rPr lang="en-US" sz="2800" dirty="0" err="1">
                <a:solidFill>
                  <a:schemeClr val="bg1"/>
                </a:solidFill>
                <a:latin typeface="Times New Roman" panose="02020603050405020304" pitchFamily="18" charset="0"/>
                <a:cs typeface="Times New Roman" panose="02020603050405020304" pitchFamily="18" charset="0"/>
              </a:rPr>
              <a:t>PyTorch</a:t>
            </a:r>
            <a:r>
              <a:rPr lang="en-US" sz="2800" dirty="0">
                <a:solidFill>
                  <a:schemeClr val="bg1"/>
                </a:solidFill>
                <a:latin typeface="Times New Roman" panose="02020603050405020304" pitchFamily="18" charset="0"/>
                <a:cs typeface="Times New Roman" panose="02020603050405020304" pitchFamily="18" charset="0"/>
              </a:rPr>
              <a:t> 2.10.0</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ML Models:</a:t>
            </a:r>
            <a:r>
              <a:rPr lang="en-US" sz="2800" dirty="0">
                <a:solidFill>
                  <a:schemeClr val="bg1"/>
                </a:solidFill>
                <a:latin typeface="Times New Roman" panose="02020603050405020304" pitchFamily="18" charset="0"/>
                <a:cs typeface="Times New Roman" panose="02020603050405020304" pitchFamily="18" charset="0"/>
              </a:rPr>
              <a:t> YOLOv8-Seg, </a:t>
            </a:r>
            <a:r>
              <a:rPr lang="en-US" sz="2800" dirty="0" err="1">
                <a:solidFill>
                  <a:schemeClr val="bg1"/>
                </a:solidFill>
                <a:latin typeface="Times New Roman" panose="02020603050405020304" pitchFamily="18" charset="0"/>
                <a:cs typeface="Times New Roman" panose="02020603050405020304" pitchFamily="18" charset="0"/>
              </a:rPr>
              <a:t>MiDaS</a:t>
            </a:r>
            <a:r>
              <a:rPr lang="en-US" sz="2800" dirty="0">
                <a:solidFill>
                  <a:schemeClr val="bg1"/>
                </a:solidFill>
                <a:latin typeface="Times New Roman" panose="02020603050405020304" pitchFamily="18" charset="0"/>
                <a:cs typeface="Times New Roman" panose="02020603050405020304" pitchFamily="18" charset="0"/>
              </a:rPr>
              <a:t> / </a:t>
            </a:r>
            <a:r>
              <a:rPr lang="en-US" sz="2800" dirty="0" err="1">
                <a:solidFill>
                  <a:schemeClr val="bg1"/>
                </a:solidFill>
                <a:latin typeface="Times New Roman" panose="02020603050405020304" pitchFamily="18" charset="0"/>
                <a:cs typeface="Times New Roman" panose="02020603050405020304" pitchFamily="18" charset="0"/>
              </a:rPr>
              <a:t>DepthAnything</a:t>
            </a:r>
            <a:r>
              <a:rPr lang="en-US" sz="2800" dirty="0">
                <a:solidFill>
                  <a:schemeClr val="bg1"/>
                </a:solidFill>
                <a:latin typeface="Times New Roman" panose="02020603050405020304" pitchFamily="18" charset="0"/>
                <a:cs typeface="Times New Roman" panose="02020603050405020304" pitchFamily="18" charset="0"/>
              </a:rPr>
              <a:t> V2</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3D Toolkit:</a:t>
            </a:r>
            <a:r>
              <a:rPr lang="en-US" sz="2800" dirty="0">
                <a:solidFill>
                  <a:schemeClr val="bg1"/>
                </a:solidFill>
                <a:latin typeface="Times New Roman" panose="02020603050405020304" pitchFamily="18" charset="0"/>
                <a:cs typeface="Times New Roman" panose="02020603050405020304" pitchFamily="18" charset="0"/>
              </a:rPr>
              <a:t> Open3D</a:t>
            </a:r>
          </a:p>
          <a:p>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Development Tools:</a:t>
            </a:r>
            <a:endParaRPr lang="en-US" sz="2800" dirty="0">
              <a:solidFill>
                <a:schemeClr val="bg1"/>
              </a:solidFill>
              <a:latin typeface="Times New Roman" panose="02020603050405020304" pitchFamily="18" charset="0"/>
              <a:cs typeface="Times New Roman" panose="02020603050405020304" pitchFamily="18" charset="0"/>
            </a:endParaRPr>
          </a:p>
          <a:p>
            <a:pPr lvl="1"/>
            <a:r>
              <a:rPr lang="en-US" sz="2800" dirty="0">
                <a:solidFill>
                  <a:schemeClr val="bg1"/>
                </a:solidFill>
                <a:latin typeface="Times New Roman" panose="02020603050405020304" pitchFamily="18" charset="0"/>
                <a:cs typeface="Times New Roman" panose="02020603050405020304" pitchFamily="18" charset="0"/>
              </a:rPr>
              <a:t>Anaconda / Virtual Environment</a:t>
            </a:r>
          </a:p>
          <a:p>
            <a:pPr lvl="1"/>
            <a:r>
              <a:rPr lang="en-US" sz="2800" dirty="0" err="1">
                <a:solidFill>
                  <a:schemeClr val="bg1"/>
                </a:solidFill>
                <a:latin typeface="Times New Roman" panose="02020603050405020304" pitchFamily="18" charset="0"/>
                <a:cs typeface="Times New Roman" panose="02020603050405020304" pitchFamily="18" charset="0"/>
              </a:rPr>
              <a:t>Jupyter</a:t>
            </a:r>
            <a:r>
              <a:rPr lang="en-US" sz="2800" dirty="0">
                <a:solidFill>
                  <a:schemeClr val="bg1"/>
                </a:solidFill>
                <a:latin typeface="Times New Roman" panose="02020603050405020304" pitchFamily="18" charset="0"/>
                <a:cs typeface="Times New Roman" panose="02020603050405020304" pitchFamily="18" charset="0"/>
              </a:rPr>
              <a:t> Notebook / VS Code</a:t>
            </a:r>
          </a:p>
          <a:p>
            <a:pPr lvl="1"/>
            <a:r>
              <a:rPr lang="en-US" sz="2800" dirty="0">
                <a:solidFill>
                  <a:schemeClr val="bg1"/>
                </a:solidFill>
                <a:latin typeface="Times New Roman" panose="02020603050405020304" pitchFamily="18" charset="0"/>
                <a:cs typeface="Times New Roman" panose="02020603050405020304" pitchFamily="18" charset="0"/>
              </a:rPr>
              <a:t>CUDA Toolkit (if using NVIDIA GPU)</a:t>
            </a:r>
          </a:p>
          <a:p>
            <a:pPr lvl="1"/>
            <a:endParaRPr lang="en-US" sz="2800"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OS:</a:t>
            </a:r>
            <a:r>
              <a:rPr lang="en-US" sz="2800" dirty="0">
                <a:solidFill>
                  <a:schemeClr val="bg1"/>
                </a:solidFill>
                <a:latin typeface="Times New Roman" panose="02020603050405020304" pitchFamily="18" charset="0"/>
                <a:cs typeface="Times New Roman" panose="02020603050405020304" pitchFamily="18" charset="0"/>
              </a:rPr>
              <a:t> Ubuntu 24.04.3 or Windows 10/11</a:t>
            </a:r>
          </a:p>
        </p:txBody>
      </p:sp>
      <p:sp>
        <p:nvSpPr>
          <p:cNvPr id="8" name="TextBox 7">
            <a:extLst>
              <a:ext uri="{FF2B5EF4-FFF2-40B4-BE49-F238E27FC236}">
                <a16:creationId xmlns:a16="http://schemas.microsoft.com/office/drawing/2014/main" id="{4A7310C7-5D91-E645-A05A-C56E7D689D96}"/>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926379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DC0DC-94AE-D16F-C3A8-B660B32F18A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A33175B-6C88-90AF-CB54-9D4BD6C6F49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FD669E9D-8E13-013F-8174-CE349376292F}"/>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796B8D4E-DC61-4930-81DD-AD321060BBE1}"/>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 name="Group 15">
            <a:extLst>
              <a:ext uri="{FF2B5EF4-FFF2-40B4-BE49-F238E27FC236}">
                <a16:creationId xmlns:a16="http://schemas.microsoft.com/office/drawing/2014/main" id="{C8B273C7-AF43-FB24-145B-E5F505C7E5A7}"/>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68497952-2020-5A10-36CF-C84F0BA7925C}"/>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7AD2CF3B-1B50-8DDA-BE4F-7C64C715D12D}"/>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A1FD8DE8-6CF8-96B7-77EF-1FE34525D9EE}"/>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pic>
        <p:nvPicPr>
          <p:cNvPr id="7" name="Picture 6">
            <a:extLst>
              <a:ext uri="{FF2B5EF4-FFF2-40B4-BE49-F238E27FC236}">
                <a16:creationId xmlns:a16="http://schemas.microsoft.com/office/drawing/2014/main" id="{3136D93E-D33F-E19D-0D11-C352510F5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2535" y="1671082"/>
            <a:ext cx="13335000" cy="7167563"/>
          </a:xfrm>
          <a:prstGeom prst="rect">
            <a:avLst/>
          </a:prstGeom>
        </p:spPr>
      </p:pic>
    </p:spTree>
    <p:extLst>
      <p:ext uri="{BB962C8B-B14F-4D97-AF65-F5344CB8AC3E}">
        <p14:creationId xmlns:p14="http://schemas.microsoft.com/office/powerpoint/2010/main" val="2680146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04C03-1690-76FA-B38B-E21047959C3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F24DF9A-4264-798E-C5BD-0EC08D369DC7}"/>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7F57B3FC-B7F1-F11F-BBED-0BD99DFF4161}"/>
              </a:ext>
            </a:extLst>
          </p:cNvPr>
          <p:cNvSpPr txBox="1"/>
          <p:nvPr/>
        </p:nvSpPr>
        <p:spPr>
          <a:xfrm>
            <a:off x="930656" y="266700"/>
            <a:ext cx="15757144"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ENVIRONMENTAL SETUP</a:t>
            </a:r>
          </a:p>
        </p:txBody>
      </p:sp>
      <p:sp>
        <p:nvSpPr>
          <p:cNvPr id="36" name="TextBox 35">
            <a:extLst>
              <a:ext uri="{FF2B5EF4-FFF2-40B4-BE49-F238E27FC236}">
                <a16:creationId xmlns:a16="http://schemas.microsoft.com/office/drawing/2014/main" id="{8E6B3548-A43E-0606-0EB9-B75023F2E618}"/>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23</a:t>
            </a:r>
          </a:p>
        </p:txBody>
      </p:sp>
      <p:grpSp>
        <p:nvGrpSpPr>
          <p:cNvPr id="3" name="Group 15">
            <a:extLst>
              <a:ext uri="{FF2B5EF4-FFF2-40B4-BE49-F238E27FC236}">
                <a16:creationId xmlns:a16="http://schemas.microsoft.com/office/drawing/2014/main" id="{22D823BD-8AD2-8DA1-FB36-ABE8230ECBDF}"/>
              </a:ext>
            </a:extLst>
          </p:cNvPr>
          <p:cNvGrpSpPr/>
          <p:nvPr/>
        </p:nvGrpSpPr>
        <p:grpSpPr>
          <a:xfrm>
            <a:off x="381001" y="1257300"/>
            <a:ext cx="17526000" cy="8071326"/>
            <a:chOff x="0" y="0"/>
            <a:chExt cx="2455705" cy="1683476"/>
          </a:xfrm>
        </p:grpSpPr>
        <p:sp>
          <p:nvSpPr>
            <p:cNvPr id="4" name="Freeform 16">
              <a:extLst>
                <a:ext uri="{FF2B5EF4-FFF2-40B4-BE49-F238E27FC236}">
                  <a16:creationId xmlns:a16="http://schemas.microsoft.com/office/drawing/2014/main" id="{554236C7-E6FF-8478-0DE2-4E2C0D69428B}"/>
                </a:ext>
              </a:extLst>
            </p:cNvPr>
            <p:cNvSpPr/>
            <p:nvPr/>
          </p:nvSpPr>
          <p:spPr>
            <a:xfrm>
              <a:off x="0" y="0"/>
              <a:ext cx="2455705" cy="1683476"/>
            </a:xfrm>
            <a:custGeom>
              <a:avLst/>
              <a:gdLst/>
              <a:ahLst/>
              <a:cxnLst/>
              <a:rect l="l" t="t" r="r" b="b"/>
              <a:pathLst>
                <a:path w="2455705" h="1683476">
                  <a:moveTo>
                    <a:pt x="2295685" y="0"/>
                  </a:moveTo>
                  <a:lnTo>
                    <a:pt x="160020" y="0"/>
                  </a:lnTo>
                  <a:lnTo>
                    <a:pt x="0" y="160020"/>
                  </a:lnTo>
                  <a:lnTo>
                    <a:pt x="0" y="1523456"/>
                  </a:lnTo>
                  <a:lnTo>
                    <a:pt x="160020" y="1683476"/>
                  </a:lnTo>
                  <a:lnTo>
                    <a:pt x="2295685" y="1683476"/>
                  </a:lnTo>
                  <a:lnTo>
                    <a:pt x="2455705" y="1523456"/>
                  </a:lnTo>
                  <a:lnTo>
                    <a:pt x="2455705" y="160020"/>
                  </a:lnTo>
                  <a:lnTo>
                    <a:pt x="2295685" y="0"/>
                  </a:lnTo>
                  <a:close/>
                </a:path>
              </a:pathLst>
            </a:custGeom>
            <a:solidFill>
              <a:srgbClr val="000000">
                <a:alpha val="0"/>
              </a:srgbClr>
            </a:solidFill>
            <a:ln w="9525" cap="sq">
              <a:solidFill>
                <a:srgbClr val="3B4C7D"/>
              </a:solidFill>
              <a:prstDash val="solid"/>
              <a:miter/>
            </a:ln>
          </p:spPr>
        </p:sp>
        <p:sp>
          <p:nvSpPr>
            <p:cNvPr id="5" name="TextBox 17">
              <a:extLst>
                <a:ext uri="{FF2B5EF4-FFF2-40B4-BE49-F238E27FC236}">
                  <a16:creationId xmlns:a16="http://schemas.microsoft.com/office/drawing/2014/main" id="{DCE621B1-5EAD-CFF6-23D2-F83C02D7B5B8}"/>
                </a:ext>
              </a:extLst>
            </p:cNvPr>
            <p:cNvSpPr txBox="1"/>
            <p:nvPr/>
          </p:nvSpPr>
          <p:spPr>
            <a:xfrm>
              <a:off x="63500" y="6350"/>
              <a:ext cx="2328705" cy="1613626"/>
            </a:xfrm>
            <a:prstGeom prst="rect">
              <a:avLst/>
            </a:prstGeom>
          </p:spPr>
          <p:txBody>
            <a:bodyPr lIns="50800" tIns="50800" rIns="50800" bIns="50800" rtlCol="0" anchor="ctr"/>
            <a:lstStyle/>
            <a:p>
              <a:pPr algn="ctr">
                <a:lnSpc>
                  <a:spcPts val="1960"/>
                </a:lnSpc>
              </a:pPr>
              <a:endParaRPr/>
            </a:p>
          </p:txBody>
        </p:sp>
      </p:grpSp>
      <p:sp>
        <p:nvSpPr>
          <p:cNvPr id="8" name="TextBox 7">
            <a:extLst>
              <a:ext uri="{FF2B5EF4-FFF2-40B4-BE49-F238E27FC236}">
                <a16:creationId xmlns:a16="http://schemas.microsoft.com/office/drawing/2014/main" id="{F2ED7AA5-CEAD-5237-326B-A499D5A5FB88}"/>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
        <p:nvSpPr>
          <p:cNvPr id="6" name="TextBox 5">
            <a:extLst>
              <a:ext uri="{FF2B5EF4-FFF2-40B4-BE49-F238E27FC236}">
                <a16:creationId xmlns:a16="http://schemas.microsoft.com/office/drawing/2014/main" id="{47AF0378-DF55-9C0F-DA77-EF0622F7442C}"/>
              </a:ext>
            </a:extLst>
          </p:cNvPr>
          <p:cNvSpPr txBox="1"/>
          <p:nvPr/>
        </p:nvSpPr>
        <p:spPr>
          <a:xfrm>
            <a:off x="1828800" y="1287745"/>
            <a:ext cx="4572000" cy="584775"/>
          </a:xfrm>
          <a:prstGeom prst="rect">
            <a:avLst/>
          </a:prstGeom>
          <a:noFill/>
        </p:spPr>
        <p:txBody>
          <a:bodyPr wrap="square" rtlCol="0">
            <a:spAutoFit/>
          </a:bodyPr>
          <a:lstStyle/>
          <a:p>
            <a:r>
              <a:rPr lang="en-US" sz="3200" spc="300" dirty="0">
                <a:solidFill>
                  <a:schemeClr val="bg1"/>
                </a:solidFill>
                <a:latin typeface="RQND Pro UltraWide" panose="020B0604020202020204" charset="0"/>
                <a:cs typeface="Times New Roman" panose="02020603050405020304" pitchFamily="18" charset="0"/>
              </a:rPr>
              <a:t>CORE MODELS</a:t>
            </a:r>
          </a:p>
        </p:txBody>
      </p:sp>
      <p:sp>
        <p:nvSpPr>
          <p:cNvPr id="9" name="TextBox 8">
            <a:extLst>
              <a:ext uri="{FF2B5EF4-FFF2-40B4-BE49-F238E27FC236}">
                <a16:creationId xmlns:a16="http://schemas.microsoft.com/office/drawing/2014/main" id="{49CA40FC-0B04-E174-661D-3D3E05C858E6}"/>
              </a:ext>
            </a:extLst>
          </p:cNvPr>
          <p:cNvSpPr txBox="1"/>
          <p:nvPr/>
        </p:nvSpPr>
        <p:spPr>
          <a:xfrm>
            <a:off x="8809228" y="2623919"/>
            <a:ext cx="8644581" cy="5324535"/>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NUMPY &gt;= 1.21.0</a:t>
            </a:r>
          </a:p>
          <a:p>
            <a:r>
              <a:rPr lang="en-US" sz="2000" b="1" dirty="0">
                <a:solidFill>
                  <a:schemeClr val="bg1"/>
                </a:solidFill>
                <a:latin typeface="Times New Roman" panose="02020603050405020304" pitchFamily="18" charset="0"/>
                <a:cs typeface="Times New Roman" panose="02020603050405020304" pitchFamily="18" charset="0"/>
              </a:rPr>
              <a:t>Role:</a:t>
            </a:r>
            <a:r>
              <a:rPr lang="en-US" sz="2000" dirty="0">
                <a:solidFill>
                  <a:schemeClr val="bg1"/>
                </a:solidFill>
                <a:latin typeface="Times New Roman" panose="02020603050405020304" pitchFamily="18" charset="0"/>
                <a:cs typeface="Times New Roman" panose="02020603050405020304" pitchFamily="18" charset="0"/>
              </a:rPr>
              <a:t> Core numerical array library</a:t>
            </a:r>
          </a:p>
          <a:p>
            <a:endParaRPr lang="en-US" sz="2000" b="1"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PANDAS &gt;= 1.3.3</a:t>
            </a:r>
          </a:p>
          <a:p>
            <a:r>
              <a:rPr lang="en-US" sz="2000" b="1" dirty="0">
                <a:solidFill>
                  <a:schemeClr val="bg1"/>
                </a:solidFill>
                <a:latin typeface="Times New Roman" panose="02020603050405020304" pitchFamily="18" charset="0"/>
                <a:cs typeface="Times New Roman" panose="02020603050405020304" pitchFamily="18" charset="0"/>
              </a:rPr>
              <a:t>Role:</a:t>
            </a:r>
            <a:r>
              <a:rPr lang="en-US" sz="2000" dirty="0">
                <a:solidFill>
                  <a:schemeClr val="bg1"/>
                </a:solidFill>
                <a:latin typeface="Times New Roman" panose="02020603050405020304" pitchFamily="18" charset="0"/>
                <a:cs typeface="Times New Roman" panose="02020603050405020304" pitchFamily="18" charset="0"/>
              </a:rPr>
              <a:t> Structured data handling</a:t>
            </a:r>
          </a:p>
          <a:p>
            <a:endParaRPr lang="en-US" sz="2000" b="1"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OPENCV-PYTHON &gt;= 4.5.3</a:t>
            </a:r>
          </a:p>
          <a:p>
            <a:r>
              <a:rPr lang="en-US" sz="2000" b="1" dirty="0">
                <a:solidFill>
                  <a:schemeClr val="bg1"/>
                </a:solidFill>
                <a:latin typeface="Times New Roman" panose="02020603050405020304" pitchFamily="18" charset="0"/>
                <a:cs typeface="Times New Roman" panose="02020603050405020304" pitchFamily="18" charset="0"/>
              </a:rPr>
              <a:t>Role:</a:t>
            </a:r>
            <a:r>
              <a:rPr lang="en-US" sz="2000" dirty="0">
                <a:solidFill>
                  <a:schemeClr val="bg1"/>
                </a:solidFill>
                <a:latin typeface="Times New Roman" panose="02020603050405020304" pitchFamily="18" charset="0"/>
                <a:cs typeface="Times New Roman" panose="02020603050405020304" pitchFamily="18" charset="0"/>
              </a:rPr>
              <a:t> Low-level computer vision &amp; video I/O</a:t>
            </a:r>
          </a:p>
          <a:p>
            <a:r>
              <a:rPr lang="en-US" sz="2000" dirty="0">
                <a:solidFill>
                  <a:schemeClr val="bg1"/>
                </a:solidFill>
                <a:latin typeface="Times New Roman" panose="02020603050405020304" pitchFamily="18" charset="0"/>
                <a:cs typeface="Times New Roman" panose="02020603050405020304" pitchFamily="18" charset="0"/>
              </a:rPr>
              <a:t>Acts as the bridge between raw camera input and AI models.</a:t>
            </a: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OPEN3D &gt;= 0.13.0</a:t>
            </a:r>
          </a:p>
          <a:p>
            <a:r>
              <a:rPr lang="en-US" sz="2000" b="1" dirty="0">
                <a:solidFill>
                  <a:schemeClr val="bg1"/>
                </a:solidFill>
                <a:latin typeface="Times New Roman" panose="02020603050405020304" pitchFamily="18" charset="0"/>
                <a:cs typeface="Times New Roman" panose="02020603050405020304" pitchFamily="18" charset="0"/>
              </a:rPr>
              <a:t>Role:</a:t>
            </a:r>
            <a:r>
              <a:rPr lang="en-US" sz="2000" dirty="0">
                <a:solidFill>
                  <a:schemeClr val="bg1"/>
                </a:solidFill>
                <a:latin typeface="Times New Roman" panose="02020603050405020304" pitchFamily="18" charset="0"/>
                <a:cs typeface="Times New Roman" panose="02020603050405020304" pitchFamily="18" charset="0"/>
              </a:rPr>
              <a:t> 3D data processing and visualization</a:t>
            </a:r>
          </a:p>
          <a:p>
            <a:r>
              <a:rPr lang="en-US" sz="2000" dirty="0">
                <a:solidFill>
                  <a:schemeClr val="bg1"/>
                </a:solidFill>
                <a:latin typeface="Times New Roman" panose="02020603050405020304" pitchFamily="18" charset="0"/>
                <a:cs typeface="Times New Roman" panose="02020603050405020304" pitchFamily="18" charset="0"/>
              </a:rPr>
              <a:t>Point cloud creation from monocular </a:t>
            </a:r>
            <a:r>
              <a:rPr lang="en-US" sz="2000">
                <a:solidFill>
                  <a:schemeClr val="bg1"/>
                </a:solidFill>
                <a:latin typeface="Times New Roman" panose="02020603050405020304" pitchFamily="18" charset="0"/>
                <a:cs typeface="Times New Roman" panose="02020603050405020304" pitchFamily="18" charset="0"/>
              </a:rPr>
              <a:t>depth maps</a:t>
            </a:r>
            <a:br>
              <a:rPr lang="en-US" sz="2000">
                <a:solidFill>
                  <a:schemeClr val="bg1"/>
                </a:solidFill>
                <a:latin typeface="Times New Roman" panose="02020603050405020304" pitchFamily="18" charset="0"/>
                <a:cs typeface="Times New Roman" panose="02020603050405020304" pitchFamily="18" charset="0"/>
              </a:rPr>
            </a:br>
            <a:r>
              <a:rPr lang="en-US" sz="2000">
                <a:solidFill>
                  <a:schemeClr val="bg1"/>
                </a:solidFill>
                <a:latin typeface="Times New Roman" panose="02020603050405020304" pitchFamily="18" charset="0"/>
                <a:cs typeface="Times New Roman" panose="02020603050405020304" pitchFamily="18" charset="0"/>
              </a:rPr>
              <a:t>Wireframe </a:t>
            </a:r>
            <a:r>
              <a:rPr lang="en-US" sz="2000" dirty="0">
                <a:solidFill>
                  <a:schemeClr val="bg1"/>
                </a:solidFill>
                <a:latin typeface="Times New Roman" panose="02020603050405020304" pitchFamily="18" charset="0"/>
                <a:cs typeface="Times New Roman" panose="02020603050405020304" pitchFamily="18" charset="0"/>
              </a:rPr>
              <a:t>/ surface mesh reconstruction</a:t>
            </a: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PYCUDA &gt;= 2021.1.1</a:t>
            </a:r>
          </a:p>
          <a:p>
            <a:r>
              <a:rPr lang="en-US" sz="2000" dirty="0">
                <a:solidFill>
                  <a:schemeClr val="bg1"/>
                </a:solidFill>
                <a:latin typeface="Times New Roman" panose="02020603050405020304" pitchFamily="18" charset="0"/>
                <a:cs typeface="Times New Roman" panose="02020603050405020304" pitchFamily="18" charset="0"/>
              </a:rPr>
              <a:t>GPU-based preprocessing/postprocessing</a:t>
            </a:r>
          </a:p>
        </p:txBody>
      </p:sp>
      <p:sp>
        <p:nvSpPr>
          <p:cNvPr id="12" name="TextBox 11">
            <a:extLst>
              <a:ext uri="{FF2B5EF4-FFF2-40B4-BE49-F238E27FC236}">
                <a16:creationId xmlns:a16="http://schemas.microsoft.com/office/drawing/2014/main" id="{7A1C151B-B47A-ABDB-9695-E34EC7BF9B7E}"/>
              </a:ext>
            </a:extLst>
          </p:cNvPr>
          <p:cNvSpPr txBox="1"/>
          <p:nvPr/>
        </p:nvSpPr>
        <p:spPr>
          <a:xfrm>
            <a:off x="1066800" y="2041797"/>
            <a:ext cx="3505200" cy="400110"/>
          </a:xfrm>
          <a:prstGeom prst="rect">
            <a:avLst/>
          </a:prstGeom>
          <a:noFill/>
        </p:spPr>
        <p:txBody>
          <a:bodyPr wrap="square" rtlCol="0">
            <a:spAutoFit/>
          </a:bodyPr>
          <a:lstStyle/>
          <a:p>
            <a:r>
              <a:rPr lang="en-US" sz="2000" spc="300" dirty="0">
                <a:solidFill>
                  <a:schemeClr val="bg1"/>
                </a:solidFill>
                <a:latin typeface="RQND Pro UltraWide" panose="020B0604020202020204" charset="0"/>
              </a:rPr>
              <a:t>ENVIRONMENTS</a:t>
            </a:r>
          </a:p>
        </p:txBody>
      </p:sp>
      <p:sp>
        <p:nvSpPr>
          <p:cNvPr id="13" name="TextBox 12">
            <a:extLst>
              <a:ext uri="{FF2B5EF4-FFF2-40B4-BE49-F238E27FC236}">
                <a16:creationId xmlns:a16="http://schemas.microsoft.com/office/drawing/2014/main" id="{4798F636-CF45-4AA7-93A2-86D845388BF1}"/>
              </a:ext>
            </a:extLst>
          </p:cNvPr>
          <p:cNvSpPr txBox="1"/>
          <p:nvPr/>
        </p:nvSpPr>
        <p:spPr>
          <a:xfrm>
            <a:off x="1079500" y="2626572"/>
            <a:ext cx="5762244" cy="2246769"/>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PYTHON &gt;= 3.10</a:t>
            </a:r>
          </a:p>
          <a:p>
            <a:r>
              <a:rPr lang="fr-FR" sz="2000" dirty="0">
                <a:solidFill>
                  <a:schemeClr val="bg1"/>
                </a:solidFill>
                <a:latin typeface="Times New Roman" panose="02020603050405020304" pitchFamily="18" charset="0"/>
                <a:cs typeface="Times New Roman" panose="02020603050405020304" pitchFamily="18" charset="0"/>
              </a:rPr>
              <a:t>Runtime / </a:t>
            </a:r>
            <a:r>
              <a:rPr lang="fr-FR" sz="2000" dirty="0" err="1">
                <a:solidFill>
                  <a:schemeClr val="bg1"/>
                </a:solidFill>
                <a:latin typeface="Times New Roman" panose="02020603050405020304" pitchFamily="18" charset="0"/>
                <a:cs typeface="Times New Roman" panose="02020603050405020304" pitchFamily="18" charset="0"/>
              </a:rPr>
              <a:t>Programming</a:t>
            </a:r>
            <a:r>
              <a:rPr lang="fr-FR" sz="2000" dirty="0">
                <a:solidFill>
                  <a:schemeClr val="bg1"/>
                </a:solidFill>
                <a:latin typeface="Times New Roman" panose="02020603050405020304" pitchFamily="18" charset="0"/>
                <a:cs typeface="Times New Roman" panose="02020603050405020304" pitchFamily="18" charset="0"/>
              </a:rPr>
              <a:t> </a:t>
            </a:r>
            <a:r>
              <a:rPr lang="fr-FR" sz="2000" dirty="0" err="1">
                <a:solidFill>
                  <a:schemeClr val="bg1"/>
                </a:solidFill>
                <a:latin typeface="Times New Roman" panose="02020603050405020304" pitchFamily="18" charset="0"/>
                <a:cs typeface="Times New Roman" panose="02020603050405020304" pitchFamily="18" charset="0"/>
              </a:rPr>
              <a:t>Language</a:t>
            </a:r>
            <a:r>
              <a:rPr lang="fr-FR" sz="2000" dirty="0">
                <a:solidFill>
                  <a:schemeClr val="bg1"/>
                </a:solidFill>
                <a:latin typeface="Times New Roman" panose="02020603050405020304" pitchFamily="18" charset="0"/>
                <a:cs typeface="Times New Roman" panose="02020603050405020304" pitchFamily="18" charset="0"/>
              </a:rPr>
              <a:t> </a:t>
            </a:r>
            <a:r>
              <a:rPr lang="fr-FR" sz="2000" dirty="0" err="1">
                <a:solidFill>
                  <a:schemeClr val="bg1"/>
                </a:solidFill>
                <a:latin typeface="Times New Roman" panose="02020603050405020304" pitchFamily="18" charset="0"/>
                <a:cs typeface="Times New Roman" panose="02020603050405020304" pitchFamily="18" charset="0"/>
              </a:rPr>
              <a:t>Environment</a:t>
            </a:r>
            <a:endParaRPr lang="fr-FR" sz="2000" dirty="0">
              <a:solidFill>
                <a:schemeClr val="bg1"/>
              </a:solidFill>
              <a:latin typeface="Times New Roman" panose="02020603050405020304" pitchFamily="18" charset="0"/>
              <a:cs typeface="Times New Roman" panose="02020603050405020304" pitchFamily="18" charset="0"/>
            </a:endParaRPr>
          </a:p>
          <a:p>
            <a:endParaRPr lang="en-US" sz="2000" dirty="0">
              <a:solidFill>
                <a:schemeClr val="bg1"/>
              </a:solidFill>
              <a:latin typeface="Times New Roman" panose="02020603050405020304" pitchFamily="18" charset="0"/>
              <a:cs typeface="Times New Roman" panose="02020603050405020304" pitchFamily="18" charset="0"/>
            </a:endParaRPr>
          </a:p>
          <a:p>
            <a:r>
              <a:rPr lang="fr-FR" sz="2000" b="1" dirty="0">
                <a:solidFill>
                  <a:schemeClr val="bg1"/>
                </a:solidFill>
                <a:latin typeface="Times New Roman" panose="02020603050405020304" pitchFamily="18" charset="0"/>
                <a:cs typeface="Times New Roman" panose="02020603050405020304" pitchFamily="18" charset="0"/>
              </a:rPr>
              <a:t>JUPYTER NOTEBOOK</a:t>
            </a:r>
          </a:p>
          <a:p>
            <a:r>
              <a:rPr lang="fr-FR" sz="2000" dirty="0">
                <a:solidFill>
                  <a:schemeClr val="bg1"/>
                </a:solidFill>
                <a:latin typeface="Times New Roman" panose="02020603050405020304" pitchFamily="18" charset="0"/>
                <a:cs typeface="Times New Roman" panose="02020603050405020304" pitchFamily="18" charset="0"/>
              </a:rPr>
              <a:t>Interactive </a:t>
            </a:r>
            <a:r>
              <a:rPr lang="fr-FR" sz="2000" dirty="0" err="1">
                <a:solidFill>
                  <a:schemeClr val="bg1"/>
                </a:solidFill>
                <a:latin typeface="Times New Roman" panose="02020603050405020304" pitchFamily="18" charset="0"/>
                <a:cs typeface="Times New Roman" panose="02020603050405020304" pitchFamily="18" charset="0"/>
              </a:rPr>
              <a:t>Development</a:t>
            </a:r>
            <a:r>
              <a:rPr lang="fr-FR" sz="2000" dirty="0">
                <a:solidFill>
                  <a:schemeClr val="bg1"/>
                </a:solidFill>
                <a:latin typeface="Times New Roman" panose="02020603050405020304" pitchFamily="18" charset="0"/>
                <a:cs typeface="Times New Roman" panose="02020603050405020304" pitchFamily="18" charset="0"/>
              </a:rPr>
              <a:t> </a:t>
            </a:r>
            <a:r>
              <a:rPr lang="fr-FR" sz="2000" dirty="0" err="1">
                <a:solidFill>
                  <a:schemeClr val="bg1"/>
                </a:solidFill>
                <a:latin typeface="Times New Roman" panose="02020603050405020304" pitchFamily="18" charset="0"/>
                <a:cs typeface="Times New Roman" panose="02020603050405020304" pitchFamily="18" charset="0"/>
              </a:rPr>
              <a:t>Environment</a:t>
            </a:r>
            <a:r>
              <a:rPr lang="fr-FR" sz="2000" dirty="0">
                <a:solidFill>
                  <a:schemeClr val="bg1"/>
                </a:solidFill>
                <a:latin typeface="Times New Roman" panose="02020603050405020304" pitchFamily="18" charset="0"/>
                <a:cs typeface="Times New Roman" panose="02020603050405020304" pitchFamily="18" charset="0"/>
              </a:rPr>
              <a:t> (IDE) / </a:t>
            </a:r>
            <a:r>
              <a:rPr lang="fr-FR" sz="2000" dirty="0" err="1">
                <a:solidFill>
                  <a:schemeClr val="bg1"/>
                </a:solidFill>
                <a:latin typeface="Times New Roman" panose="02020603050405020304" pitchFamily="18" charset="0"/>
                <a:cs typeface="Times New Roman" panose="02020603050405020304" pitchFamily="18" charset="0"/>
              </a:rPr>
              <a:t>Computational</a:t>
            </a:r>
            <a:r>
              <a:rPr lang="fr-FR" sz="2000" dirty="0">
                <a:solidFill>
                  <a:schemeClr val="bg1"/>
                </a:solidFill>
                <a:latin typeface="Times New Roman" panose="02020603050405020304" pitchFamily="18" charset="0"/>
                <a:cs typeface="Times New Roman" panose="02020603050405020304" pitchFamily="18" charset="0"/>
              </a:rPr>
              <a:t> </a:t>
            </a:r>
            <a:r>
              <a:rPr lang="fr-FR" sz="2000" dirty="0" err="1">
                <a:solidFill>
                  <a:schemeClr val="bg1"/>
                </a:solidFill>
                <a:latin typeface="Times New Roman" panose="02020603050405020304" pitchFamily="18" charset="0"/>
                <a:cs typeface="Times New Roman" panose="02020603050405020304" pitchFamily="18" charset="0"/>
              </a:rPr>
              <a:t>Environment</a:t>
            </a:r>
            <a:endParaRPr lang="fr-FR" sz="2000" dirty="0">
              <a:solidFill>
                <a:schemeClr val="bg1"/>
              </a:solidFill>
              <a:latin typeface="Times New Roman" panose="02020603050405020304" pitchFamily="18" charset="0"/>
              <a:cs typeface="Times New Roman" panose="02020603050405020304" pitchFamily="18" charset="0"/>
            </a:endParaRPr>
          </a:p>
          <a:p>
            <a:endParaRPr lang="en-US" sz="2000" dirty="0">
              <a:solidFill>
                <a:schemeClr val="bg1"/>
              </a:solidFill>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8A042AF-A090-B7C3-E814-94BA28C3FEF0}"/>
              </a:ext>
            </a:extLst>
          </p:cNvPr>
          <p:cNvSpPr txBox="1"/>
          <p:nvPr/>
        </p:nvSpPr>
        <p:spPr>
          <a:xfrm>
            <a:off x="1081278" y="5204442"/>
            <a:ext cx="3810000" cy="400110"/>
          </a:xfrm>
          <a:prstGeom prst="rect">
            <a:avLst/>
          </a:prstGeom>
          <a:noFill/>
        </p:spPr>
        <p:txBody>
          <a:bodyPr wrap="square" rtlCol="0">
            <a:spAutoFit/>
          </a:bodyPr>
          <a:lstStyle/>
          <a:p>
            <a:r>
              <a:rPr lang="en-US" sz="2000" spc="300" dirty="0">
                <a:solidFill>
                  <a:schemeClr val="bg1"/>
                </a:solidFill>
                <a:latin typeface="RQND Pro UltraWide" panose="020B0604020202020204" charset="0"/>
              </a:rPr>
              <a:t>FRAMEWORKS</a:t>
            </a:r>
          </a:p>
        </p:txBody>
      </p:sp>
      <p:sp>
        <p:nvSpPr>
          <p:cNvPr id="16" name="TextBox 15">
            <a:extLst>
              <a:ext uri="{FF2B5EF4-FFF2-40B4-BE49-F238E27FC236}">
                <a16:creationId xmlns:a16="http://schemas.microsoft.com/office/drawing/2014/main" id="{01C5F648-622D-151E-118A-14AC8E97A65E}"/>
              </a:ext>
            </a:extLst>
          </p:cNvPr>
          <p:cNvSpPr txBox="1"/>
          <p:nvPr/>
        </p:nvSpPr>
        <p:spPr>
          <a:xfrm>
            <a:off x="1081278" y="5902719"/>
            <a:ext cx="5762244" cy="3170099"/>
          </a:xfrm>
          <a:prstGeom prst="rect">
            <a:avLst/>
          </a:prstGeom>
          <a:noFill/>
        </p:spPr>
        <p:txBody>
          <a:bodyPr wrap="square" rtlCol="0">
            <a:spAutoFit/>
          </a:bodyPr>
          <a:lstStyle/>
          <a:p>
            <a:r>
              <a:rPr lang="en-US" sz="2000" b="1" dirty="0">
                <a:solidFill>
                  <a:schemeClr val="bg1"/>
                </a:solidFill>
                <a:latin typeface="Times New Roman" panose="02020603050405020304" pitchFamily="18" charset="0"/>
                <a:cs typeface="Times New Roman" panose="02020603050405020304" pitchFamily="18" charset="0"/>
              </a:rPr>
              <a:t>TORCH &gt;= 1.10.0</a:t>
            </a:r>
          </a:p>
          <a:p>
            <a:r>
              <a:rPr lang="en-US" sz="2000" dirty="0">
                <a:solidFill>
                  <a:schemeClr val="bg1"/>
                </a:solidFill>
                <a:latin typeface="Times New Roman" panose="02020603050405020304" pitchFamily="18" charset="0"/>
                <a:cs typeface="Times New Roman" panose="02020603050405020304" pitchFamily="18" charset="0"/>
              </a:rPr>
              <a:t>GPU acceleration (CUDA)</a:t>
            </a:r>
          </a:p>
          <a:p>
            <a:r>
              <a:rPr lang="en-US" sz="2000" dirty="0">
                <a:solidFill>
                  <a:schemeClr val="bg1"/>
                </a:solidFill>
                <a:latin typeface="Times New Roman" panose="02020603050405020304" pitchFamily="18" charset="0"/>
                <a:cs typeface="Times New Roman" panose="02020603050405020304" pitchFamily="18" charset="0"/>
              </a:rPr>
              <a:t>Tensor operations for detection, depth estimation, and decision logic</a:t>
            </a:r>
          </a:p>
          <a:p>
            <a:r>
              <a:rPr lang="en-US" sz="2000" dirty="0">
                <a:solidFill>
                  <a:schemeClr val="bg1"/>
                </a:solidFill>
                <a:latin typeface="Times New Roman" panose="02020603050405020304" pitchFamily="18" charset="0"/>
                <a:cs typeface="Times New Roman" panose="02020603050405020304" pitchFamily="18" charset="0"/>
              </a:rPr>
              <a:t>The foundation of the entire AI pipeline.</a:t>
            </a: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ULTRALYTICS &gt;= 8.0.0</a:t>
            </a:r>
          </a:p>
          <a:p>
            <a:r>
              <a:rPr lang="en-US" sz="2000" dirty="0">
                <a:solidFill>
                  <a:schemeClr val="bg1"/>
                </a:solidFill>
                <a:latin typeface="Times New Roman" panose="02020603050405020304" pitchFamily="18" charset="0"/>
                <a:cs typeface="Times New Roman" panose="02020603050405020304" pitchFamily="18" charset="0"/>
              </a:rPr>
              <a:t>YOLOv8 framework</a:t>
            </a:r>
          </a:p>
          <a:p>
            <a:r>
              <a:rPr lang="en-US" sz="2000" dirty="0">
                <a:solidFill>
                  <a:schemeClr val="bg1"/>
                </a:solidFill>
                <a:latin typeface="Times New Roman" panose="02020603050405020304" pitchFamily="18" charset="0"/>
                <a:cs typeface="Times New Roman" panose="02020603050405020304" pitchFamily="18" charset="0"/>
              </a:rPr>
              <a:t>Real-time pothole detection (bounding boxes, confidence scores)</a:t>
            </a:r>
          </a:p>
        </p:txBody>
      </p:sp>
      <p:sp>
        <p:nvSpPr>
          <p:cNvPr id="17" name="TextBox 16">
            <a:extLst>
              <a:ext uri="{FF2B5EF4-FFF2-40B4-BE49-F238E27FC236}">
                <a16:creationId xmlns:a16="http://schemas.microsoft.com/office/drawing/2014/main" id="{E66C0515-FA70-C1D6-8ED5-08A4F860C519}"/>
              </a:ext>
            </a:extLst>
          </p:cNvPr>
          <p:cNvSpPr txBox="1"/>
          <p:nvPr/>
        </p:nvSpPr>
        <p:spPr>
          <a:xfrm>
            <a:off x="8809228" y="2041797"/>
            <a:ext cx="2819400" cy="400110"/>
          </a:xfrm>
          <a:prstGeom prst="rect">
            <a:avLst/>
          </a:prstGeom>
          <a:noFill/>
        </p:spPr>
        <p:txBody>
          <a:bodyPr wrap="square" rtlCol="0">
            <a:spAutoFit/>
          </a:bodyPr>
          <a:lstStyle/>
          <a:p>
            <a:r>
              <a:rPr lang="en-US" sz="2000" spc="300" dirty="0">
                <a:solidFill>
                  <a:schemeClr val="bg1"/>
                </a:solidFill>
                <a:latin typeface="RQND Pro UltraWide" panose="020B0604020202020204" charset="0"/>
              </a:rPr>
              <a:t>libraries</a:t>
            </a:r>
          </a:p>
        </p:txBody>
      </p:sp>
    </p:spTree>
    <p:extLst>
      <p:ext uri="{BB962C8B-B14F-4D97-AF65-F5344CB8AC3E}">
        <p14:creationId xmlns:p14="http://schemas.microsoft.com/office/powerpoint/2010/main" val="1030286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CURRENT STATUS</a:t>
            </a:r>
          </a:p>
        </p:txBody>
      </p:sp>
      <p:grpSp>
        <p:nvGrpSpPr>
          <p:cNvPr id="21" name="Group 21"/>
          <p:cNvGrpSpPr/>
          <p:nvPr/>
        </p:nvGrpSpPr>
        <p:grpSpPr>
          <a:xfrm>
            <a:off x="1028700" y="1866900"/>
            <a:ext cx="12458700" cy="7211238"/>
            <a:chOff x="0" y="0"/>
            <a:chExt cx="2717129" cy="1637498"/>
          </a:xfrm>
        </p:grpSpPr>
        <p:sp>
          <p:nvSpPr>
            <p:cNvPr id="22" name="Freeform 22"/>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sp>
        <p:sp>
          <p:nvSpPr>
            <p:cNvPr id="23" name="TextBox 23"/>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ED463882-5FAA-7E1B-B912-B4349827AF82}"/>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24</a:t>
            </a:r>
          </a:p>
        </p:txBody>
      </p:sp>
      <p:grpSp>
        <p:nvGrpSpPr>
          <p:cNvPr id="36" name="Group 34"/>
          <p:cNvGrpSpPr/>
          <p:nvPr/>
        </p:nvGrpSpPr>
        <p:grpSpPr>
          <a:xfrm>
            <a:off x="14157570" y="3223432"/>
            <a:ext cx="3473345" cy="4714531"/>
            <a:chOff x="0" y="0"/>
            <a:chExt cx="1824099" cy="2475934"/>
          </a:xfrm>
        </p:grpSpPr>
        <p:sp>
          <p:nvSpPr>
            <p:cNvPr id="37" name="Freeform 35"/>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4" name="TextBox 3">
            <a:extLst>
              <a:ext uri="{FF2B5EF4-FFF2-40B4-BE49-F238E27FC236}">
                <a16:creationId xmlns:a16="http://schemas.microsoft.com/office/drawing/2014/main" id="{D615A659-7930-7967-B016-73DC64E2AD01}"/>
              </a:ext>
            </a:extLst>
          </p:cNvPr>
          <p:cNvSpPr txBox="1"/>
          <p:nvPr/>
        </p:nvSpPr>
        <p:spPr>
          <a:xfrm>
            <a:off x="1562100" y="2459189"/>
            <a:ext cx="11672237" cy="5565947"/>
          </a:xfrm>
          <a:prstGeom prst="rect">
            <a:avLst/>
          </a:prstGeom>
          <a:noFill/>
        </p:spPr>
        <p:txBody>
          <a:bodyPr wrap="square">
            <a:spAutoFit/>
          </a:bodyPr>
          <a:lstStyle/>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 Selected the base paper for core methodology reference.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Analyzed and understood existing systems and architectures.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problem statement and real-world constraints.</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Completed a detailed literature survey covering detection, depth estimation, and 3D reconstruction.</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Identified the technology stack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Open3D).</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Completed research on the integration of detection + depth + mesh reconstruction pipeline.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Refined the design for the proposed system architecture.</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Preparing dataset collection and preprocessing plan for implementation.</a:t>
            </a:r>
          </a:p>
          <a:p>
            <a:pPr marL="285750" indent="-285750">
              <a:lnSpc>
                <a:spcPct val="150000"/>
              </a:lnSpc>
              <a:buFont typeface="Wingdings" panose="05000000000000000000" pitchFamily="2" charset="2"/>
              <a:buChar char="v"/>
            </a:pPr>
            <a:r>
              <a:rPr lang="en-US" sz="2400" dirty="0">
                <a:solidFill>
                  <a:schemeClr val="bg1"/>
                </a:solidFill>
                <a:latin typeface="Times New Roman" panose="02020603050405020304" pitchFamily="18" charset="0"/>
                <a:cs typeface="Times New Roman" panose="02020603050405020304" pitchFamily="18" charset="0"/>
              </a:rPr>
              <a:t>Setting up Environment </a:t>
            </a:r>
          </a:p>
        </p:txBody>
      </p:sp>
      <p:sp>
        <p:nvSpPr>
          <p:cNvPr id="3" name="TextBox 2">
            <a:extLst>
              <a:ext uri="{FF2B5EF4-FFF2-40B4-BE49-F238E27FC236}">
                <a16:creationId xmlns:a16="http://schemas.microsoft.com/office/drawing/2014/main" id="{0B54B707-C2FF-0E03-379D-99A511D5644A}"/>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6D72C-9209-B771-18F7-4240897D5F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EE8FCE4B-6759-BDAC-A6C6-EF08C23316D0}"/>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EA22C5B1-0CEB-CE30-8A82-C151C5A58A9A}"/>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CONCLUSION</a:t>
            </a:r>
          </a:p>
        </p:txBody>
      </p:sp>
      <p:grpSp>
        <p:nvGrpSpPr>
          <p:cNvPr id="21" name="Group 21">
            <a:extLst>
              <a:ext uri="{FF2B5EF4-FFF2-40B4-BE49-F238E27FC236}">
                <a16:creationId xmlns:a16="http://schemas.microsoft.com/office/drawing/2014/main" id="{E2994DC1-E5EB-7DB6-7952-3D42C35F4BE1}"/>
              </a:ext>
            </a:extLst>
          </p:cNvPr>
          <p:cNvGrpSpPr/>
          <p:nvPr/>
        </p:nvGrpSpPr>
        <p:grpSpPr>
          <a:xfrm>
            <a:off x="1028700" y="1866900"/>
            <a:ext cx="11766133" cy="7461726"/>
            <a:chOff x="0" y="0"/>
            <a:chExt cx="2717129" cy="1637498"/>
          </a:xfrm>
        </p:grpSpPr>
        <p:sp>
          <p:nvSpPr>
            <p:cNvPr id="22" name="Freeform 22">
              <a:extLst>
                <a:ext uri="{FF2B5EF4-FFF2-40B4-BE49-F238E27FC236}">
                  <a16:creationId xmlns:a16="http://schemas.microsoft.com/office/drawing/2014/main" id="{27A9B223-3EDD-80D0-615D-9D734BC77FB8}"/>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pPr algn="just">
                <a:lnSpc>
                  <a:spcPct val="200000"/>
                </a:lnSpc>
              </a:pPr>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23" name="TextBox 23">
              <a:extLst>
                <a:ext uri="{FF2B5EF4-FFF2-40B4-BE49-F238E27FC236}">
                  <a16:creationId xmlns:a16="http://schemas.microsoft.com/office/drawing/2014/main" id="{EDBC1BBA-E0C0-EB37-0C90-D1D1A5BA2219}"/>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3B4B9C5-9C9E-F886-4CC7-CB6F95B0D5B7}"/>
              </a:ext>
            </a:extLst>
          </p:cNvPr>
          <p:cNvSpPr txBox="1"/>
          <p:nvPr/>
        </p:nvSpPr>
        <p:spPr>
          <a:xfrm>
            <a:off x="15544800" y="9328626"/>
            <a:ext cx="28194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25</a:t>
            </a:r>
          </a:p>
        </p:txBody>
      </p:sp>
      <p:grpSp>
        <p:nvGrpSpPr>
          <p:cNvPr id="36" name="Group 34">
            <a:extLst>
              <a:ext uri="{FF2B5EF4-FFF2-40B4-BE49-F238E27FC236}">
                <a16:creationId xmlns:a16="http://schemas.microsoft.com/office/drawing/2014/main" id="{5CE240B0-039D-9B77-8FB7-924B286DF65E}"/>
              </a:ext>
            </a:extLst>
          </p:cNvPr>
          <p:cNvGrpSpPr/>
          <p:nvPr/>
        </p:nvGrpSpPr>
        <p:grpSpPr>
          <a:xfrm>
            <a:off x="13703222" y="3009900"/>
            <a:ext cx="3835556" cy="5029200"/>
            <a:chOff x="0" y="0"/>
            <a:chExt cx="1824099" cy="2475934"/>
          </a:xfrm>
          <a:blipFill>
            <a:blip r:embed="rId3"/>
            <a:stretch>
              <a:fillRect/>
            </a:stretch>
          </a:blipFill>
        </p:grpSpPr>
        <p:sp>
          <p:nvSpPr>
            <p:cNvPr id="37" name="Freeform 35">
              <a:extLst>
                <a:ext uri="{FF2B5EF4-FFF2-40B4-BE49-F238E27FC236}">
                  <a16:creationId xmlns:a16="http://schemas.microsoft.com/office/drawing/2014/main" id="{AFFDE3C3-0B4D-A2CF-BE52-01ECEACE6638}"/>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dpi="0" rotWithShape="1">
              <a:blip r:embed="rId3"/>
              <a:srcRect/>
              <a:tile tx="0" ty="0" sx="50000" sy="50000" flip="none" algn="ctr"/>
            </a:blipFill>
          </p:spPr>
        </p:sp>
      </p:grpSp>
      <p:sp>
        <p:nvSpPr>
          <p:cNvPr id="5" name="TextBox 4">
            <a:extLst>
              <a:ext uri="{FF2B5EF4-FFF2-40B4-BE49-F238E27FC236}">
                <a16:creationId xmlns:a16="http://schemas.microsoft.com/office/drawing/2014/main" id="{E9250BE2-79A2-0266-00CC-436A4D097772}"/>
              </a:ext>
            </a:extLst>
          </p:cNvPr>
          <p:cNvSpPr txBox="1"/>
          <p:nvPr/>
        </p:nvSpPr>
        <p:spPr>
          <a:xfrm>
            <a:off x="1676400" y="2299989"/>
            <a:ext cx="10668000" cy="6634958"/>
          </a:xfrm>
          <a:prstGeom prst="rect">
            <a:avLst/>
          </a:prstGeom>
          <a:noFill/>
        </p:spPr>
        <p:txBody>
          <a:bodyPr wrap="square" rtlCol="0">
            <a:spAutoFit/>
          </a:bodyPr>
          <a:lstStyle/>
          <a:p>
            <a:pPr algn="just">
              <a:lnSpc>
                <a:spcPct val="200000"/>
              </a:lnSpc>
            </a:pPr>
            <a:r>
              <a:rPr lang="en-US" sz="2400" dirty="0">
                <a:solidFill>
                  <a:schemeClr val="bg1"/>
                </a:solidFill>
                <a:latin typeface="Times New Roman" panose="02020603050405020304" pitchFamily="18" charset="0"/>
                <a:cs typeface="Times New Roman" panose="02020603050405020304" pitchFamily="18" charset="0"/>
              </a:rPr>
              <a:t>This presentation established a strong foundation for a real-time wireframe-based pothole detection system by analyzing existing solutions, identifying key limitations, and defining a clear problem statement. Through an extensive literature survey, it highlighted advances in vision-based detection, depth estimation, and 3D reconstruction. The proposed solution, system workflow, and architecture outline a cost-effective, monocular camera pipeline using YOLOv8, </a:t>
            </a:r>
            <a:r>
              <a:rPr lang="en-US" sz="2400" dirty="0" err="1">
                <a:solidFill>
                  <a:schemeClr val="bg1"/>
                </a:solidFill>
                <a:latin typeface="Times New Roman" panose="02020603050405020304" pitchFamily="18" charset="0"/>
                <a:cs typeface="Times New Roman" panose="02020603050405020304" pitchFamily="18" charset="0"/>
              </a:rPr>
              <a:t>MiDaS</a:t>
            </a:r>
            <a:r>
              <a:rPr lang="en-US" sz="2400" dirty="0">
                <a:solidFill>
                  <a:schemeClr val="bg1"/>
                </a:solidFill>
                <a:latin typeface="Times New Roman" panose="02020603050405020304" pitchFamily="18" charset="0"/>
                <a:cs typeface="Times New Roman" panose="02020603050405020304" pitchFamily="18" charset="0"/>
              </a:rPr>
              <a:t>, and Open3D for accurate anomaly detection and geometry analysis. The defined hardware and software requirements provide a complete blueprint for implementation, enabling a structured and scalable path toward developing the final system.</a:t>
            </a:r>
          </a:p>
        </p:txBody>
      </p:sp>
      <p:sp>
        <p:nvSpPr>
          <p:cNvPr id="3" name="TextBox 2">
            <a:extLst>
              <a:ext uri="{FF2B5EF4-FFF2-40B4-BE49-F238E27FC236}">
                <a16:creationId xmlns:a16="http://schemas.microsoft.com/office/drawing/2014/main" id="{39F34AA7-DC2C-FF7B-93DA-105996C57A80}"/>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4199836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FE036-4CAD-3EFB-4BD3-9092DD5FCEF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063331F-EEA9-CFDD-E34A-871ED01F5951}"/>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sp>
        <p:nvSpPr>
          <p:cNvPr id="14" name="TextBox 14">
            <a:extLst>
              <a:ext uri="{FF2B5EF4-FFF2-40B4-BE49-F238E27FC236}">
                <a16:creationId xmlns:a16="http://schemas.microsoft.com/office/drawing/2014/main" id="{94E82AA0-7CEB-AE5F-EBF2-8CB6C48CC600}"/>
              </a:ext>
            </a:extLst>
          </p:cNvPr>
          <p:cNvSpPr txBox="1"/>
          <p:nvPr/>
        </p:nvSpPr>
        <p:spPr>
          <a:xfrm>
            <a:off x="952500" y="258514"/>
            <a:ext cx="13601700" cy="846386"/>
          </a:xfrm>
          <a:prstGeom prst="rect">
            <a:avLst/>
          </a:prstGeom>
        </p:spPr>
        <p:txBody>
          <a:bodyPr wrap="square" lIns="0" tIns="0" rIns="0" bIns="0" rtlCol="0" anchor="t">
            <a:spAutoFit/>
          </a:bodyPr>
          <a:lstStyle/>
          <a:p>
            <a:pPr algn="l"/>
            <a:r>
              <a:rPr lang="en-US" sz="5500" dirty="0">
                <a:solidFill>
                  <a:srgbClr val="DEF0FF"/>
                </a:solidFill>
                <a:latin typeface="RQND Pro UltraWide"/>
                <a:ea typeface="RQND Pro UltraWide"/>
                <a:cs typeface="RQND Pro UltraWide"/>
                <a:sym typeface="RQND Pro UltraWide"/>
              </a:rPr>
              <a:t>REFERENCE</a:t>
            </a:r>
          </a:p>
        </p:txBody>
      </p:sp>
      <p:grpSp>
        <p:nvGrpSpPr>
          <p:cNvPr id="21" name="Group 21">
            <a:extLst>
              <a:ext uri="{FF2B5EF4-FFF2-40B4-BE49-F238E27FC236}">
                <a16:creationId xmlns:a16="http://schemas.microsoft.com/office/drawing/2014/main" id="{867073BF-D04E-5EC5-5F32-38F78FADD1C7}"/>
              </a:ext>
            </a:extLst>
          </p:cNvPr>
          <p:cNvGrpSpPr/>
          <p:nvPr/>
        </p:nvGrpSpPr>
        <p:grpSpPr>
          <a:xfrm>
            <a:off x="266700" y="2400300"/>
            <a:ext cx="13601700" cy="4419600"/>
            <a:chOff x="0" y="0"/>
            <a:chExt cx="2717129" cy="1637498"/>
          </a:xfrm>
        </p:grpSpPr>
        <p:sp>
          <p:nvSpPr>
            <p:cNvPr id="22" name="Freeform 22">
              <a:extLst>
                <a:ext uri="{FF2B5EF4-FFF2-40B4-BE49-F238E27FC236}">
                  <a16:creationId xmlns:a16="http://schemas.microsoft.com/office/drawing/2014/main" id="{4623065F-F616-0EFB-1CD0-1A7176828C83}"/>
                </a:ext>
              </a:extLst>
            </p:cNvPr>
            <p:cNvSpPr/>
            <p:nvPr/>
          </p:nvSpPr>
          <p:spPr>
            <a:xfrm>
              <a:off x="0" y="0"/>
              <a:ext cx="2717129" cy="1637498"/>
            </a:xfrm>
            <a:custGeom>
              <a:avLst/>
              <a:gdLst/>
              <a:ahLst/>
              <a:cxnLst/>
              <a:rect l="l" t="t" r="r" b="b"/>
              <a:pathLst>
                <a:path w="2717129" h="1637498">
                  <a:moveTo>
                    <a:pt x="2557109" y="0"/>
                  </a:moveTo>
                  <a:lnTo>
                    <a:pt x="160020" y="0"/>
                  </a:lnTo>
                  <a:lnTo>
                    <a:pt x="0" y="160020"/>
                  </a:lnTo>
                  <a:lnTo>
                    <a:pt x="0" y="1477478"/>
                  </a:lnTo>
                  <a:lnTo>
                    <a:pt x="160020" y="1637498"/>
                  </a:lnTo>
                  <a:lnTo>
                    <a:pt x="2557109" y="1637498"/>
                  </a:lnTo>
                  <a:lnTo>
                    <a:pt x="2717129" y="1477478"/>
                  </a:lnTo>
                  <a:lnTo>
                    <a:pt x="2717129" y="160020"/>
                  </a:lnTo>
                  <a:lnTo>
                    <a:pt x="2557109" y="0"/>
                  </a:lnTo>
                  <a:close/>
                </a:path>
              </a:pathLst>
            </a:custGeom>
            <a:solidFill>
              <a:srgbClr val="000000">
                <a:alpha val="0"/>
              </a:srgbClr>
            </a:solidFill>
            <a:ln w="9525" cap="sq">
              <a:solidFill>
                <a:srgbClr val="3B4C7D"/>
              </a:solidFill>
              <a:prstDash val="solid"/>
              <a:miter/>
            </a:ln>
          </p:spPr>
          <p:txBody>
            <a:bodyPr/>
            <a:lstStyle/>
            <a:p>
              <a:endParaRPr lang="en-US" dirty="0"/>
            </a:p>
          </p:txBody>
        </p:sp>
        <p:sp>
          <p:nvSpPr>
            <p:cNvPr id="23" name="TextBox 23">
              <a:extLst>
                <a:ext uri="{FF2B5EF4-FFF2-40B4-BE49-F238E27FC236}">
                  <a16:creationId xmlns:a16="http://schemas.microsoft.com/office/drawing/2014/main" id="{32F4171F-2E5B-F821-80CB-9917990D5D95}"/>
                </a:ext>
              </a:extLst>
            </p:cNvPr>
            <p:cNvSpPr txBox="1"/>
            <p:nvPr/>
          </p:nvSpPr>
          <p:spPr>
            <a:xfrm>
              <a:off x="63500" y="6350"/>
              <a:ext cx="2590129" cy="1567648"/>
            </a:xfrm>
            <a:prstGeom prst="rect">
              <a:avLst/>
            </a:prstGeom>
          </p:spPr>
          <p:txBody>
            <a:bodyPr lIns="50800" tIns="50800" rIns="50800" bIns="50800" rtlCol="0" anchor="ctr"/>
            <a:lstStyle/>
            <a:p>
              <a:pPr algn="ctr">
                <a:lnSpc>
                  <a:spcPts val="1960"/>
                </a:lnSpc>
              </a:pPr>
              <a:endParaRPr/>
            </a:p>
          </p:txBody>
        </p:sp>
      </p:grpSp>
      <p:sp>
        <p:nvSpPr>
          <p:cNvPr id="35" name="TextBox 34">
            <a:extLst>
              <a:ext uri="{FF2B5EF4-FFF2-40B4-BE49-F238E27FC236}">
                <a16:creationId xmlns:a16="http://schemas.microsoft.com/office/drawing/2014/main" id="{1A8B35EF-2428-4391-F346-374A0752F2F4}"/>
              </a:ext>
            </a:extLst>
          </p:cNvPr>
          <p:cNvSpPr txBox="1"/>
          <p:nvPr/>
        </p:nvSpPr>
        <p:spPr>
          <a:xfrm>
            <a:off x="15544800" y="9328626"/>
            <a:ext cx="27432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26</a:t>
            </a:r>
          </a:p>
        </p:txBody>
      </p:sp>
      <p:grpSp>
        <p:nvGrpSpPr>
          <p:cNvPr id="36" name="Group 34">
            <a:extLst>
              <a:ext uri="{FF2B5EF4-FFF2-40B4-BE49-F238E27FC236}">
                <a16:creationId xmlns:a16="http://schemas.microsoft.com/office/drawing/2014/main" id="{9D23DBE6-0D91-6458-8832-F420A8B96750}"/>
              </a:ext>
            </a:extLst>
          </p:cNvPr>
          <p:cNvGrpSpPr/>
          <p:nvPr/>
        </p:nvGrpSpPr>
        <p:grpSpPr>
          <a:xfrm>
            <a:off x="14097000" y="2552700"/>
            <a:ext cx="3473345" cy="4714531"/>
            <a:chOff x="0" y="0"/>
            <a:chExt cx="1824099" cy="2475934"/>
          </a:xfrm>
        </p:grpSpPr>
        <p:sp>
          <p:nvSpPr>
            <p:cNvPr id="37" name="Freeform 35">
              <a:extLst>
                <a:ext uri="{FF2B5EF4-FFF2-40B4-BE49-F238E27FC236}">
                  <a16:creationId xmlns:a16="http://schemas.microsoft.com/office/drawing/2014/main" id="{183AEBDD-5EE5-675A-0164-7D70F1DF87FA}"/>
                </a:ext>
              </a:extLst>
            </p:cNvPr>
            <p:cNvSpPr/>
            <p:nvPr/>
          </p:nvSpPr>
          <p:spPr>
            <a:xfrm>
              <a:off x="0" y="0"/>
              <a:ext cx="1824099" cy="2475934"/>
            </a:xfrm>
            <a:custGeom>
              <a:avLst/>
              <a:gdLst/>
              <a:ahLst/>
              <a:cxnLst/>
              <a:rect l="l" t="t" r="r" b="b"/>
              <a:pathLst>
                <a:path w="1824099" h="2475934">
                  <a:moveTo>
                    <a:pt x="1585974" y="0"/>
                  </a:moveTo>
                  <a:lnTo>
                    <a:pt x="1824099" y="238125"/>
                  </a:lnTo>
                  <a:lnTo>
                    <a:pt x="1824099" y="2237809"/>
                  </a:lnTo>
                  <a:lnTo>
                    <a:pt x="1585974" y="2475934"/>
                  </a:lnTo>
                  <a:lnTo>
                    <a:pt x="238125" y="2475934"/>
                  </a:lnTo>
                  <a:lnTo>
                    <a:pt x="0" y="2237809"/>
                  </a:lnTo>
                  <a:lnTo>
                    <a:pt x="0" y="238125"/>
                  </a:lnTo>
                  <a:lnTo>
                    <a:pt x="238125" y="0"/>
                  </a:lnTo>
                  <a:lnTo>
                    <a:pt x="1585974" y="0"/>
                  </a:lnTo>
                  <a:close/>
                </a:path>
              </a:pathLst>
            </a:custGeom>
            <a:blipFill>
              <a:blip r:embed="rId3"/>
              <a:stretch>
                <a:fillRect l="-63112" r="-63112"/>
              </a:stretch>
            </a:blipFill>
          </p:spPr>
        </p:sp>
      </p:grpSp>
      <p:sp>
        <p:nvSpPr>
          <p:cNvPr id="3" name="TextBox 2">
            <a:extLst>
              <a:ext uri="{FF2B5EF4-FFF2-40B4-BE49-F238E27FC236}">
                <a16:creationId xmlns:a16="http://schemas.microsoft.com/office/drawing/2014/main" id="{49660D62-9765-D530-2D25-66B408F887BF}"/>
              </a:ext>
            </a:extLst>
          </p:cNvPr>
          <p:cNvSpPr txBox="1"/>
          <p:nvPr/>
        </p:nvSpPr>
        <p:spPr>
          <a:xfrm>
            <a:off x="457200" y="2781300"/>
            <a:ext cx="13411200" cy="3331938"/>
          </a:xfrm>
          <a:prstGeom prst="rect">
            <a:avLst/>
          </a:prstGeom>
          <a:noFill/>
        </p:spPr>
        <p:txBody>
          <a:bodyPr wrap="square" rtlCol="0">
            <a:spAutoFit/>
          </a:bodyPr>
          <a:lstStyle/>
          <a:p>
            <a:pPr>
              <a:lnSpc>
                <a:spcPct val="200000"/>
              </a:lnSpc>
            </a:pPr>
            <a:r>
              <a:rPr lang="en-US" dirty="0">
                <a:solidFill>
                  <a:schemeClr val="bg1"/>
                </a:solidFill>
                <a:latin typeface="Times New Roman" panose="02020603050405020304" pitchFamily="18" charset="0"/>
                <a:cs typeface="Times New Roman" panose="02020603050405020304" pitchFamily="18" charset="0"/>
              </a:rPr>
              <a:t>[1] </a:t>
            </a:r>
            <a:r>
              <a:rPr lang="en-US"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Deep Learning Enhanced Feature Extraction</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[2] </a:t>
            </a:r>
            <a:r>
              <a:rPr lang="en-US" dirty="0">
                <a:solidFill>
                  <a:schemeClr val="bg1"/>
                </a:solidFill>
                <a:latin typeface="Times New Roman" panose="02020603050405020304" pitchFamily="18" charset="0"/>
                <a:cs typeface="Times New Roman" panose="02020603050405020304" pitchFamily="18" charset="0"/>
                <a:hlinkClick r:id="rId5">
                  <a:extLst>
                    <a:ext uri="{A12FA001-AC4F-418D-AE19-62706E023703}">
                      <ahyp:hlinkClr xmlns:ahyp="http://schemas.microsoft.com/office/drawing/2018/hyperlinkcolor" val="tx"/>
                    </a:ext>
                  </a:extLst>
                </a:hlinkClick>
              </a:rPr>
              <a:t>An Enhanced YOLOv8 Model for Real-Time and Accurate Pothole Detection and Measurement</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[3] </a:t>
            </a:r>
            <a:r>
              <a:rPr lang="en-US"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val="tx"/>
                    </a:ext>
                  </a:extLst>
                </a:hlinkClick>
              </a:rPr>
              <a:t>Robust Video Based Pothole Detection and Area Estimation for Intelligent Vehicles with Depth Map and Kalman Smoothing</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[4] </a:t>
            </a:r>
            <a:r>
              <a:rPr lang="en-US" dirty="0">
                <a:solidFill>
                  <a:schemeClr val="bg1"/>
                </a:solidFill>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val="tx"/>
                    </a:ext>
                  </a:extLst>
                </a:hlinkClick>
              </a:rPr>
              <a:t>Mobile3DRecon: Real-time Monocular 3D Reconstruction on a Mobile Phone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[5] </a:t>
            </a:r>
            <a:r>
              <a:rPr lang="en-US" dirty="0">
                <a:solidFill>
                  <a:schemeClr val="bg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Pothole and Plain Road Classification Using Adaptive Mutation Dipper Throated Optimization and Transfer Learning for Self-Driving Cars. </a:t>
            </a:r>
            <a:endParaRPr lang="en-US" dirty="0">
              <a:solidFill>
                <a:schemeClr val="bg1"/>
              </a:solidFill>
              <a:latin typeface="Times New Roman" panose="02020603050405020304" pitchFamily="18" charset="0"/>
              <a:cs typeface="Times New Roman" panose="02020603050405020304" pitchFamily="18" charset="0"/>
            </a:endParaRPr>
          </a:p>
          <a:p>
            <a:pPr>
              <a:lnSpc>
                <a:spcPct val="200000"/>
              </a:lnSpc>
            </a:pPr>
            <a:r>
              <a:rPr lang="en-US" dirty="0">
                <a:solidFill>
                  <a:schemeClr val="bg1"/>
                </a:solidFill>
                <a:latin typeface="Times New Roman" panose="02020603050405020304" pitchFamily="18" charset="0"/>
                <a:cs typeface="Times New Roman" panose="02020603050405020304" pitchFamily="18" charset="0"/>
              </a:rPr>
              <a:t>[6] </a:t>
            </a:r>
            <a:r>
              <a:rPr lang="en-US" dirty="0">
                <a:solidFill>
                  <a:schemeClr val="bg1"/>
                </a:solidFill>
                <a:latin typeface="Times New Roman" panose="02020603050405020304" pitchFamily="18" charset="0"/>
                <a:cs typeface="Times New Roman" panose="02020603050405020304" pitchFamily="18" charset="0"/>
                <a:hlinkClick r:id="rId9">
                  <a:extLst>
                    <a:ext uri="{A12FA001-AC4F-418D-AE19-62706E023703}">
                      <ahyp:hlinkClr xmlns:ahyp="http://schemas.microsoft.com/office/drawing/2018/hyperlinkcolor" val="tx"/>
                    </a:ext>
                  </a:extLst>
                </a:hlinkClick>
              </a:rPr>
              <a:t>Real-time scene reconstruction and triangle mesh generation using multiple RGB-D cameras </a:t>
            </a:r>
            <a:endParaRPr lang="en-US" dirty="0">
              <a:solidFill>
                <a:schemeClr val="bg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752ACC4-E122-5D4E-5D06-64643E705427}"/>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extLst>
      <p:ext uri="{BB962C8B-B14F-4D97-AF65-F5344CB8AC3E}">
        <p14:creationId xmlns:p14="http://schemas.microsoft.com/office/powerpoint/2010/main" val="501818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12500" r="-12500"/>
            </a:stretch>
          </a:blipFill>
        </p:spPr>
      </p:sp>
      <p:grpSp>
        <p:nvGrpSpPr>
          <p:cNvPr id="14" name="Group 14"/>
          <p:cNvGrpSpPr/>
          <p:nvPr/>
        </p:nvGrpSpPr>
        <p:grpSpPr>
          <a:xfrm>
            <a:off x="1028700" y="2111193"/>
            <a:ext cx="16230600" cy="4714531"/>
            <a:chOff x="0" y="0"/>
            <a:chExt cx="5795662" cy="1683476"/>
          </a:xfrm>
        </p:grpSpPr>
        <p:sp>
          <p:nvSpPr>
            <p:cNvPr id="15" name="Freeform 15"/>
            <p:cNvSpPr/>
            <p:nvPr/>
          </p:nvSpPr>
          <p:spPr>
            <a:xfrm>
              <a:off x="0" y="0"/>
              <a:ext cx="5795662" cy="1683476"/>
            </a:xfrm>
            <a:custGeom>
              <a:avLst/>
              <a:gdLst/>
              <a:ahLst/>
              <a:cxnLst/>
              <a:rect l="l" t="t" r="r" b="b"/>
              <a:pathLst>
                <a:path w="5795662" h="1683476">
                  <a:moveTo>
                    <a:pt x="5635642" y="0"/>
                  </a:moveTo>
                  <a:lnTo>
                    <a:pt x="160020" y="0"/>
                  </a:lnTo>
                  <a:lnTo>
                    <a:pt x="0" y="160020"/>
                  </a:lnTo>
                  <a:lnTo>
                    <a:pt x="0" y="1523456"/>
                  </a:lnTo>
                  <a:lnTo>
                    <a:pt x="160020" y="1683476"/>
                  </a:lnTo>
                  <a:lnTo>
                    <a:pt x="5635642" y="1683476"/>
                  </a:lnTo>
                  <a:lnTo>
                    <a:pt x="5795662" y="1523456"/>
                  </a:lnTo>
                  <a:lnTo>
                    <a:pt x="5795662" y="160020"/>
                  </a:lnTo>
                  <a:lnTo>
                    <a:pt x="5635642" y="0"/>
                  </a:lnTo>
                  <a:close/>
                </a:path>
              </a:pathLst>
            </a:custGeom>
            <a:solidFill>
              <a:srgbClr val="000000">
                <a:alpha val="0"/>
              </a:srgbClr>
            </a:solidFill>
            <a:ln w="9525" cap="sq">
              <a:solidFill>
                <a:srgbClr val="3B4C7D"/>
              </a:solidFill>
              <a:prstDash val="solid"/>
              <a:miter/>
            </a:ln>
          </p:spPr>
        </p:sp>
        <p:sp>
          <p:nvSpPr>
            <p:cNvPr id="16" name="TextBox 16"/>
            <p:cNvSpPr txBox="1"/>
            <p:nvPr/>
          </p:nvSpPr>
          <p:spPr>
            <a:xfrm>
              <a:off x="63500" y="6350"/>
              <a:ext cx="5668662" cy="1613626"/>
            </a:xfrm>
            <a:prstGeom prst="rect">
              <a:avLst/>
            </a:prstGeom>
          </p:spPr>
          <p:txBody>
            <a:bodyPr lIns="50800" tIns="50800" rIns="50800" bIns="50800" rtlCol="0" anchor="ctr"/>
            <a:lstStyle/>
            <a:p>
              <a:pPr algn="ctr">
                <a:lnSpc>
                  <a:spcPts val="1960"/>
                </a:lnSpc>
              </a:pPr>
              <a:endParaRPr/>
            </a:p>
          </p:txBody>
        </p:sp>
      </p:grpSp>
      <p:sp>
        <p:nvSpPr>
          <p:cNvPr id="17" name="TextBox 17"/>
          <p:cNvSpPr txBox="1"/>
          <p:nvPr/>
        </p:nvSpPr>
        <p:spPr>
          <a:xfrm>
            <a:off x="3009111" y="3253923"/>
            <a:ext cx="11772136" cy="2683830"/>
          </a:xfrm>
          <a:prstGeom prst="rect">
            <a:avLst/>
          </a:prstGeom>
        </p:spPr>
        <p:txBody>
          <a:bodyPr lIns="0" tIns="0" rIns="0" bIns="0" rtlCol="0" anchor="t">
            <a:spAutoFit/>
          </a:bodyPr>
          <a:lstStyle/>
          <a:p>
            <a:pPr algn="ctr">
              <a:lnSpc>
                <a:spcPts val="9648"/>
              </a:lnSpc>
            </a:pPr>
            <a:r>
              <a:rPr lang="en-US" sz="14400">
                <a:solidFill>
                  <a:srgbClr val="DEF0FF"/>
                </a:solidFill>
                <a:latin typeface="RQND Pro UltraWide"/>
                <a:ea typeface="RQND Pro UltraWide"/>
                <a:cs typeface="RQND Pro UltraWide"/>
                <a:sym typeface="RQND Pro UltraWide"/>
              </a:rPr>
              <a:t>Thank You</a:t>
            </a:r>
          </a:p>
        </p:txBody>
      </p:sp>
      <p:sp>
        <p:nvSpPr>
          <p:cNvPr id="35" name="TextBox 34">
            <a:extLst>
              <a:ext uri="{FF2B5EF4-FFF2-40B4-BE49-F238E27FC236}">
                <a16:creationId xmlns:a16="http://schemas.microsoft.com/office/drawing/2014/main" id="{8198F867-92DF-5C7D-410E-14F8C7C61AFE}"/>
              </a:ext>
            </a:extLst>
          </p:cNvPr>
          <p:cNvSpPr txBox="1"/>
          <p:nvPr/>
        </p:nvSpPr>
        <p:spPr>
          <a:xfrm>
            <a:off x="15544800" y="9328626"/>
            <a:ext cx="2895600"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PAGE 27</a:t>
            </a:r>
          </a:p>
        </p:txBody>
      </p:sp>
      <p:sp>
        <p:nvSpPr>
          <p:cNvPr id="3" name="TextBox 2">
            <a:extLst>
              <a:ext uri="{FF2B5EF4-FFF2-40B4-BE49-F238E27FC236}">
                <a16:creationId xmlns:a16="http://schemas.microsoft.com/office/drawing/2014/main" id="{BA137C5B-2CCF-7808-F86D-94544129FBAF}"/>
              </a:ext>
            </a:extLst>
          </p:cNvPr>
          <p:cNvSpPr txBox="1"/>
          <p:nvPr/>
        </p:nvSpPr>
        <p:spPr>
          <a:xfrm>
            <a:off x="623669" y="9328626"/>
            <a:ext cx="2957732" cy="707886"/>
          </a:xfrm>
          <a:prstGeom prst="rect">
            <a:avLst/>
          </a:prstGeom>
          <a:noFill/>
        </p:spPr>
        <p:txBody>
          <a:bodyPr wrap="square" rtlCol="0">
            <a:spAutoFit/>
          </a:bodyPr>
          <a:lstStyle/>
          <a:p>
            <a:r>
              <a:rPr lang="en-US" sz="4000" dirty="0">
                <a:solidFill>
                  <a:schemeClr val="bg1"/>
                </a:solidFill>
                <a:latin typeface="RQND Pro UltraWide" panose="020B0604020202020204" charset="0"/>
              </a:rPr>
              <a:t>BATCH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1451</TotalTime>
  <Words>3253</Words>
  <Application>Microsoft Office PowerPoint</Application>
  <PresentationFormat>Custom</PresentationFormat>
  <Paragraphs>380</Paragraphs>
  <Slides>28</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Times New Roman</vt:lpstr>
      <vt:lpstr>RQND Pro UltraWide</vt:lpstr>
      <vt:lpstr>Telegraf Bold</vt:lpstr>
      <vt:lpstr>Wingdings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Futuristic Deep Learning Presentation</dc:title>
  <dc:creator>Sirajuddeen Mohamed</dc:creator>
  <cp:lastModifiedBy>Sirajuddeen Mohamed</cp:lastModifiedBy>
  <cp:revision>55</cp:revision>
  <dcterms:created xsi:type="dcterms:W3CDTF">2006-08-16T00:00:00Z</dcterms:created>
  <dcterms:modified xsi:type="dcterms:W3CDTF">2026-01-27T16:58:52Z</dcterms:modified>
  <dc:identifier>DAG1RaZYIuE</dc:identifier>
</cp:coreProperties>
</file>