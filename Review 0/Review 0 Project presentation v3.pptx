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2" r:id="rId6"/>
    <p:sldId id="258" r:id="rId7"/>
    <p:sldId id="261" r:id="rId8"/>
    <p:sldId id="263" r:id="rId9"/>
    <p:sldId id="265" r:id="rId10"/>
    <p:sldId id="266" r:id="rId11"/>
    <p:sldId id="267" r:id="rId12"/>
    <p:sldId id="270" r:id="rId13"/>
  </p:sldIdLst>
  <p:sldSz cx="18288000" cy="10287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  <p:embeddedFont>
      <p:font typeface="Space Mon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"/>
          <p:cNvGrpSpPr/>
          <p:nvPr/>
        </p:nvGrpSpPr>
        <p:grpSpPr>
          <a:xfrm>
            <a:off x="0" y="-180827"/>
            <a:ext cx="6062131" cy="10468053"/>
            <a:chOff x="0" y="-47625"/>
            <a:chExt cx="1596600" cy="2757000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47625"/>
              <a:ext cx="1596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5"/>
          <p:cNvSpPr/>
          <p:nvPr/>
        </p:nvSpPr>
        <p:spPr>
          <a:xfrm rot="10800000">
            <a:off x="4414" y="7490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030978" y="5143519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469950" y="26082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469950" y="4029695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3055975" y="7500"/>
            <a:ext cx="2976600" cy="521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3"/>
          </p:nvPr>
        </p:nvSpPr>
        <p:spPr>
          <a:xfrm>
            <a:off x="29400" y="5218800"/>
            <a:ext cx="2976600" cy="5060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12907"/>
          <a:stretch/>
        </p:blipFill>
        <p:spPr>
          <a:xfrm>
            <a:off x="-111125" y="-79375"/>
            <a:ext cx="18399124" cy="10477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028700" y="1218400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68109"/>
          <a:stretch/>
        </p:blipFill>
        <p:spPr>
          <a:xfrm>
            <a:off x="0" y="6542518"/>
            <a:ext cx="18288000" cy="37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07225" y="596121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0722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51181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029250" y="9699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1129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8"/>
          <p:cNvSpPr>
            <a:spLocks noGrp="1"/>
          </p:cNvSpPr>
          <p:nvPr>
            <p:ph type="pic" idx="3"/>
          </p:nvPr>
        </p:nvSpPr>
        <p:spPr>
          <a:xfrm>
            <a:off x="70484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4"/>
          </p:nvPr>
        </p:nvSpPr>
        <p:spPr>
          <a:xfrm>
            <a:off x="12966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719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5"/>
          </p:nvPr>
        </p:nvSpPr>
        <p:spPr>
          <a:xfrm>
            <a:off x="66377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6"/>
          </p:nvPr>
        </p:nvSpPr>
        <p:spPr>
          <a:xfrm>
            <a:off x="12556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/>
          <p:cNvPicPr preferRelativeResize="0"/>
          <p:nvPr/>
        </p:nvPicPr>
        <p:blipFill rotWithShape="1">
          <a:blip r:embed="rId2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219250" y="38327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10982425" y="3778275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0"/>
          <p:cNvGrpSpPr/>
          <p:nvPr/>
        </p:nvGrpSpPr>
        <p:grpSpPr>
          <a:xfrm rot="5400000">
            <a:off x="8987605" y="270730"/>
            <a:ext cx="1029933" cy="19005074"/>
            <a:chOff x="0" y="-47625"/>
            <a:chExt cx="68400" cy="1262175"/>
          </a:xfrm>
        </p:grpSpPr>
        <p:sp>
          <p:nvSpPr>
            <p:cNvPr id="60" name="Google Shape;60;p10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0"/>
            <p:cNvSpPr txBox="1"/>
            <p:nvPr/>
          </p:nvSpPr>
          <p:spPr>
            <a:xfrm>
              <a:off x="0" y="-47625"/>
              <a:ext cx="68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71550" y="95334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171550" y="2910520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0" y="-717109"/>
            <a:ext cx="1029933" cy="11004083"/>
            <a:chOff x="0" y="-47625"/>
            <a:chExt cx="68400" cy="730809"/>
          </a:xfrm>
        </p:grpSpPr>
        <p:sp>
          <p:nvSpPr>
            <p:cNvPr id="66" name="Google Shape;66;p11"/>
            <p:cNvSpPr/>
            <p:nvPr/>
          </p:nvSpPr>
          <p:spPr>
            <a:xfrm>
              <a:off x="0" y="0"/>
              <a:ext cx="68318" cy="683184"/>
            </a:xfrm>
            <a:custGeom>
              <a:avLst/>
              <a:gdLst/>
              <a:ahLst/>
              <a:cxnLst/>
              <a:rect l="l" t="t" r="r" b="b"/>
              <a:pathLst>
                <a:path w="68318" h="683184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7" name="Google Shape;67;p11"/>
            <p:cNvSpPr txBox="1"/>
            <p:nvPr/>
          </p:nvSpPr>
          <p:spPr>
            <a:xfrm>
              <a:off x="0" y="-47625"/>
              <a:ext cx="68400" cy="7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1029925" y="4433100"/>
            <a:ext cx="17258100" cy="585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743100" y="9633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2482600" y="963325"/>
            <a:ext cx="50124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7" name="Google Shape;77;p12"/>
          <p:cNvSpPr txBox="1"/>
          <p:nvPr/>
        </p:nvSpPr>
        <p:spPr>
          <a:xfrm>
            <a:off x="891841" y="640221"/>
            <a:ext cx="17018668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Wireframe-Based Pothole Detection and Avoidance System</a:t>
            </a:r>
            <a:endParaRPr sz="1200" dirty="0"/>
          </a:p>
        </p:txBody>
      </p:sp>
      <p:sp>
        <p:nvSpPr>
          <p:cNvPr id="78" name="Google Shape;78;p12"/>
          <p:cNvSpPr txBox="1"/>
          <p:nvPr/>
        </p:nvSpPr>
        <p:spPr>
          <a:xfrm>
            <a:off x="891841" y="6573662"/>
            <a:ext cx="86440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 R G SURESH KUMAR</a:t>
            </a:r>
          </a:p>
        </p:txBody>
      </p:sp>
      <p:sp>
        <p:nvSpPr>
          <p:cNvPr id="79" name="Google Shape;79;p12"/>
          <p:cNvSpPr txBox="1"/>
          <p:nvPr/>
        </p:nvSpPr>
        <p:spPr>
          <a:xfrm>
            <a:off x="891841" y="8430331"/>
            <a:ext cx="1066599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MOHAMED B SIRAJUDDEEN (22TD0053)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8B387-A539-3CB7-3A2D-6D9939A424A9}"/>
              </a:ext>
            </a:extLst>
          </p:cNvPr>
          <p:cNvSpPr txBox="1"/>
          <p:nvPr/>
        </p:nvSpPr>
        <p:spPr>
          <a:xfrm>
            <a:off x="891841" y="4453327"/>
            <a:ext cx="97518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- 02</a:t>
            </a:r>
            <a:endParaRPr lang="en-US" sz="6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263BA-F028-B9FC-E6A9-C45412C43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338399"/>
            <a:ext cx="8886825" cy="5000625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1270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5400000">
            <a:off x="9793728" y="1792726"/>
            <a:ext cx="10287001" cy="670154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1133202" y="652880"/>
            <a:ext cx="995963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54516" y="2221237"/>
            <a:ext cx="99747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72405" y="4151695"/>
            <a:ext cx="1960694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54516" y="6012054"/>
            <a:ext cx="99747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07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028415" y="2221237"/>
            <a:ext cx="99747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28415" y="3196211"/>
            <a:ext cx="4333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Domain &amp; Sub-Domain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854516" y="3196211"/>
            <a:ext cx="51338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Existing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28415" y="4151695"/>
            <a:ext cx="1863193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28415" y="5066095"/>
            <a:ext cx="4333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872405" y="5066095"/>
            <a:ext cx="51159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Existing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028415" y="6012054"/>
            <a:ext cx="99747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28415" y="6926454"/>
            <a:ext cx="4333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854516" y="6926454"/>
            <a:ext cx="51338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028415" y="7848600"/>
            <a:ext cx="99747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28415" y="8763000"/>
            <a:ext cx="43337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1AD0B-62E5-C62A-573D-71FC09CD3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538" y="65589"/>
            <a:ext cx="6576406" cy="3712016"/>
          </a:xfrm>
          <a:prstGeom prst="round2SameRect">
            <a:avLst>
              <a:gd name="adj1" fmla="val 0"/>
              <a:gd name="adj2" fmla="val 50000"/>
            </a:avLst>
          </a:prstGeom>
          <a:effectLst>
            <a:outerShdw blurRad="50800" dist="50800" algn="ctr" rotWithShape="0">
              <a:srgbClr val="000000">
                <a:alpha val="43137"/>
              </a:srgbClr>
            </a:outerShdw>
          </a:effectLst>
        </p:spPr>
      </p:pic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A6A81311-2C8C-7550-BD5F-10ADDA33F216}"/>
              </a:ext>
            </a:extLst>
          </p:cNvPr>
          <p:cNvSpPr txBox="1"/>
          <p:nvPr/>
        </p:nvSpPr>
        <p:spPr>
          <a:xfrm>
            <a:off x="5854516" y="7547127"/>
            <a:ext cx="99747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08</a:t>
            </a:r>
            <a:endParaRPr dirty="0"/>
          </a:p>
        </p:txBody>
      </p:sp>
      <p:sp>
        <p:nvSpPr>
          <p:cNvPr id="4" name="Google Shape;97;p13">
            <a:extLst>
              <a:ext uri="{FF2B5EF4-FFF2-40B4-BE49-F238E27FC236}">
                <a16:creationId xmlns:a16="http://schemas.microsoft.com/office/drawing/2014/main" id="{C60A3A8A-BBA3-9337-F7D6-D08CC99F8122}"/>
              </a:ext>
            </a:extLst>
          </p:cNvPr>
          <p:cNvSpPr txBox="1"/>
          <p:nvPr/>
        </p:nvSpPr>
        <p:spPr>
          <a:xfrm>
            <a:off x="5872405" y="8562790"/>
            <a:ext cx="51338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0" y="0"/>
            <a:ext cx="4972033" cy="10287000"/>
          </a:xfrm>
          <a:custGeom>
            <a:avLst/>
            <a:gdLst/>
            <a:ahLst/>
            <a:cxnLst/>
            <a:rect l="l" t="t" r="r" b="b"/>
            <a:pathLst>
              <a:path w="6787607" h="10427888" extrusionOk="0">
                <a:moveTo>
                  <a:pt x="0" y="0"/>
                </a:moveTo>
                <a:lnTo>
                  <a:pt x="6787607" y="0"/>
                </a:lnTo>
                <a:lnTo>
                  <a:pt x="6787607" y="10427888"/>
                </a:lnTo>
                <a:lnTo>
                  <a:pt x="0" y="104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9" name="Google Shape;119;p15"/>
          <p:cNvSpPr txBox="1"/>
          <p:nvPr/>
        </p:nvSpPr>
        <p:spPr>
          <a:xfrm>
            <a:off x="6897511" y="113739"/>
            <a:ext cx="1182079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Domain </a:t>
            </a:r>
            <a:r>
              <a:rPr lang="en-US" sz="8000" dirty="0">
                <a:solidFill>
                  <a:schemeClr val="tx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&amp;</a:t>
            </a:r>
            <a:r>
              <a:rPr lang="en-US" sz="8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Sub-Domain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498867" y="1591067"/>
            <a:ext cx="5681617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b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Encompasses computational models that replicate human cognitive functions such as perception, learning, reasoning, and autonomous decision-making.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879" y="1144050"/>
            <a:ext cx="4210274" cy="7998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F9C3A9-321A-F02C-D53B-E30AE685F57F}"/>
              </a:ext>
            </a:extLst>
          </p:cNvPr>
          <p:cNvSpPr txBox="1"/>
          <p:nvPr/>
        </p:nvSpPr>
        <p:spPr>
          <a:xfrm>
            <a:off x="11707319" y="1562438"/>
            <a:ext cx="6199802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b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AI-driven perception and control in autonomous vehicles through deep learning, monocular depth estimation, and real-time 3D scene understanding for safe navigation and environment interaction.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 rot="5400000">
            <a:off x="4000499" y="-4000500"/>
            <a:ext cx="10287001" cy="18288001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6"/>
          <p:cNvSpPr txBox="1"/>
          <p:nvPr/>
        </p:nvSpPr>
        <p:spPr>
          <a:xfrm>
            <a:off x="1028700" y="1276350"/>
            <a:ext cx="162306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Problem</a:t>
            </a:r>
            <a:r>
              <a:rPr lang="en-US" sz="9600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 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Statement</a:t>
            </a:r>
            <a:endParaRPr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89542" y="4180744"/>
            <a:ext cx="16898353" cy="38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surface irregularities such as potholes pose serious threats to vehicle safety, traffic efficiency, and passenger comfort. </a:t>
            </a:r>
          </a:p>
          <a:p>
            <a:pPr lvl="0" algn="just">
              <a:lnSpc>
                <a:spcPct val="115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detection systems are limited by two-dimensional analysis, lacking accurate depth and shape information necessary for precise surface evaluation and effective road safety management.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D54E87-2720-79DC-174C-2078BF492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421" y="3290917"/>
            <a:ext cx="4127973" cy="312389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EA7948-5204-0455-9B7C-D612A5626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975" y="3290925"/>
            <a:ext cx="4127975" cy="3134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F26B3F-CBFB-E2FF-AAB3-F2BD50F55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469" y="3279789"/>
            <a:ext cx="4127974" cy="3145836"/>
          </a:xfrm>
          <a:prstGeom prst="rect">
            <a:avLst/>
          </a:prstGeom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6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28700" y="767471"/>
            <a:ext cx="16230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028700" y="7163816"/>
            <a:ext cx="5323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Vision-Based Pothole Detection System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947188" y="7163816"/>
            <a:ext cx="4393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AI-Based Depth and 3D Analysis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2865675" y="7163816"/>
            <a:ext cx="4393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Intelligent Vehicle Decision-Making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245270" y="7967345"/>
            <a:ext cx="396060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real-time pothole and road anomaly detection system using a monocular camera, eliminating dependence on costly sensors like LiDAR or stereo vision.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163757" y="8014335"/>
            <a:ext cx="396060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YOLOv8 for object detection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Open3D for depth estimation and 3D wireframe reconstruction, enabling accurate analysis of road surface geometry.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13082245" y="8061325"/>
            <a:ext cx="396060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rule-based decision engine to guide autonomous vehicle behavior—such as slowing down or avoiding hazards—based on detected anomaly size, depth, and severity.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4"/>
          <p:cNvGrpSpPr/>
          <p:nvPr/>
        </p:nvGrpSpPr>
        <p:grpSpPr>
          <a:xfrm>
            <a:off x="0" y="-180826"/>
            <a:ext cx="6061945" cy="10467826"/>
            <a:chOff x="0" y="-47625"/>
            <a:chExt cx="1596562" cy="275695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47625"/>
              <a:ext cx="1596562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 rot="10800000">
            <a:off x="11" y="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030978" y="51435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17017" y="114135"/>
            <a:ext cx="9152672" cy="162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413863" y="1724298"/>
            <a:ext cx="11152242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(AVs) rely on object detection and navigation systems optimized for structured and well-maintained roads.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countries like India, road infrastructure is often inconsistent, featuring frequent potholes, speed bumps, and surface deformities.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AV systems struggle to operate reliably in such conditions, impacting safety and ride quality.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anomalies reduce ride comfort and can be significant safety hazards.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solutions using LiDAR and high-end sensors are expensive and not suitable for mass deployment.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pressing need for a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cost-effective, camera-based solution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detecting, analyzing,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responding to road surface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in real-time.</a:t>
            </a:r>
          </a:p>
        </p:txBody>
      </p:sp>
      <p:pic>
        <p:nvPicPr>
          <p:cNvPr id="2" name="Picture 2" descr="Deadlier than terrorism: Potholes behind 14,900 deaths across the country  in past five years">
            <a:extLst>
              <a:ext uri="{FF2B5EF4-FFF2-40B4-BE49-F238E27FC236}">
                <a16:creationId xmlns:a16="http://schemas.microsoft.com/office/drawing/2014/main" id="{ADED97D5-CC3B-6D4A-C10B-7CD8C7CC9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48286" y="217025"/>
            <a:ext cx="5333832" cy="4814046"/>
          </a:xfrm>
          <a:prstGeom prst="chord">
            <a:avLst>
              <a:gd name="adj1" fmla="val 15994144"/>
              <a:gd name="adj2" fmla="val 563254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E53939-061A-CBB4-ECFE-A347162AA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509" y="5423984"/>
            <a:ext cx="5219009" cy="4582549"/>
          </a:xfrm>
          <a:prstGeom prst="chord">
            <a:avLst>
              <a:gd name="adj1" fmla="val 5138907"/>
              <a:gd name="adj2" fmla="val 16516227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668482" y="589684"/>
            <a:ext cx="67761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Existing System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68482" y="2090994"/>
            <a:ext cx="91491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detection (YOLOv5, YOLOv8)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+ Camera fusion for accurate depth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cloud and Convex Hull for geometry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Mobile3DRecon – real-time monocular mesh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road-specific Gaussian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surfel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reconstruction</a:t>
            </a: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75043"/>
          <a:stretch/>
        </p:blipFill>
        <p:spPr>
          <a:xfrm>
            <a:off x="0" y="7316402"/>
            <a:ext cx="18288000" cy="29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455D2E-4F82-1CBC-E477-CB1D2F9AE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885" y="7702390"/>
            <a:ext cx="3522182" cy="2190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63FA65-428D-6EE7-1856-69B9B9A7C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8771" y="7976202"/>
            <a:ext cx="4989853" cy="1651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93B296-9442-6375-9F53-561234E32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635" y="7967737"/>
            <a:ext cx="4915568" cy="1659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1028700" y="1009650"/>
            <a:ext cx="6648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Existing Architecture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5531951" y="208142"/>
            <a:ext cx="691058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Literature Survey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96696D-41B7-EC83-2093-3DB133889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3640"/>
              </p:ext>
            </p:extLst>
          </p:nvPr>
        </p:nvGraphicFramePr>
        <p:xfrm>
          <a:off x="1188721" y="1879892"/>
          <a:ext cx="15274758" cy="6527215"/>
        </p:xfrm>
        <a:graphic>
          <a:graphicData uri="http://schemas.openxmlformats.org/drawingml/2006/table">
            <a:tbl>
              <a:tblPr firstRow="1" bandRow="1"/>
              <a:tblGrid>
                <a:gridCol w="5091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1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46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13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Pothole Detection and Characterization: Integrated Segmentation and Depth Estimation in Road Anomaly Systems - 2025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YOLOv8‑seg + monocular depth integration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/>
                        <a:t>Validates method of merging segmentation with depth maps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08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Enhanced YOLOv8 Model for Real‑Time and Accurate Pothole Detection and Measurement - 2025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YOLOv8n‑seg enhanced with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DSConv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SimAM, GELU + RGB‑D dataset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/>
                        <a:t>Guides improving detection performance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913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based Pothole Monocular Depth Estimation and Segmentation Using 3D Scanner‑Derived Depth Maps - 2023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3DPredicNet for depth estimation and segmentation using DSLR images and ground‑truth 3D scans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sto MT" panose="02040603050505030304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Supports feasibility of camera-only depth segmentation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9133">
                <a:tc>
                  <a:txBody>
                    <a:bodyPr/>
                    <a:lstStyle/>
                    <a:p>
                      <a:endParaRPr sz="1600" dirty="0">
                        <a:solidFill>
                          <a:srgbClr val="F4E9E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0" i="0" u="none" strike="noStrike" cap="none" dirty="0">
                        <a:solidFill>
                          <a:srgbClr val="F4E9E7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solidFill>
                          <a:srgbClr val="F4E9E7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316827"/>
                  </a:ext>
                </a:extLst>
              </a:tr>
              <a:tr h="1059133"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748879"/>
                  </a:ext>
                </a:extLst>
              </a:tr>
              <a:tr h="1059133"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083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8465048" cy="12019067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7"/>
                </a:lnTo>
                <a:lnTo>
                  <a:pt x="0" y="12019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4" name="Google Shape;214;p22"/>
          <p:cNvSpPr txBox="1"/>
          <p:nvPr/>
        </p:nvSpPr>
        <p:spPr>
          <a:xfrm>
            <a:off x="1028700" y="1836197"/>
            <a:ext cx="513932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Chart title here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028700" y="3036899"/>
            <a:ext cx="5139300" cy="14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applicable, use a chart or table to visualize your results or highlight comparisons. Use this section to briefly explain what the results mean.</a:t>
            </a:r>
            <a:endParaRPr/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5391" y="728848"/>
            <a:ext cx="11949234" cy="8568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 t="55593" b="1622"/>
          <a:stretch/>
        </p:blipFill>
        <p:spPr>
          <a:xfrm>
            <a:off x="0" y="5074170"/>
            <a:ext cx="18288000" cy="521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822516" y="1019175"/>
            <a:ext cx="7784968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0401300" y="962025"/>
            <a:ext cx="6858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Reflect on your project's impact and discuss how it relates to your initial goals or problem statement.</a:t>
            </a:r>
            <a:endParaRPr/>
          </a:p>
        </p:txBody>
      </p:sp>
      <p:grpSp>
        <p:nvGrpSpPr>
          <p:cNvPr id="225" name="Google Shape;225;p23"/>
          <p:cNvGrpSpPr/>
          <p:nvPr/>
        </p:nvGrpSpPr>
        <p:grpSpPr>
          <a:xfrm>
            <a:off x="0" y="-717110"/>
            <a:ext cx="1028700" cy="11004110"/>
            <a:chOff x="0" y="-47625"/>
            <a:chExt cx="68318" cy="730809"/>
          </a:xfrm>
        </p:grpSpPr>
        <p:sp>
          <p:nvSpPr>
            <p:cNvPr id="226" name="Google Shape;226;p23"/>
            <p:cNvSpPr/>
            <p:nvPr/>
          </p:nvSpPr>
          <p:spPr>
            <a:xfrm>
              <a:off x="0" y="0"/>
              <a:ext cx="68318" cy="683184"/>
            </a:xfrm>
            <a:custGeom>
              <a:avLst/>
              <a:gdLst/>
              <a:ahLst/>
              <a:cxnLst/>
              <a:rect l="l" t="t" r="r" b="b"/>
              <a:pathLst>
                <a:path w="68318" h="683184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7" name="Google Shape;227;p23"/>
            <p:cNvSpPr txBox="1"/>
            <p:nvPr/>
          </p:nvSpPr>
          <p:spPr>
            <a:xfrm>
              <a:off x="0" y="-47625"/>
              <a:ext cx="68318" cy="7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6"/>
          <p:cNvGrpSpPr/>
          <p:nvPr/>
        </p:nvGrpSpPr>
        <p:grpSpPr>
          <a:xfrm>
            <a:off x="6060156" y="2192041"/>
            <a:ext cx="11512980" cy="7508818"/>
            <a:chOff x="0" y="-28575"/>
            <a:chExt cx="3032225" cy="1977631"/>
          </a:xfrm>
        </p:grpSpPr>
        <p:sp>
          <p:nvSpPr>
            <p:cNvPr id="300" name="Google Shape;300;p26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13449" y="0"/>
                  </a:moveTo>
                  <a:lnTo>
                    <a:pt x="3018776" y="0"/>
                  </a:lnTo>
                  <a:cubicBezTo>
                    <a:pt x="3022343" y="0"/>
                    <a:pt x="3025764" y="1417"/>
                    <a:pt x="3028286" y="3939"/>
                  </a:cubicBezTo>
                  <a:cubicBezTo>
                    <a:pt x="3030808" y="6461"/>
                    <a:pt x="3032225" y="9882"/>
                    <a:pt x="3032225" y="13449"/>
                  </a:cubicBezTo>
                  <a:lnTo>
                    <a:pt x="3032225" y="1935607"/>
                  </a:lnTo>
                  <a:cubicBezTo>
                    <a:pt x="3032225" y="1939174"/>
                    <a:pt x="3030808" y="1942595"/>
                    <a:pt x="3028286" y="1945117"/>
                  </a:cubicBezTo>
                  <a:cubicBezTo>
                    <a:pt x="3025764" y="1947639"/>
                    <a:pt x="3022343" y="1949056"/>
                    <a:pt x="3018776" y="1949056"/>
                  </a:cubicBezTo>
                  <a:lnTo>
                    <a:pt x="13449" y="1949056"/>
                  </a:lnTo>
                  <a:cubicBezTo>
                    <a:pt x="9882" y="1949056"/>
                    <a:pt x="6461" y="1947639"/>
                    <a:pt x="3939" y="1945117"/>
                  </a:cubicBezTo>
                  <a:cubicBezTo>
                    <a:pt x="1417" y="1942595"/>
                    <a:pt x="0" y="1939174"/>
                    <a:pt x="0" y="1935607"/>
                  </a:cubicBezTo>
                  <a:lnTo>
                    <a:pt x="0" y="13449"/>
                  </a:lnTo>
                  <a:cubicBezTo>
                    <a:pt x="0" y="9882"/>
                    <a:pt x="1417" y="6461"/>
                    <a:pt x="3939" y="3939"/>
                  </a:cubicBezTo>
                  <a:cubicBezTo>
                    <a:pt x="6461" y="1417"/>
                    <a:pt x="9882" y="0"/>
                    <a:pt x="134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0" y="-28575"/>
              <a:ext cx="3032225" cy="1977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26"/>
          <p:cNvGrpSpPr/>
          <p:nvPr/>
        </p:nvGrpSpPr>
        <p:grpSpPr>
          <a:xfrm>
            <a:off x="782413" y="2192041"/>
            <a:ext cx="5030092" cy="7508818"/>
            <a:chOff x="0" y="-28575"/>
            <a:chExt cx="1324798" cy="1977631"/>
          </a:xfrm>
        </p:grpSpPr>
        <p:sp>
          <p:nvSpPr>
            <p:cNvPr id="303" name="Google Shape;303;p26"/>
            <p:cNvSpPr/>
            <p:nvPr/>
          </p:nvSpPr>
          <p:spPr>
            <a:xfrm>
              <a:off x="0" y="0"/>
              <a:ext cx="1324798" cy="1949056"/>
            </a:xfrm>
            <a:custGeom>
              <a:avLst/>
              <a:gdLst/>
              <a:ahLst/>
              <a:cxnLst/>
              <a:rect l="l" t="t" r="r" b="b"/>
              <a:pathLst>
                <a:path w="1324798" h="1949056" extrusionOk="0">
                  <a:moveTo>
                    <a:pt x="30782" y="0"/>
                  </a:moveTo>
                  <a:lnTo>
                    <a:pt x="1294016" y="0"/>
                  </a:lnTo>
                  <a:cubicBezTo>
                    <a:pt x="1302180" y="0"/>
                    <a:pt x="1310009" y="3243"/>
                    <a:pt x="1315782" y="9016"/>
                  </a:cubicBezTo>
                  <a:cubicBezTo>
                    <a:pt x="1321555" y="14789"/>
                    <a:pt x="1324798" y="22618"/>
                    <a:pt x="1324798" y="30782"/>
                  </a:cubicBezTo>
                  <a:lnTo>
                    <a:pt x="1324798" y="1918274"/>
                  </a:lnTo>
                  <a:cubicBezTo>
                    <a:pt x="1324798" y="1935274"/>
                    <a:pt x="1311016" y="1949056"/>
                    <a:pt x="1294016" y="1949056"/>
                  </a:cubicBezTo>
                  <a:lnTo>
                    <a:pt x="30782" y="1949056"/>
                  </a:lnTo>
                  <a:cubicBezTo>
                    <a:pt x="13782" y="1949056"/>
                    <a:pt x="0" y="1935274"/>
                    <a:pt x="0" y="1918274"/>
                  </a:cubicBezTo>
                  <a:lnTo>
                    <a:pt x="0" y="30782"/>
                  </a:lnTo>
                  <a:cubicBezTo>
                    <a:pt x="0" y="13782"/>
                    <a:pt x="13782" y="0"/>
                    <a:pt x="307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0" y="-28575"/>
              <a:ext cx="1324798" cy="1977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6"/>
          <p:cNvGrpSpPr/>
          <p:nvPr/>
        </p:nvGrpSpPr>
        <p:grpSpPr>
          <a:xfrm>
            <a:off x="1104558" y="2712744"/>
            <a:ext cx="4318255" cy="647237"/>
            <a:chOff x="0" y="0"/>
            <a:chExt cx="1137318" cy="170466"/>
          </a:xfrm>
        </p:grpSpPr>
        <p:sp>
          <p:nvSpPr>
            <p:cNvPr id="306" name="Google Shape;306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Fonts</a:t>
              </a:r>
              <a:endParaRPr/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9623087" y="2712744"/>
            <a:ext cx="4368067" cy="647237"/>
            <a:chOff x="0" y="0"/>
            <a:chExt cx="1150437" cy="170466"/>
          </a:xfrm>
        </p:grpSpPr>
        <p:sp>
          <p:nvSpPr>
            <p:cNvPr id="309" name="Google Shape;309;p26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5448" y="0"/>
                  </a:moveTo>
                  <a:lnTo>
                    <a:pt x="1114989" y="0"/>
                  </a:lnTo>
                  <a:cubicBezTo>
                    <a:pt x="1124391" y="0"/>
                    <a:pt x="1133407" y="3735"/>
                    <a:pt x="1140055" y="10382"/>
                  </a:cubicBezTo>
                  <a:cubicBezTo>
                    <a:pt x="1146703" y="17030"/>
                    <a:pt x="1150437" y="26046"/>
                    <a:pt x="1150437" y="35448"/>
                  </a:cubicBezTo>
                  <a:lnTo>
                    <a:pt x="1150437" y="135018"/>
                  </a:lnTo>
                  <a:cubicBezTo>
                    <a:pt x="1150437" y="144419"/>
                    <a:pt x="1146703" y="153436"/>
                    <a:pt x="1140055" y="160083"/>
                  </a:cubicBezTo>
                  <a:cubicBezTo>
                    <a:pt x="1133407" y="166731"/>
                    <a:pt x="1124391" y="170466"/>
                    <a:pt x="1114989" y="170466"/>
                  </a:cubicBezTo>
                  <a:lnTo>
                    <a:pt x="35448" y="170466"/>
                  </a:lnTo>
                  <a:cubicBezTo>
                    <a:pt x="26046" y="170466"/>
                    <a:pt x="17030" y="166731"/>
                    <a:pt x="10382" y="160083"/>
                  </a:cubicBezTo>
                  <a:cubicBezTo>
                    <a:pt x="3735" y="153436"/>
                    <a:pt x="0" y="144419"/>
                    <a:pt x="0" y="135018"/>
                  </a:cubicBezTo>
                  <a:lnTo>
                    <a:pt x="0" y="35448"/>
                  </a:lnTo>
                  <a:cubicBezTo>
                    <a:pt x="0" y="26046"/>
                    <a:pt x="3735" y="17030"/>
                    <a:pt x="10382" y="10382"/>
                  </a:cubicBezTo>
                  <a:cubicBezTo>
                    <a:pt x="17030" y="3735"/>
                    <a:pt x="26046" y="0"/>
                    <a:pt x="35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0" y="0"/>
              <a:ext cx="1150437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Design Elements / Icons</a:t>
              </a:r>
              <a:endParaRPr/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1104558" y="7347143"/>
            <a:ext cx="4318255" cy="647237"/>
            <a:chOff x="0" y="0"/>
            <a:chExt cx="1137318" cy="170466"/>
          </a:xfrm>
        </p:grpSpPr>
        <p:sp>
          <p:nvSpPr>
            <p:cNvPr id="312" name="Google Shape;312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Colors</a:t>
              </a:r>
              <a:endParaRPr/>
            </a:p>
          </p:txBody>
        </p:sp>
      </p:grpSp>
      <p:grpSp>
        <p:nvGrpSpPr>
          <p:cNvPr id="314" name="Google Shape;314;p26"/>
          <p:cNvGrpSpPr/>
          <p:nvPr/>
        </p:nvGrpSpPr>
        <p:grpSpPr>
          <a:xfrm>
            <a:off x="1249355" y="8261080"/>
            <a:ext cx="725897" cy="725897"/>
            <a:chOff x="0" y="0"/>
            <a:chExt cx="812800" cy="812800"/>
          </a:xfrm>
        </p:grpSpPr>
        <p:sp>
          <p:nvSpPr>
            <p:cNvPr id="315" name="Google Shape;315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DB63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6"/>
          <p:cNvGrpSpPr/>
          <p:nvPr/>
        </p:nvGrpSpPr>
        <p:grpSpPr>
          <a:xfrm>
            <a:off x="2111246" y="8261080"/>
            <a:ext cx="725897" cy="725897"/>
            <a:chOff x="0" y="0"/>
            <a:chExt cx="812800" cy="812800"/>
          </a:xfrm>
        </p:grpSpPr>
        <p:sp>
          <p:nvSpPr>
            <p:cNvPr id="318" name="Google Shape;318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A6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2973136" y="8261080"/>
            <a:ext cx="725897" cy="725897"/>
            <a:chOff x="0" y="0"/>
            <a:chExt cx="812800" cy="812800"/>
          </a:xfrm>
        </p:grpSpPr>
        <p:sp>
          <p:nvSpPr>
            <p:cNvPr id="321" name="Google Shape;321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FE7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>
            <a:off x="3835026" y="8261080"/>
            <a:ext cx="725897" cy="725897"/>
            <a:chOff x="0" y="0"/>
            <a:chExt cx="812800" cy="812800"/>
          </a:xfrm>
        </p:grpSpPr>
        <p:sp>
          <p:nvSpPr>
            <p:cNvPr id="324" name="Google Shape;324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D1DD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4696916" y="8261080"/>
            <a:ext cx="725897" cy="725897"/>
            <a:chOff x="0" y="0"/>
            <a:chExt cx="812800" cy="812800"/>
          </a:xfrm>
        </p:grpSpPr>
        <p:sp>
          <p:nvSpPr>
            <p:cNvPr id="327" name="Google Shape;327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26"/>
          <p:cNvSpPr txBox="1"/>
          <p:nvPr/>
        </p:nvSpPr>
        <p:spPr>
          <a:xfrm>
            <a:off x="1173043" y="3668028"/>
            <a:ext cx="4181285" cy="51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uses the following free fonts: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1116102" y="6722739"/>
            <a:ext cx="4368067" cy="26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 can find these fonts online too.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688417" y="5005735"/>
            <a:ext cx="3150536" cy="37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Raleway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523971" y="5994577"/>
            <a:ext cx="3479429" cy="28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7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2319155" y="4702216"/>
            <a:ext cx="1889061" cy="21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TITLES: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2319155" y="5702908"/>
            <a:ext cx="1889061" cy="21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BODY TEXT: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249355" y="9092626"/>
            <a:ext cx="7258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#C6DB63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2064714" y="9092626"/>
            <a:ext cx="7258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#DBE6A6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2943011" y="9092626"/>
            <a:ext cx="7258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#FBFFE7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3819515" y="9092626"/>
            <a:ext cx="7258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#B7D1DD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4696916" y="9092626"/>
            <a:ext cx="72589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3800933" y="1548062"/>
            <a:ext cx="106861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these in your presentation. Delete or hide this page before presenting. 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1028700" y="523875"/>
            <a:ext cx="16230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Resource Page</a:t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 rot="10800000">
            <a:off x="6638244" y="4018294"/>
            <a:ext cx="709279" cy="120363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3" name="Google Shape;343;p26"/>
          <p:cNvGrpSpPr/>
          <p:nvPr/>
        </p:nvGrpSpPr>
        <p:grpSpPr>
          <a:xfrm>
            <a:off x="7789502" y="4051012"/>
            <a:ext cx="1138078" cy="1138194"/>
            <a:chOff x="0" y="0"/>
            <a:chExt cx="941273" cy="941368"/>
          </a:xfrm>
        </p:grpSpPr>
        <p:sp>
          <p:nvSpPr>
            <p:cNvPr id="344" name="Google Shape;344;p26"/>
            <p:cNvSpPr/>
            <p:nvPr/>
          </p:nvSpPr>
          <p:spPr>
            <a:xfrm>
              <a:off x="0" y="0"/>
              <a:ext cx="941273" cy="941368"/>
            </a:xfrm>
            <a:custGeom>
              <a:avLst/>
              <a:gdLst/>
              <a:ahLst/>
              <a:cxnLst/>
              <a:rect l="l" t="t" r="r" b="b"/>
              <a:pathLst>
                <a:path w="941273" h="941368" extrusionOk="0">
                  <a:moveTo>
                    <a:pt x="470636" y="0"/>
                  </a:moveTo>
                  <a:cubicBezTo>
                    <a:pt x="210711" y="0"/>
                    <a:pt x="0" y="210732"/>
                    <a:pt x="0" y="470684"/>
                  </a:cubicBezTo>
                  <a:cubicBezTo>
                    <a:pt x="0" y="730636"/>
                    <a:pt x="210711" y="941368"/>
                    <a:pt x="470636" y="941368"/>
                  </a:cubicBezTo>
                  <a:cubicBezTo>
                    <a:pt x="730562" y="941368"/>
                    <a:pt x="941273" y="730636"/>
                    <a:pt x="941273" y="470684"/>
                  </a:cubicBezTo>
                  <a:cubicBezTo>
                    <a:pt x="941273" y="210732"/>
                    <a:pt x="730562" y="0"/>
                    <a:pt x="470636" y="0"/>
                  </a:cubicBez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 txBox="1"/>
            <p:nvPr/>
          </p:nvSpPr>
          <p:spPr>
            <a:xfrm>
              <a:off x="88244" y="40628"/>
              <a:ext cx="764784" cy="812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26"/>
          <p:cNvGrpSpPr/>
          <p:nvPr/>
        </p:nvGrpSpPr>
        <p:grpSpPr>
          <a:xfrm>
            <a:off x="9369558" y="4032076"/>
            <a:ext cx="1176067" cy="1176067"/>
            <a:chOff x="0" y="0"/>
            <a:chExt cx="812800" cy="812800"/>
          </a:xfrm>
        </p:grpSpPr>
        <p:sp>
          <p:nvSpPr>
            <p:cNvPr id="347" name="Google Shape;347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48" name="Google Shape;348;p26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26"/>
          <p:cNvGrpSpPr/>
          <p:nvPr/>
        </p:nvGrpSpPr>
        <p:grpSpPr>
          <a:xfrm>
            <a:off x="12605647" y="4059640"/>
            <a:ext cx="1176067" cy="1120938"/>
            <a:chOff x="0" y="0"/>
            <a:chExt cx="812800" cy="774700"/>
          </a:xfrm>
        </p:grpSpPr>
        <p:sp>
          <p:nvSpPr>
            <p:cNvPr id="350" name="Google Shape;350;p26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 extrusionOk="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51" name="Google Shape;351;p2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26"/>
          <p:cNvGrpSpPr/>
          <p:nvPr/>
        </p:nvGrpSpPr>
        <p:grpSpPr>
          <a:xfrm>
            <a:off x="10987603" y="4032076"/>
            <a:ext cx="1176067" cy="1176067"/>
            <a:chOff x="0" y="0"/>
            <a:chExt cx="812800" cy="812800"/>
          </a:xfrm>
        </p:grpSpPr>
        <p:sp>
          <p:nvSpPr>
            <p:cNvPr id="353" name="Google Shape;353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812800"/>
                  </a:lnTo>
                  <a:lnTo>
                    <a:pt x="0" y="812800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54" name="Google Shape;354;p26"/>
            <p:cNvSpPr txBox="1"/>
            <p:nvPr/>
          </p:nvSpPr>
          <p:spPr>
            <a:xfrm>
              <a:off x="127000" y="329746"/>
              <a:ext cx="558800" cy="424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6"/>
          <p:cNvSpPr/>
          <p:nvPr/>
        </p:nvSpPr>
        <p:spPr>
          <a:xfrm>
            <a:off x="6638244" y="5924681"/>
            <a:ext cx="2516524" cy="1638028"/>
          </a:xfrm>
          <a:custGeom>
            <a:avLst/>
            <a:gdLst/>
            <a:ahLst/>
            <a:cxnLst/>
            <a:rect l="l" t="t" r="r" b="b"/>
            <a:pathLst>
              <a:path w="2516524" h="1638028" extrusionOk="0">
                <a:moveTo>
                  <a:pt x="0" y="0"/>
                </a:moveTo>
                <a:lnTo>
                  <a:pt x="2516524" y="0"/>
                </a:lnTo>
                <a:lnTo>
                  <a:pt x="2516524" y="1638028"/>
                </a:lnTo>
                <a:lnTo>
                  <a:pt x="0" y="1638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6" name="Google Shape;356;p26"/>
          <p:cNvSpPr/>
          <p:nvPr/>
        </p:nvSpPr>
        <p:spPr>
          <a:xfrm rot="5400000">
            <a:off x="9902016" y="5488938"/>
            <a:ext cx="1638028" cy="2509514"/>
          </a:xfrm>
          <a:custGeom>
            <a:avLst/>
            <a:gdLst/>
            <a:ahLst/>
            <a:cxnLst/>
            <a:rect l="l" t="t" r="r" b="b"/>
            <a:pathLst>
              <a:path w="1638028" h="2509514" extrusionOk="0">
                <a:moveTo>
                  <a:pt x="0" y="0"/>
                </a:moveTo>
                <a:lnTo>
                  <a:pt x="1638028" y="0"/>
                </a:lnTo>
                <a:lnTo>
                  <a:pt x="1638028" y="2509514"/>
                </a:lnTo>
                <a:lnTo>
                  <a:pt x="0" y="2509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26"/>
          <p:cNvSpPr/>
          <p:nvPr/>
        </p:nvSpPr>
        <p:spPr>
          <a:xfrm rot="-5400000">
            <a:off x="12223488" y="6443317"/>
            <a:ext cx="3052494" cy="1986896"/>
          </a:xfrm>
          <a:custGeom>
            <a:avLst/>
            <a:gdLst/>
            <a:ahLst/>
            <a:cxnLst/>
            <a:rect l="l" t="t" r="r" b="b"/>
            <a:pathLst>
              <a:path w="3052494" h="1986896" extrusionOk="0">
                <a:moveTo>
                  <a:pt x="0" y="0"/>
                </a:moveTo>
                <a:lnTo>
                  <a:pt x="3052493" y="0"/>
                </a:lnTo>
                <a:lnTo>
                  <a:pt x="3052493" y="1986896"/>
                </a:lnTo>
                <a:lnTo>
                  <a:pt x="0" y="1986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8" name="Google Shape;358;p26"/>
          <p:cNvSpPr/>
          <p:nvPr/>
        </p:nvSpPr>
        <p:spPr>
          <a:xfrm>
            <a:off x="15050745" y="5940995"/>
            <a:ext cx="1967058" cy="3022016"/>
          </a:xfrm>
          <a:custGeom>
            <a:avLst/>
            <a:gdLst/>
            <a:ahLst/>
            <a:cxnLst/>
            <a:rect l="l" t="t" r="r" b="b"/>
            <a:pathLst>
              <a:path w="1967058" h="3022016" extrusionOk="0">
                <a:moveTo>
                  <a:pt x="0" y="0"/>
                </a:moveTo>
                <a:lnTo>
                  <a:pt x="1967058" y="0"/>
                </a:lnTo>
                <a:lnTo>
                  <a:pt x="1967058" y="3022016"/>
                </a:lnTo>
                <a:lnTo>
                  <a:pt x="0" y="3022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9" name="Google Shape;359;p26"/>
          <p:cNvGrpSpPr/>
          <p:nvPr/>
        </p:nvGrpSpPr>
        <p:grpSpPr>
          <a:xfrm>
            <a:off x="14223692" y="4032076"/>
            <a:ext cx="1176067" cy="1176067"/>
            <a:chOff x="0" y="0"/>
            <a:chExt cx="812800" cy="812800"/>
          </a:xfrm>
        </p:grpSpPr>
        <p:sp>
          <p:nvSpPr>
            <p:cNvPr id="360" name="Google Shape;360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61" name="Google Shape;361;p26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26"/>
          <p:cNvGrpSpPr/>
          <p:nvPr/>
        </p:nvGrpSpPr>
        <p:grpSpPr>
          <a:xfrm rot="-5400000">
            <a:off x="8406690" y="5377601"/>
            <a:ext cx="1060138" cy="6078054"/>
            <a:chOff x="0" y="-47625"/>
            <a:chExt cx="68181" cy="390902"/>
          </a:xfrm>
        </p:grpSpPr>
        <p:sp>
          <p:nvSpPr>
            <p:cNvPr id="363" name="Google Shape;363;p26"/>
            <p:cNvSpPr/>
            <p:nvPr/>
          </p:nvSpPr>
          <p:spPr>
            <a:xfrm>
              <a:off x="0" y="0"/>
              <a:ext cx="68181" cy="343277"/>
            </a:xfrm>
            <a:custGeom>
              <a:avLst/>
              <a:gdLst/>
              <a:ahLst/>
              <a:cxnLst/>
              <a:rect l="l" t="t" r="r" b="b"/>
              <a:pathLst>
                <a:path w="68181" h="343277" extrusionOk="0">
                  <a:moveTo>
                    <a:pt x="0" y="0"/>
                  </a:moveTo>
                  <a:lnTo>
                    <a:pt x="68181" y="0"/>
                  </a:lnTo>
                  <a:lnTo>
                    <a:pt x="68181" y="343277"/>
                  </a:lnTo>
                  <a:lnTo>
                    <a:pt x="0" y="343277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64" name="Google Shape;364;p26"/>
            <p:cNvSpPr txBox="1"/>
            <p:nvPr/>
          </p:nvSpPr>
          <p:spPr>
            <a:xfrm>
              <a:off x="0" y="-47625"/>
              <a:ext cx="68181" cy="39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6"/>
          <p:cNvGrpSpPr/>
          <p:nvPr/>
        </p:nvGrpSpPr>
        <p:grpSpPr>
          <a:xfrm>
            <a:off x="15841737" y="4032076"/>
            <a:ext cx="1176067" cy="1176067"/>
            <a:chOff x="0" y="0"/>
            <a:chExt cx="812800" cy="812800"/>
          </a:xfrm>
        </p:grpSpPr>
        <p:sp>
          <p:nvSpPr>
            <p:cNvPr id="366" name="Google Shape;366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67" name="Google Shape;367;p2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626</Words>
  <Application>Microsoft Office PowerPoint</Application>
  <PresentationFormat>Custom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Space Mono</vt:lpstr>
      <vt:lpstr>Raleway</vt:lpstr>
      <vt:lpstr>Calibri</vt:lpstr>
      <vt:lpstr>Arial</vt:lpstr>
      <vt:lpstr>Times New Roman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Sirajuddeen Mohamed</cp:lastModifiedBy>
  <cp:revision>13</cp:revision>
  <dcterms:modified xsi:type="dcterms:W3CDTF">2025-10-08T18:22:24Z</dcterms:modified>
</cp:coreProperties>
</file>